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Agent/slot3_reference_agent.py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Interne Workshopmaterialien: Challenges/Aufgabenblatt.md und Agent/slot3_reference_agent.py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Gesprächspunkt: Die Zieladresse gehört zur Laufzeitkonfiguration und wird getrennt vom natürlichsprachlichen Auftrag übergeben.</a:t>
            </a:r>
          </a:p>
          <a:p>
            <a:r>
              <a:t>Der Referenzagent validiert http, localhost beziehungsweise 127.0.0.1 und Port 3000, bevor ein Werkzeug ausgeführt wird.</a:t>
            </a:r>
          </a:p>
          <a:p>
            <a:r>
              <a:t>Beim Prompt ist der Erfolgsbeleg eine Instruktion, keine zusätzliche technische Sperre.</a:t>
            </a:r>
          </a:p>
          <a:p>
            <a:r>
              <a:t>Die Schleife gibt Aktionsfehler und unmittelbare identische Werkzeugaktionen als Observations zurück.</a:t>
            </a:r>
          </a:p>
          <a:p>
            <a:r>
              <a:t>[Sources]</a:t>
            </a:r>
          </a:p>
          <a:p>
            <a:r>
              <a:t>- Interne Workshopmaterialien: Challenges/Aufgabenblatt.md, Abschnitt Slot 3.</a:t>
            </a:r>
          </a:p>
          <a:p>
            <a:r>
              <a:t>- Agent/slot3_reference_agent.py: validate_target_base_url(), SYSTEM_PROMPT, response_observation(), error_observation() und run_agent().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 Referenzstand enthält den Pflichtteil und alle vier optionalen Verbesserungen.</a:t>
            </a:r>
          </a:p>
          <a:p>
            <a:r>
              <a:t>Die Zieladresse wird separat über --target übergeben und vor dem Lauf auf die lokale Workshop-Instanz begrenzt.</a:t>
            </a:r>
          </a:p>
          <a:p>
            <a:r>
              <a:t>Die eigene Teamlösung bleibt separat, damit Unterschiede im Verhalten später nachvollziehbar bleiben.</a:t>
            </a:r>
          </a:p>
          <a:p>
            <a:r>
              <a:t>Überleitung zu Slot 4: Der Stand wird eingefroren. Product Tampering macht anschließend die fehlende PUT-Fähigkeit sichtbar.</a:t>
            </a:r>
          </a:p>
          <a:p>
            <a:r>
              <a:t>[Sources]</a:t>
            </a:r>
          </a:p>
          <a:p>
            <a:r>
              <a:t>- Interne Workshopmaterialien: Challenges/Aufgabenblatt.md und Agent/slot3_reference_agent.py.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3257550"/>
            <a:ext cx="8572500" cy="904875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5400"/>
            </a:lvl1pPr>
          </a:lstStyle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4210050"/>
            <a:ext cx="7429500" cy="742950"/>
          </a:xfrm>
        </p:spPr>
        <p:txBody>
          <a:bodyPr lIns="0" tIns="0" rIns="0" bIns="0" anchor="t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19100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714500" y="2286000"/>
            <a:ext cx="8763000" cy="2095500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4400"/>
            </a:lvl1pPr>
          </a:lstStyle>
          <a:p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103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Placeholder">
            <a:extLst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2667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ctr">
            <a:normAutofit/>
          </a:bodyPr>
          <a:lstStyle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667000" y="4524375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257300"/>
            <a:ext cx="10515600" cy="4552950"/>
          </a:xfrm>
          <a:prstGeom prst="rect">
            <a:avLst/>
          </a:prstGeom>
          <a:noFill/>
          <a:ln w="9525">
            <a:solidFill>
              <a:srgbClr val="DFE1E7"/>
            </a:solidFill>
            <a:prstDash val="solid"/>
          </a:ln>
        </p:spPr>
        <p:txBody>
          <a:bodyPr anchor="ctr">
            <a:normAutofit/>
          </a:bodyPr>
          <a:lstStyle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14107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noGrp="1"/>
          </p:cNvSpPr>
          <p:nvPr/>
        </p:nvSpPr>
        <p:spPr>
          <a:xfrm>
            <a:off x="7063550" y="2115598"/>
            <a:ext cx="4398550" cy="28174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63550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noGrp="1"/>
          </p:cNvSpPr>
          <p:nvPr/>
        </p:nvSpPr>
        <p:spPr>
          <a:xfrm>
            <a:off x="729901" y="2115598"/>
            <a:ext cx="4398550" cy="2817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01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noGrp="1"/>
          </p:cNvSpPr>
          <p:nvPr/>
        </p:nvSpPr>
        <p:spPr>
          <a:xfrm>
            <a:off x="6014752" y="1428750"/>
            <a:ext cx="4563142" cy="41910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14752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noGrp="1"/>
          </p:cNvSpPr>
          <p:nvPr/>
        </p:nvSpPr>
        <p:spPr>
          <a:xfrm>
            <a:off x="44196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352800" cy="1200150"/>
          </a:xfrm>
          <a:prstGeom prst="roundRect">
            <a:avLst>
              <a:gd name="adj" fmla="val 347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0515600" cy="2819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noGrp="1"/>
          </p:cNvSpPr>
          <p:nvPr>
            <p:ph type="chart" idx="4"/>
          </p:nvPr>
        </p:nvSpPr>
        <p:spPr>
          <a:xfrm>
            <a:off x="1123950" y="3086100"/>
            <a:ext cx="9944100" cy="22479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/ Comm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1818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</p:spPr>
        <p:txBody>
          <a:bodyPr lIns="266700" tIns="247650" rIns="266700" bIns="2476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+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15315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6153150" cy="4191000"/>
          </a:xfrm>
        </p:spPr>
        <p:txBody>
          <a:bodyPr lIns="190500" tIns="171450" rIns="190500" bIns="171450" anchor="t"/>
          <a:lstStyle/>
          <a:p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4133850" cy="4191000"/>
          </a:xfrm>
          <a:prstGeom prst="roundRect">
            <a:avLst>
              <a:gd name="adj" fmla="val 2062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19950" y="1428750"/>
            <a:ext cx="4133850" cy="4191000"/>
          </a:xfrm>
        </p:spPr>
        <p:txBody>
          <a:bodyPr lIns="247650" tIns="209550" rIns="247650" bIns="2095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2381250"/>
            <a:ext cx="8572500" cy="952500"/>
          </a:xfrm>
        </p:spPr>
        <p:txBody>
          <a:bodyPr lIns="0" tIns="0" rIns="0" bIns="0" anchor="ctr"/>
          <a:lstStyle/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3524250"/>
            <a:ext cx="7429500" cy="762000"/>
          </a:xfrm>
        </p:spPr>
        <p:txBody>
          <a:bodyPr lIns="0" tIns="0" rIns="0" bIns="0" anchor="ctr"/>
          <a:lstStyle/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fy footer">
            <a:extLst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762125"/>
            <a:ext cx="9944100" cy="314325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23950" y="5086350"/>
            <a:ext cx="9944100" cy="28575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erify Master">
    <p:bg>
      <p:bgPr>
        <a:solidFill>
          <a:srgbClr val="E6E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7"/>
          <p:cNvPicPr>
            <a:picLocks noChangeAspect="1"/>
          </p:cNvPicPr>
          <p:nvPr/>
        </p:nvPicPr>
        <p:blipFill>
          <a:blip r:embed="rId18">
            <a:alphaModFix amt="7000"/>
          </a:blip>
          <a:stretch>
            <a:fillRect/>
          </a:stretch>
        </p:blipFill>
        <p:spPr>
          <a:xfrm>
            <a:off x="0" y="0"/>
            <a:ext cx="9008295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1382375" y="193834"/>
            <a:ext cx="400050" cy="3933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pening-kicker">
            <a:extLst>
              <a:ext uri="{FF2B5EF4-FFF2-40B4-BE49-F238E27FC236}">
                <a16:creationId xmlns:a16="http://schemas.microsoft.com/office/drawing/2014/main" id="{F6475187-A772-49E3-BBC7-2322BE1F8703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85D8A"/>
                </a:solidFill>
              </a:defRPr>
            </a:pPr>
            <a:r>
              <a:rPr sz="1275" b="1">
                <a:solidFill>
                  <a:srgbClr val="385D8A"/>
                </a:solidFill>
              </a:rPr>
              <a:t>STUDIENSTIFTUNG AG CYBERRAUM</a:t>
            </a:r>
          </a:p>
        </p:txBody>
      </p:sp>
      <p:sp>
        <p:nvSpPr>
          <p:cNvPr id="6" name="opening-title">
            <a:extLst>
              <a:ext uri="{FF2B5EF4-FFF2-40B4-BE49-F238E27FC236}">
                <a16:creationId xmlns:a16="http://schemas.microsoft.com/office/drawing/2014/main" id="{A4E5B28D-0E1C-4DAB-AB06-E1955D726F29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6324A"/>
                </a:solidFill>
              </a:defRPr>
            </a:pPr>
            <a:r>
              <a:rPr sz="4350" b="1">
                <a:solidFill>
                  <a:srgbClr val="26324A"/>
                </a:solidFill>
              </a:rPr>
              <a:t>Den Agenten erweitern</a:t>
            </a:r>
          </a:p>
        </p:txBody>
      </p:sp>
      <p:sp>
        <p:nvSpPr>
          <p:cNvPr id="7" name="opening-subtitle">
            <a:extLst>
              <a:ext uri="{FF2B5EF4-FFF2-40B4-BE49-F238E27FC236}">
                <a16:creationId xmlns:a16="http://schemas.microsoft.com/office/drawing/2014/main" id="{2D095B24-E254-4137-80DC-FF3DB1058BA4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0">
                <a:solidFill>
                  <a:srgbClr val="5C667A"/>
                </a:solidFill>
              </a:defRPr>
            </a:pPr>
            <a:r>
              <a:rPr sz="2025" b="0">
                <a:solidFill>
                  <a:srgbClr val="5C667A"/>
                </a:solidFill>
              </a:rPr>
              <a:t>JSON-POST ergänzen, Login Admin ausführen, Spur verbessern</a:t>
            </a:r>
          </a:p>
        </p:txBody>
      </p:sp>
      <p:sp>
        <p:nvSpPr>
          <p:cNvPr id="8" name="opening-rule">
            <a:extLst>
              <a:ext uri="{FF2B5EF4-FFF2-40B4-BE49-F238E27FC236}">
                <a16:creationId xmlns:a16="http://schemas.microsoft.com/office/drawing/2014/main" id="{30487AED-B523-4355-90E2-F70DFBAE7270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0" cy="0"/>
          </a:xfrm>
          <a:prstGeom prst="line">
            <a:avLst/>
          </a:prstGeom>
          <a:noFill/>
          <a:ln w="38100">
            <a:solidFill>
              <a:srgbClr val="385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pening-question">
            <a:extLst>
              <a:ext uri="{FF2B5EF4-FFF2-40B4-BE49-F238E27FC236}">
                <a16:creationId xmlns:a16="http://schemas.microsoft.com/office/drawing/2014/main" id="{4A34812D-3FF8-48AE-8697-2C6E92D3ECE7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26324A"/>
                </a:solidFill>
              </a:defRPr>
            </a:pPr>
            <a:r>
              <a:rPr sz="1950" b="1">
                <a:solidFill>
                  <a:srgbClr val="26324A"/>
                </a:solidFill>
              </a:rPr>
              <a:t>Wie wird aus einer minimalen Schleife ein belastbarerer Agent?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CD89E74-F1EB-4823-BCBE-99EC8F4751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D4F9C384-ADE9-A00F-BE5F-A42B0AF72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ADF8A7B0-062F-290E-838F-B79569CF6076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Login Admin scheitert am fehlenden Aktionsraum</a:t>
            </a:r>
          </a:p>
        </p:txBody>
      </p:sp>
      <p:sp>
        <p:nvSpPr>
          <p:cNvPr id="21" name="Goal to action arrow">
            <a:extLst>
              <a:ext uri="{FF2B5EF4-FFF2-40B4-BE49-F238E27FC236}">
                <a16:creationId xmlns:a16="http://schemas.microsoft.com/office/drawing/2014/main" id="{E75A786D-5E58-456C-8D87-903602152C22}"/>
              </a:ext>
            </a:extLst>
          </p:cNvPr>
          <p:cNvSpPr>
            <a:spLocks noGrp="1"/>
          </p:cNvSpPr>
          <p:nvPr/>
        </p:nvSpPr>
        <p:spPr>
          <a:xfrm>
            <a:off x="4000500" y="2114550"/>
            <a:ext cx="590550" cy="3048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Action to gap arrow">
            <a:extLst>
              <a:ext uri="{FF2B5EF4-FFF2-40B4-BE49-F238E27FC236}">
                <a16:creationId xmlns:a16="http://schemas.microsoft.com/office/drawing/2014/main" id="{78B38F7E-A5B7-488D-AFCA-B6F1012BD434}"/>
              </a:ext>
            </a:extLst>
          </p:cNvPr>
          <p:cNvSpPr>
            <a:spLocks noGrp="1"/>
          </p:cNvSpPr>
          <p:nvPr/>
        </p:nvSpPr>
        <p:spPr>
          <a:xfrm>
            <a:off x="7543800" y="2114550"/>
            <a:ext cx="590550" cy="3048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Known goal panel">
            <a:extLst>
              <a:ext uri="{FF2B5EF4-FFF2-40B4-BE49-F238E27FC236}">
                <a16:creationId xmlns:a16="http://schemas.microsoft.com/office/drawing/2014/main" id="{742FFA2F-8AFC-4CEE-8AE7-3B5F2694193A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2971800" cy="1524000"/>
          </a:xfrm>
          <a:prstGeom prst="roundRect">
            <a:avLst>
              <a:gd name="adj" fmla="val 5000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BEKANNTES ZIEL</a:t>
            </a:r>
          </a:p>
        </p:txBody>
      </p:sp>
      <p:sp>
        <p:nvSpPr>
          <p:cNvPr id="24" name="Known goal value">
            <a:extLst>
              <a:ext uri="{FF2B5EF4-FFF2-40B4-BE49-F238E27FC236}">
                <a16:creationId xmlns:a16="http://schemas.microsoft.com/office/drawing/2014/main" id="{BF1E1907-1C25-493B-9C97-6C88BC95844C}"/>
              </a:ext>
            </a:extLst>
          </p:cNvPr>
          <p:cNvSpPr>
            <a:spLocks noGrp="1"/>
          </p:cNvSpPr>
          <p:nvPr/>
        </p:nvSpPr>
        <p:spPr>
          <a:xfrm>
            <a:off x="1066800" y="20574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Login Admin</a:t>
            </a:r>
          </a:p>
        </p:txBody>
      </p:sp>
      <p:sp>
        <p:nvSpPr>
          <p:cNvPr id="25" name="Current action space panel">
            <a:extLst>
              <a:ext uri="{FF2B5EF4-FFF2-40B4-BE49-F238E27FC236}">
                <a16:creationId xmlns:a16="http://schemas.microsoft.com/office/drawing/2014/main" id="{E4910B31-3370-4EDE-A17C-42747AD17480}"/>
              </a:ext>
            </a:extLst>
          </p:cNvPr>
          <p:cNvSpPr>
            <a:spLocks noGrp="1"/>
          </p:cNvSpPr>
          <p:nvPr/>
        </p:nvSpPr>
        <p:spPr>
          <a:xfrm>
            <a:off x="4762500" y="1543050"/>
            <a:ext cx="2590800" cy="1524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BISHERIGER AKTIONSRAUM</a:t>
            </a:r>
          </a:p>
        </p:txBody>
      </p:sp>
      <p:sp>
        <p:nvSpPr>
          <p:cNvPr id="26" name="Current action value">
            <a:extLst>
              <a:ext uri="{FF2B5EF4-FFF2-40B4-BE49-F238E27FC236}">
                <a16:creationId xmlns:a16="http://schemas.microsoft.com/office/drawing/2014/main" id="{8B16291E-B409-4014-A732-2F023C9B2326}"/>
              </a:ext>
            </a:extLst>
          </p:cNvPr>
          <p:cNvSpPr>
            <a:spLocks noGrp="1"/>
          </p:cNvSpPr>
          <p:nvPr/>
        </p:nvSpPr>
        <p:spPr>
          <a:xfrm>
            <a:off x="4972050" y="2076450"/>
            <a:ext cx="2171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5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http_get</a:t>
            </a:r>
          </a:p>
          <a:p>
            <a:pPr>
              <a:buNone/>
              <a:defRPr sz="150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finish</a:t>
            </a:r>
          </a:p>
        </p:txBody>
      </p:sp>
      <p:sp>
        <p:nvSpPr>
          <p:cNvPr id="27" name="Missing action panel">
            <a:extLst>
              <a:ext uri="{FF2B5EF4-FFF2-40B4-BE49-F238E27FC236}">
                <a16:creationId xmlns:a16="http://schemas.microsoft.com/office/drawing/2014/main" id="{0B8CFAD4-CD40-4AB3-9E90-FBC300339F8E}"/>
              </a:ext>
            </a:extLst>
          </p:cNvPr>
          <p:cNvSpPr>
            <a:spLocks noGrp="1"/>
          </p:cNvSpPr>
          <p:nvPr/>
        </p:nvSpPr>
        <p:spPr>
          <a:xfrm>
            <a:off x="8305800" y="1543050"/>
            <a:ext cx="3048000" cy="1524000"/>
          </a:xfrm>
          <a:prstGeom prst="roundRect">
            <a:avLst>
              <a:gd name="adj" fmla="val 5000"/>
            </a:avLst>
          </a:prstGeom>
          <a:solidFill>
            <a:srgbClr val="F2E9E7"/>
          </a:solidFill>
          <a:ln w="9525">
            <a:solidFill>
              <a:srgbClr val="B34A3A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B34A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34A3A"/>
                </a:solidFill>
                <a:latin typeface="Avenir Next"/>
                <a:ea typeface="Avenir Next"/>
                <a:cs typeface="Avenir Next"/>
              </a:rPr>
              <a:t>BENÖTIGTE AKTION</a:t>
            </a:r>
          </a:p>
        </p:txBody>
      </p:sp>
      <p:sp>
        <p:nvSpPr>
          <p:cNvPr id="28" name="Missing action value">
            <a:extLst>
              <a:ext uri="{FF2B5EF4-FFF2-40B4-BE49-F238E27FC236}">
                <a16:creationId xmlns:a16="http://schemas.microsoft.com/office/drawing/2014/main" id="{1D93C504-53B9-4FF1-B133-A892B3243E56}"/>
              </a:ext>
            </a:extLst>
          </p:cNvPr>
          <p:cNvSpPr>
            <a:spLocks noGrp="1"/>
          </p:cNvSpPr>
          <p:nvPr/>
        </p:nvSpPr>
        <p:spPr>
          <a:xfrm>
            <a:off x="8515350" y="2076450"/>
            <a:ext cx="2628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POST /rest/user/login</a:t>
            </a:r>
          </a:p>
          <a:p>
            <a:pPr>
              <a:buNone/>
              <a:defRPr sz="1350" b="1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mit JSON-Daten</a:t>
            </a:r>
          </a:p>
        </p:txBody>
      </p:sp>
      <p:sp>
        <p:nvSpPr>
          <p:cNvPr id="29" name="Capability conclusion">
            <a:extLst>
              <a:ext uri="{FF2B5EF4-FFF2-40B4-BE49-F238E27FC236}">
                <a16:creationId xmlns:a16="http://schemas.microsoft.com/office/drawing/2014/main" id="{806A84A2-9857-4775-9EFB-8F2861EA5D65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0515600" cy="1390650"/>
          </a:xfrm>
          <a:prstGeom prst="roundRect">
            <a:avLst>
              <a:gd name="adj" fmla="val 5479"/>
            </a:avLst>
          </a:prstGeom>
          <a:solidFill>
            <a:srgbClr val="F5F6F8"/>
          </a:solidFill>
          <a:ln w="9525">
            <a:solidFill>
              <a:srgbClr val="A6ADBC"/>
            </a:solidFill>
            <a:prstDash val="solid"/>
          </a:ln>
        </p:spPr>
        <p:txBody>
          <a:bodyPr anchor="t"/>
          <a:lstStyle/>
          <a:p>
            <a:pPr>
              <a:buNone/>
              <a:def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Die Schleife allein genügt nicht</a:t>
            </a:r>
          </a:p>
        </p:txBody>
      </p:sp>
      <p:sp>
        <p:nvSpPr>
          <p:cNvPr id="30" name="Capability conclusion body">
            <a:extLst>
              <a:ext uri="{FF2B5EF4-FFF2-40B4-BE49-F238E27FC236}">
                <a16:creationId xmlns:a16="http://schemas.microsoft.com/office/drawing/2014/main" id="{E6BB4127-3FF7-4D38-906C-F3F1D386073A}"/>
              </a:ext>
            </a:extLst>
          </p:cNvPr>
          <p:cNvSpPr>
            <a:spLocks noGrp="1"/>
          </p:cNvSpPr>
          <p:nvPr/>
        </p:nvSpPr>
        <p:spPr>
          <a:xfrm>
            <a:off x="1104900" y="4267200"/>
            <a:ext cx="998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Das Modell kann POST als nächsten Schritt vorschlagen. Ausführen kann der Agent die Aktion erst, wenn Format, Prüfung, Werkzeug und Adapter dieselbe neue Fähigkeit unterstützen.</a:t>
            </a:r>
          </a:p>
        </p:txBody>
      </p:sp>
      <p:sp>
        <p:nvSpPr>
          <p:cNvPr id="31" name="Capability footer divider">
            <a:extLst>
              <a:ext uri="{FF2B5EF4-FFF2-40B4-BE49-F238E27FC236}">
                <a16:creationId xmlns:a16="http://schemas.microsoft.com/office/drawing/2014/main" id="{48464327-AF72-48C6-9405-B5DAC5C034EB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Capability footer">
            <a:extLst>
              <a:ext uri="{FF2B5EF4-FFF2-40B4-BE49-F238E27FC236}">
                <a16:creationId xmlns:a16="http://schemas.microsoft.com/office/drawing/2014/main" id="{5D89D5FF-F60F-4C90-B074-90B67397F6F5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Operative Fähigkeit entsteht aus Modellentscheidung und ausführbarem Werkzeug.</a:t>
            </a:r>
          </a:p>
        </p:txBody>
      </p:sp>
    </p:spTree>
    <p:extLst>
      <p:ext uri="{BB962C8B-B14F-4D97-AF65-F5344CB8AC3E}">
        <p14:creationId xmlns:p14="http://schemas.microsoft.com/office/powerpoint/2010/main" val="131224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6B611D40-1747-B3C1-8D56-12F613F3DA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02359C0-8A7A-196E-DD58-8E6569619F09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F5A07A87-50F6-46B0-8229-1D0CDB85819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GET ruft ab, POST übermittelt Daten</a:t>
            </a:r>
          </a:p>
        </p:txBody>
      </p:sp>
      <p:sp>
        <p:nvSpPr>
          <p:cNvPr id="21" name="Input to model">
            <a:extLst>
              <a:ext uri="{FF2B5EF4-FFF2-40B4-BE49-F238E27FC236}">
                <a16:creationId xmlns:a16="http://schemas.microsoft.com/office/drawing/2014/main" id="{79C6BB49-7C8B-2519-F114-5487B37171F0}"/>
              </a:ext>
            </a:extLst>
          </p:cNvPr>
          <p:cNvSpPr>
            <a:spLocks noGrp="1"/>
          </p:cNvSpPr>
          <p:nvPr/>
        </p:nvSpPr>
        <p:spPr>
          <a:xfrm>
            <a:off x="3448050" y="2053590"/>
            <a:ext cx="457200" cy="2286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Model to output">
            <a:extLst>
              <a:ext uri="{FF2B5EF4-FFF2-40B4-BE49-F238E27FC236}">
                <a16:creationId xmlns:a16="http://schemas.microsoft.com/office/drawing/2014/main" id="{3B32EE8F-BBB1-9631-9D1A-446DEC36748E}"/>
              </a:ext>
            </a:extLst>
          </p:cNvPr>
          <p:cNvSpPr>
            <a:spLocks noGrp="1"/>
          </p:cNvSpPr>
          <p:nvPr/>
        </p:nvSpPr>
        <p:spPr>
          <a:xfrm>
            <a:off x="7829550" y="2053590"/>
            <a:ext cx="457200" cy="2286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Input label">
            <a:extLst>
              <a:ext uri="{FF2B5EF4-FFF2-40B4-BE49-F238E27FC236}">
                <a16:creationId xmlns:a16="http://schemas.microsoft.com/office/drawing/2014/main" id="{97E01E29-E54D-7084-1034-C9218E87B910}"/>
              </a:ext>
            </a:extLst>
          </p:cNvPr>
          <p:cNvSpPr>
            <a:spLocks noGrp="1"/>
          </p:cNvSpPr>
          <p:nvPr/>
        </p:nvSpPr>
        <p:spPr>
          <a:xfrm>
            <a:off x="1314450" y="1518285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4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METHODE</a:t>
            </a:r>
          </a:p>
        </p:txBody>
      </p:sp>
      <p:sp>
        <p:nvSpPr>
          <p:cNvPr id="24" name="Input content">
            <a:extLst>
              <a:ext uri="{FF2B5EF4-FFF2-40B4-BE49-F238E27FC236}">
                <a16:creationId xmlns:a16="http://schemas.microsoft.com/office/drawing/2014/main" id="{4B93B9C6-41C9-D23D-AF2C-8394F862F47D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GET oder POST</a:t>
            </a:r>
          </a:p>
        </p:txBody>
      </p:sp>
      <p:sp>
        <p:nvSpPr>
          <p:cNvPr id="25" name="Language model panel">
            <a:extLst>
              <a:ext uri="{FF2B5EF4-FFF2-40B4-BE49-F238E27FC236}">
                <a16:creationId xmlns:a16="http://schemas.microsoft.com/office/drawing/2014/main" id="{3C41E2E7-B267-BB93-86B4-799C3A90F43D}"/>
              </a:ext>
            </a:extLst>
          </p:cNvPr>
          <p:cNvSpPr>
            <a:spLocks noGrp="1"/>
          </p:cNvSpPr>
          <p:nvPr/>
        </p:nvSpPr>
        <p:spPr>
          <a:xfrm>
            <a:off x="3924300" y="1320165"/>
            <a:ext cx="3810000" cy="1619250"/>
          </a:xfrm>
          <a:prstGeom prst="roundRect">
            <a:avLst>
              <a:gd name="adj" fmla="val 7059"/>
            </a:avLst>
          </a:prstGeom>
          <a:solidFill>
            <a:srgbClr val="D4D7DE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Language model content">
            <a:extLst>
              <a:ext uri="{FF2B5EF4-FFF2-40B4-BE49-F238E27FC236}">
                <a16:creationId xmlns:a16="http://schemas.microsoft.com/office/drawing/2014/main" id="{10490617-C742-EF6F-1058-50A9F82E478A}"/>
              </a:ext>
            </a:extLst>
          </p:cNvPr>
          <p:cNvSpPr>
            <a:spLocks noGrp="1"/>
          </p:cNvSpPr>
          <p:nvPr/>
        </p:nvSpPr>
        <p:spPr>
          <a:xfrm>
            <a:off x="4210050" y="1520190"/>
            <a:ext cx="3238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Juice Shop</a:t>
            </a:r>
          </a:p>
          <a:p>
            <a:pPr algn="ctr"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verarbeitet die</a:t>
            </a:r>
          </a:p>
          <a:p>
            <a:pPr algn="ctr">
              <a:buNone/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HTTP-Anfrage</a:t>
            </a:r>
          </a:p>
        </p:txBody>
      </p:sp>
      <p:sp>
        <p:nvSpPr>
          <p:cNvPr id="27" name="Output label">
            <a:extLst>
              <a:ext uri="{FF2B5EF4-FFF2-40B4-BE49-F238E27FC236}">
                <a16:creationId xmlns:a16="http://schemas.microsoft.com/office/drawing/2014/main" id="{31719A06-B640-944F-7DF7-1D9A08EFD0E0}"/>
              </a:ext>
            </a:extLst>
          </p:cNvPr>
          <p:cNvSpPr>
            <a:spLocks noGrp="1"/>
          </p:cNvSpPr>
          <p:nvPr/>
        </p:nvSpPr>
        <p:spPr>
          <a:xfrm>
            <a:off x="8591550" y="15240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4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ANTWORT</a:t>
            </a:r>
          </a:p>
        </p:txBody>
      </p:sp>
      <p:sp>
        <p:nvSpPr>
          <p:cNvPr id="28" name="Output content">
            <a:extLst>
              <a:ext uri="{FF2B5EF4-FFF2-40B4-BE49-F238E27FC236}">
                <a16:creationId xmlns:a16="http://schemas.microsoft.com/office/drawing/2014/main" id="{5D608A28-4512-9CA0-02EB-4944F7C83ABA}"/>
              </a:ext>
            </a:extLst>
          </p:cNvPr>
          <p:cNvSpPr>
            <a:spLocks noGrp="1"/>
          </p:cNvSpPr>
          <p:nvPr/>
        </p:nvSpPr>
        <p:spPr>
          <a:xfrm>
            <a:off x="8210550" y="1971675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Status + Daten</a:t>
            </a:r>
          </a:p>
        </p:txBody>
      </p:sp>
      <p:sp>
        <p:nvSpPr>
          <p:cNvPr id="29" name="Can panel">
            <a:extLst>
              <a:ext uri="{FF2B5EF4-FFF2-40B4-BE49-F238E27FC236}">
                <a16:creationId xmlns:a16="http://schemas.microsoft.com/office/drawing/2014/main" id="{83ED8BE5-3452-7949-4D06-1B3E45DE1AA1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80975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an heading">
            <a:extLst>
              <a:ext uri="{FF2B5EF4-FFF2-40B4-BE49-F238E27FC236}">
                <a16:creationId xmlns:a16="http://schemas.microsoft.com/office/drawing/2014/main" id="{33EF8F08-F192-8550-5C8A-70EF84F88BE8}"/>
              </a:ext>
            </a:extLst>
          </p:cNvPr>
          <p:cNvSpPr>
            <a:spLocks noGrp="1"/>
          </p:cNvSpPr>
          <p:nvPr/>
        </p:nvSpPr>
        <p:spPr>
          <a:xfrm>
            <a:off x="1104900" y="3600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2A8A6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8A68"/>
                </a:solidFill>
                <a:latin typeface="Avenir Next"/>
                <a:ea typeface="Avenir Next"/>
                <a:cs typeface="Avenir Next"/>
              </a:rPr>
              <a:t>GET</a:t>
            </a:r>
          </a:p>
        </p:txBody>
      </p:sp>
      <p:sp>
        <p:nvSpPr>
          <p:cNvPr id="31" name="Can bullet 1">
            <a:extLst>
              <a:ext uri="{FF2B5EF4-FFF2-40B4-BE49-F238E27FC236}">
                <a16:creationId xmlns:a16="http://schemas.microsoft.com/office/drawing/2014/main" id="{ED197CED-EE61-54E7-2508-62499E1A88B0}"/>
              </a:ext>
            </a:extLst>
          </p:cNvPr>
          <p:cNvSpPr>
            <a:spLocks noGrp="1"/>
          </p:cNvSpPr>
          <p:nvPr/>
        </p:nvSpPr>
        <p:spPr>
          <a:xfrm>
            <a:off x="1162050" y="4133850"/>
            <a:ext cx="76200" cy="76200"/>
          </a:xfrm>
          <a:prstGeom prst="ellipse">
            <a:avLst/>
          </a:prstGeom>
          <a:solidFill>
            <a:srgbClr val="2A8A6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Can item 1">
            <a:extLst>
              <a:ext uri="{FF2B5EF4-FFF2-40B4-BE49-F238E27FC236}">
                <a16:creationId xmlns:a16="http://schemas.microsoft.com/office/drawing/2014/main" id="{59FB99A7-6D83-595E-C86F-9689381F86A2}"/>
              </a:ext>
            </a:extLst>
          </p:cNvPr>
          <p:cNvSpPr>
            <a:spLocks noGrp="1"/>
          </p:cNvSpPr>
          <p:nvPr/>
        </p:nvSpPr>
        <p:spPr>
          <a:xfrm>
            <a:off x="1371600" y="4029075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Ressource über Pfad abrufen</a:t>
            </a:r>
          </a:p>
        </p:txBody>
      </p:sp>
      <p:sp>
        <p:nvSpPr>
          <p:cNvPr id="33" name="Can bullet 2">
            <a:extLst>
              <a:ext uri="{FF2B5EF4-FFF2-40B4-BE49-F238E27FC236}">
                <a16:creationId xmlns:a16="http://schemas.microsoft.com/office/drawing/2014/main" id="{B02ED8EC-DB50-7881-CC46-C5167F1185E2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76200" cy="76200"/>
          </a:xfrm>
          <a:prstGeom prst="ellipse">
            <a:avLst/>
          </a:prstGeom>
          <a:solidFill>
            <a:srgbClr val="2A8A6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Can item 2">
            <a:extLst>
              <a:ext uri="{FF2B5EF4-FFF2-40B4-BE49-F238E27FC236}">
                <a16:creationId xmlns:a16="http://schemas.microsoft.com/office/drawing/2014/main" id="{97677842-C1FF-E686-22E3-EC9339EB90A1}"/>
              </a:ext>
            </a:extLst>
          </p:cNvPr>
          <p:cNvSpPr>
            <a:spLocks noGrp="1"/>
          </p:cNvSpPr>
          <p:nvPr/>
        </p:nvSpPr>
        <p:spPr>
          <a:xfrm>
            <a:off x="1371600" y="4352925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Keine JSON-Daten nötig</a:t>
            </a:r>
          </a:p>
        </p:txBody>
      </p:sp>
      <p:sp>
        <p:nvSpPr>
          <p:cNvPr id="35" name="Can bullet 3">
            <a:extLst>
              <a:ext uri="{FF2B5EF4-FFF2-40B4-BE49-F238E27FC236}">
                <a16:creationId xmlns:a16="http://schemas.microsoft.com/office/drawing/2014/main" id="{02C02D63-1314-CBCE-9778-F9D6A6265915}"/>
              </a:ext>
            </a:extLst>
          </p:cNvPr>
          <p:cNvSpPr>
            <a:spLocks noGrp="1"/>
          </p:cNvSpPr>
          <p:nvPr/>
        </p:nvSpPr>
        <p:spPr>
          <a:xfrm>
            <a:off x="1162050" y="4781550"/>
            <a:ext cx="76200" cy="76200"/>
          </a:xfrm>
          <a:prstGeom prst="ellipse">
            <a:avLst/>
          </a:prstGeom>
          <a:solidFill>
            <a:srgbClr val="2A8A6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Can item 3">
            <a:extLst>
              <a:ext uri="{FF2B5EF4-FFF2-40B4-BE49-F238E27FC236}">
                <a16:creationId xmlns:a16="http://schemas.microsoft.com/office/drawing/2014/main" id="{261F977F-A9AC-63C5-5E1F-91F92B155A2F}"/>
              </a:ext>
            </a:extLst>
          </p:cNvPr>
          <p:cNvSpPr>
            <a:spLocks noGrp="1"/>
          </p:cNvSpPr>
          <p:nvPr/>
        </p:nvSpPr>
        <p:spPr>
          <a:xfrm>
            <a:off x="1371600" y="4676775"/>
            <a:ext cx="388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Confidential Document</a:t>
            </a:r>
          </a:p>
        </p:txBody>
      </p:sp>
      <p:sp>
        <p:nvSpPr>
          <p:cNvPr id="37" name="Cannot panel">
            <a:extLst>
              <a:ext uri="{FF2B5EF4-FFF2-40B4-BE49-F238E27FC236}">
                <a16:creationId xmlns:a16="http://schemas.microsoft.com/office/drawing/2014/main" id="{4CE5ACEB-367F-0EF0-075C-2AAC83A7E2BC}"/>
              </a:ext>
            </a:extLst>
          </p:cNvPr>
          <p:cNvSpPr>
            <a:spLocks noGrp="1"/>
          </p:cNvSpPr>
          <p:nvPr/>
        </p:nvSpPr>
        <p:spPr>
          <a:xfrm>
            <a:off x="6000750" y="3429000"/>
            <a:ext cx="5353050" cy="180975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Cannot heading">
            <a:extLst>
              <a:ext uri="{FF2B5EF4-FFF2-40B4-BE49-F238E27FC236}">
                <a16:creationId xmlns:a16="http://schemas.microsoft.com/office/drawing/2014/main" id="{6EA94FBA-075F-D20F-667F-9B94B4804AB0}"/>
              </a:ext>
            </a:extLst>
          </p:cNvPr>
          <p:cNvSpPr>
            <a:spLocks noGrp="1"/>
          </p:cNvSpPr>
          <p:nvPr/>
        </p:nvSpPr>
        <p:spPr>
          <a:xfrm>
            <a:off x="6267450" y="36004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39" name="Cannot bullet 1">
            <a:extLst>
              <a:ext uri="{FF2B5EF4-FFF2-40B4-BE49-F238E27FC236}">
                <a16:creationId xmlns:a16="http://schemas.microsoft.com/office/drawing/2014/main" id="{260B28B5-7772-7E3D-FDDB-C802F2427326}"/>
              </a:ext>
            </a:extLst>
          </p:cNvPr>
          <p:cNvSpPr>
            <a:spLocks noGrp="1"/>
          </p:cNvSpPr>
          <p:nvPr/>
        </p:nvSpPr>
        <p:spPr>
          <a:xfrm>
            <a:off x="6324600" y="413385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Cannot item 1">
            <a:extLst>
              <a:ext uri="{FF2B5EF4-FFF2-40B4-BE49-F238E27FC236}">
                <a16:creationId xmlns:a16="http://schemas.microsoft.com/office/drawing/2014/main" id="{D2981296-2516-6C74-AC8A-FE9642641689}"/>
              </a:ext>
            </a:extLst>
          </p:cNvPr>
          <p:cNvSpPr>
            <a:spLocks noGrp="1"/>
          </p:cNvSpPr>
          <p:nvPr/>
        </p:nvSpPr>
        <p:spPr>
          <a:xfrm>
            <a:off x="6534150" y="4029075"/>
            <a:ext cx="436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Daten zur Verarbeitung senden</a:t>
            </a:r>
          </a:p>
        </p:txBody>
      </p:sp>
      <p:sp>
        <p:nvSpPr>
          <p:cNvPr id="41" name="Cannot bullet 2">
            <a:extLst>
              <a:ext uri="{FF2B5EF4-FFF2-40B4-BE49-F238E27FC236}">
                <a16:creationId xmlns:a16="http://schemas.microsoft.com/office/drawing/2014/main" id="{BC8395DD-F049-5048-6615-A260B220E9CE}"/>
              </a:ext>
            </a:extLst>
          </p:cNvPr>
          <p:cNvSpPr>
            <a:spLocks noGrp="1"/>
          </p:cNvSpPr>
          <p:nvPr/>
        </p:nvSpPr>
        <p:spPr>
          <a:xfrm>
            <a:off x="6324600" y="445770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Cannot item 2">
            <a:extLst>
              <a:ext uri="{FF2B5EF4-FFF2-40B4-BE49-F238E27FC236}">
                <a16:creationId xmlns:a16="http://schemas.microsoft.com/office/drawing/2014/main" id="{48B4289D-751A-EBC9-D251-CB3E8F995ACD}"/>
              </a:ext>
            </a:extLst>
          </p:cNvPr>
          <p:cNvSpPr>
            <a:spLocks noGrp="1"/>
          </p:cNvSpPr>
          <p:nvPr/>
        </p:nvSpPr>
        <p:spPr>
          <a:xfrm>
            <a:off x="6534150" y="4352925"/>
            <a:ext cx="436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JSON-Body übermitteln</a:t>
            </a:r>
          </a:p>
        </p:txBody>
      </p:sp>
      <p:sp>
        <p:nvSpPr>
          <p:cNvPr id="43" name="Cannot bullet 3">
            <a:extLst>
              <a:ext uri="{FF2B5EF4-FFF2-40B4-BE49-F238E27FC236}">
                <a16:creationId xmlns:a16="http://schemas.microsoft.com/office/drawing/2014/main" id="{B6E2EC24-2533-027C-3AC9-AE750A049E28}"/>
              </a:ext>
            </a:extLst>
          </p:cNvPr>
          <p:cNvSpPr>
            <a:spLocks noGrp="1"/>
          </p:cNvSpPr>
          <p:nvPr/>
        </p:nvSpPr>
        <p:spPr>
          <a:xfrm>
            <a:off x="6324600" y="478155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Cannot item 3">
            <a:extLst>
              <a:ext uri="{FF2B5EF4-FFF2-40B4-BE49-F238E27FC236}">
                <a16:creationId xmlns:a16="http://schemas.microsoft.com/office/drawing/2014/main" id="{5B31C7D7-7092-5DE8-D0C5-0452603BEA7D}"/>
              </a:ext>
            </a:extLst>
          </p:cNvPr>
          <p:cNvSpPr>
            <a:spLocks noGrp="1"/>
          </p:cNvSpPr>
          <p:nvPr/>
        </p:nvSpPr>
        <p:spPr>
          <a:xfrm>
            <a:off x="6534150" y="4676775"/>
            <a:ext cx="436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Login Admin</a:t>
            </a:r>
          </a:p>
        </p:txBody>
      </p:sp>
      <p:sp>
        <p:nvSpPr>
          <p:cNvPr id="45" name="Source content divider">
            <a:extLst>
              <a:ext uri="{FF2B5EF4-FFF2-40B4-BE49-F238E27FC236}">
                <a16:creationId xmlns:a16="http://schemas.microsoft.com/office/drawing/2014/main" id="{6C13AD2D-51FC-9973-B12C-D56B84A0A957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ource footer note">
            <a:extLst>
              <a:ext uri="{FF2B5EF4-FFF2-40B4-BE49-F238E27FC236}">
                <a16:creationId xmlns:a16="http://schemas.microsoft.com/office/drawing/2014/main" id="{647EEACF-9624-414F-4D31-5AF6AC8003D8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GET reicht für Ressourcen. Login Admin benötigt eine POST-Anfrage mit JSON-Daten.</a:t>
            </a:r>
          </a:p>
        </p:txBody>
      </p:sp>
    </p:spTree>
    <p:extLst>
      <p:ext uri="{BB962C8B-B14F-4D97-AF65-F5344CB8AC3E}">
        <p14:creationId xmlns:p14="http://schemas.microsoft.com/office/powerpoint/2010/main" val="14572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33DA76F7-3C66-F5F2-EF8C-0CDA04CA72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253987D2-0193-DDF3-5894-3A44E1C826B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1: JSON-POST in vier Stellen ergänzen</a:t>
            </a:r>
          </a:p>
        </p:txBody>
      </p:sp>
      <p:sp>
        <p:nvSpPr>
          <p:cNvPr id="21" name="Task step 1 number">
            <a:extLst>
              <a:ext uri="{FF2B5EF4-FFF2-40B4-BE49-F238E27FC236}">
                <a16:creationId xmlns:a16="http://schemas.microsoft.com/office/drawing/2014/main" id="{DBCA2AFF-A072-4B1A-A733-2CD1F2A04FC4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2" name="Task step 1 heading">
            <a:extLst>
              <a:ext uri="{FF2B5EF4-FFF2-40B4-BE49-F238E27FC236}">
                <a16:creationId xmlns:a16="http://schemas.microsoft.com/office/drawing/2014/main" id="{F8FF3C72-A906-477B-A8F1-63DE7D3542A0}"/>
              </a:ext>
            </a:extLst>
          </p:cNvPr>
          <p:cNvSpPr>
            <a:spLocks noGrp="1"/>
          </p:cNvSpPr>
          <p:nvPr/>
        </p:nvSpPr>
        <p:spPr>
          <a:xfrm>
            <a:off x="1447800" y="15430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System-Prompt erweitern</a:t>
            </a:r>
          </a:p>
        </p:txBody>
      </p:sp>
      <p:sp>
        <p:nvSpPr>
          <p:cNvPr id="23" name="Task step 1 detail">
            <a:extLst>
              <a:ext uri="{FF2B5EF4-FFF2-40B4-BE49-F238E27FC236}">
                <a16:creationId xmlns:a16="http://schemas.microsoft.com/office/drawing/2014/main" id="{4CF23950-F2A7-463C-A4DB-A53C9481A292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Aktionsformat anpassen.</a:t>
            </a:r>
          </a:p>
        </p:txBody>
      </p:sp>
      <p:sp>
        <p:nvSpPr>
          <p:cNvPr id="24" name="Task step 2 number">
            <a:extLst>
              <a:ext uri="{FF2B5EF4-FFF2-40B4-BE49-F238E27FC236}">
                <a16:creationId xmlns:a16="http://schemas.microsoft.com/office/drawing/2014/main" id="{FBB45A99-EA0C-4D14-9392-F74FED081FF2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5" name="Task step 2 heading">
            <a:extLst>
              <a:ext uri="{FF2B5EF4-FFF2-40B4-BE49-F238E27FC236}">
                <a16:creationId xmlns:a16="http://schemas.microsoft.com/office/drawing/2014/main" id="{6DD60A8F-B617-4D27-BF1C-449A5A379E55}"/>
              </a:ext>
            </a:extLst>
          </p:cNvPr>
          <p:cNvSpPr>
            <a:spLocks noGrp="1"/>
          </p:cNvSpPr>
          <p:nvPr/>
        </p:nvSpPr>
        <p:spPr>
          <a:xfrm>
            <a:off x="1447800" y="23241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Aktion prüfen</a:t>
            </a:r>
          </a:p>
        </p:txBody>
      </p:sp>
      <p:sp>
        <p:nvSpPr>
          <p:cNvPr id="26" name="Task step 2 detail">
            <a:extLst>
              <a:ext uri="{FF2B5EF4-FFF2-40B4-BE49-F238E27FC236}">
                <a16:creationId xmlns:a16="http://schemas.microsoft.com/office/drawing/2014/main" id="{C4807B06-E695-4E81-81FD-06B35F4A40DF}"/>
              </a:ext>
            </a:extLst>
          </p:cNvPr>
          <p:cNvSpPr>
            <a:spLocks noGrp="1"/>
          </p:cNvSpPr>
          <p:nvPr/>
        </p:nvSpPr>
        <p:spPr>
          <a:xfrm>
            <a:off x="1447800" y="26098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http_post zulassen und parameter validieren.</a:t>
            </a:r>
          </a:p>
        </p:txBody>
      </p:sp>
      <p:sp>
        <p:nvSpPr>
          <p:cNvPr id="27" name="Task step 3 number">
            <a:extLst>
              <a:ext uri="{FF2B5EF4-FFF2-40B4-BE49-F238E27FC236}">
                <a16:creationId xmlns:a16="http://schemas.microsoft.com/office/drawing/2014/main" id="{1195186C-15BD-4B26-BCBC-58EA491F3CDA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8" name="Task step 3 heading">
            <a:extLst>
              <a:ext uri="{FF2B5EF4-FFF2-40B4-BE49-F238E27FC236}">
                <a16:creationId xmlns:a16="http://schemas.microsoft.com/office/drawing/2014/main" id="{5B61C7A2-3507-42D8-BB3D-622D6D50369C}"/>
              </a:ext>
            </a:extLst>
          </p:cNvPr>
          <p:cNvSpPr>
            <a:spLocks noGrp="1"/>
          </p:cNvSpPr>
          <p:nvPr/>
        </p:nvSpPr>
        <p:spPr>
          <a:xfrm>
            <a:off x="1447800" y="31051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HTTP-Werkzeug implementieren</a:t>
            </a:r>
          </a:p>
        </p:txBody>
      </p:sp>
      <p:sp>
        <p:nvSpPr>
          <p:cNvPr id="29" name="Task step 3 detail">
            <a:extLst>
              <a:ext uri="{FF2B5EF4-FFF2-40B4-BE49-F238E27FC236}">
                <a16:creationId xmlns:a16="http://schemas.microsoft.com/office/drawing/2014/main" id="{14AE81C6-3325-4D32-BC7E-35A935D73FA3}"/>
              </a:ext>
            </a:extLst>
          </p:cNvPr>
          <p:cNvSpPr>
            <a:spLocks noGrp="1"/>
          </p:cNvSpPr>
          <p:nvPr/>
        </p:nvSpPr>
        <p:spPr>
          <a:xfrm>
            <a:off x="1447800" y="3390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JSON per POST senden und die Antwort als Observation zurückgeben.</a:t>
            </a:r>
          </a:p>
        </p:txBody>
      </p:sp>
      <p:sp>
        <p:nvSpPr>
          <p:cNvPr id="30" name="Task step 4 number">
            <a:extLst>
              <a:ext uri="{FF2B5EF4-FFF2-40B4-BE49-F238E27FC236}">
                <a16:creationId xmlns:a16="http://schemas.microsoft.com/office/drawing/2014/main" id="{7E75636D-9AEB-41B7-9530-58BFC36A660E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1" name="Task step 4 heading">
            <a:extLst>
              <a:ext uri="{FF2B5EF4-FFF2-40B4-BE49-F238E27FC236}">
                <a16:creationId xmlns:a16="http://schemas.microsoft.com/office/drawing/2014/main" id="{BB76C285-2F66-4528-A36D-0E5E07DCC6D7}"/>
              </a:ext>
            </a:extLst>
          </p:cNvPr>
          <p:cNvSpPr>
            <a:spLocks noGrp="1"/>
          </p:cNvSpPr>
          <p:nvPr/>
        </p:nvSpPr>
        <p:spPr>
          <a:xfrm>
            <a:off x="1447800" y="38862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Werkzeugadapter ergänzen</a:t>
            </a:r>
          </a:p>
        </p:txBody>
      </p:sp>
      <p:sp>
        <p:nvSpPr>
          <p:cNvPr id="32" name="Task step 4 detail">
            <a:extLst>
              <a:ext uri="{FF2B5EF4-FFF2-40B4-BE49-F238E27FC236}">
                <a16:creationId xmlns:a16="http://schemas.microsoft.com/office/drawing/2014/main" id="{34C81BDF-7FA5-4B56-9B28-DE7A66A3A5ED}"/>
              </a:ext>
            </a:extLst>
          </p:cNvPr>
          <p:cNvSpPr>
            <a:spLocks noGrp="1"/>
          </p:cNvSpPr>
          <p:nvPr/>
        </p:nvSpPr>
        <p:spPr>
          <a:xfrm>
            <a:off x="1447800" y="41719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http_post an das neue Werkzeug weiterleiten.</a:t>
            </a:r>
          </a:p>
        </p:txBody>
      </p:sp>
      <p:sp>
        <p:nvSpPr>
          <p:cNvPr id="33" name="Task file panel">
            <a:extLst>
              <a:ext uri="{FF2B5EF4-FFF2-40B4-BE49-F238E27FC236}">
                <a16:creationId xmlns:a16="http://schemas.microsoft.com/office/drawing/2014/main" id="{5C47709C-9D1C-4DCB-AA37-B0E286EABD7D}"/>
              </a:ext>
            </a:extLst>
          </p:cNvPr>
          <p:cNvSpPr>
            <a:spLocks noGrp="1"/>
          </p:cNvSpPr>
          <p:nvPr/>
        </p:nvSpPr>
        <p:spPr>
          <a:xfrm>
            <a:off x="6858000" y="1543050"/>
            <a:ext cx="4495800" cy="1447800"/>
          </a:xfrm>
          <a:prstGeom prst="roundRect">
            <a:avLst>
              <a:gd name="adj" fmla="val 5263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ARBEITSBASIS</a:t>
            </a:r>
          </a:p>
        </p:txBody>
      </p:sp>
      <p:sp>
        <p:nvSpPr>
          <p:cNvPr id="34" name="Task file name">
            <a:extLst>
              <a:ext uri="{FF2B5EF4-FFF2-40B4-BE49-F238E27FC236}">
                <a16:creationId xmlns:a16="http://schemas.microsoft.com/office/drawing/2014/main" id="{9E171315-C77F-46E7-89AF-6F12D5540E12}"/>
              </a:ext>
            </a:extLst>
          </p:cNvPr>
          <p:cNvSpPr>
            <a:spLocks noGrp="1"/>
          </p:cNvSpPr>
          <p:nvPr/>
        </p:nvSpPr>
        <p:spPr>
          <a:xfrm>
            <a:off x="7105650" y="20955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slot3_agent.py</a:t>
            </a:r>
          </a:p>
        </p:txBody>
      </p:sp>
      <p:sp>
        <p:nvSpPr>
          <p:cNvPr id="35" name="Task file note">
            <a:extLst>
              <a:ext uri="{FF2B5EF4-FFF2-40B4-BE49-F238E27FC236}">
                <a16:creationId xmlns:a16="http://schemas.microsoft.com/office/drawing/2014/main" id="{1150C5A6-2FE2-4E9C-AB25-B88F830F8579}"/>
              </a:ext>
            </a:extLst>
          </p:cNvPr>
          <p:cNvSpPr>
            <a:spLocks noGrp="1"/>
          </p:cNvSpPr>
          <p:nvPr/>
        </p:nvSpPr>
        <p:spPr>
          <a:xfrm>
            <a:off x="7105650" y="2552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Der Stand aus Slot 2 bleibt unverändert.</a:t>
            </a:r>
          </a:p>
        </p:txBody>
      </p:sp>
      <p:sp>
        <p:nvSpPr>
          <p:cNvPr id="36" name="Task guardrail panel">
            <a:extLst>
              <a:ext uri="{FF2B5EF4-FFF2-40B4-BE49-F238E27FC236}">
                <a16:creationId xmlns:a16="http://schemas.microsoft.com/office/drawing/2014/main" id="{193CCE8F-5F22-45D8-9212-37985308FCCC}"/>
              </a:ext>
            </a:extLst>
          </p:cNvPr>
          <p:cNvSpPr>
            <a:spLocks noGrp="1"/>
          </p:cNvSpPr>
          <p:nvPr/>
        </p:nvSpPr>
        <p:spPr>
          <a:xfrm>
            <a:off x="6858000" y="3219450"/>
            <a:ext cx="4495800" cy="1447800"/>
          </a:xfrm>
          <a:prstGeom prst="roundRect">
            <a:avLst>
              <a:gd name="adj" fmla="val 5263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SICHERHEITSGRENZE</a:t>
            </a:r>
          </a:p>
        </p:txBody>
      </p:sp>
      <p:sp>
        <p:nvSpPr>
          <p:cNvPr id="37" name="Task guardrail body">
            <a:extLst>
              <a:ext uri="{FF2B5EF4-FFF2-40B4-BE49-F238E27FC236}">
                <a16:creationId xmlns:a16="http://schemas.microsoft.com/office/drawing/2014/main" id="{9C3859DC-755F-48C2-8730-DA2A1BF848D3}"/>
              </a:ext>
            </a:extLst>
          </p:cNvPr>
          <p:cNvSpPr>
            <a:spLocks noGrp="1"/>
          </p:cNvSpPr>
          <p:nvPr/>
        </p:nvSpPr>
        <p:spPr>
          <a:xfrm>
            <a:off x="7105650" y="3771900"/>
            <a:ext cx="400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Werkzeuge akzeptieren weiterhin nur relative Pfade der bereitgestellten Zielanwendung.</a:t>
            </a:r>
          </a:p>
        </p:txBody>
      </p:sp>
      <p:sp>
        <p:nvSpPr>
          <p:cNvPr id="38" name="Task one footer divider">
            <a:extLst>
              <a:ext uri="{FF2B5EF4-FFF2-40B4-BE49-F238E27FC236}">
                <a16:creationId xmlns:a16="http://schemas.microsoft.com/office/drawing/2014/main" id="{F877AE5F-C8B8-4226-BE8A-8095B0EEAECC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ask one footer">
            <a:extLst>
              <a:ext uri="{FF2B5EF4-FFF2-40B4-BE49-F238E27FC236}">
                <a16:creationId xmlns:a16="http://schemas.microsoft.com/office/drawing/2014/main" id="{67025248-D6F0-499E-9D13-BE37E5231AC9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Erfolg: Das Modell kann http_post erzeugen, der Parser akzeptiert es und der Adapter führt es aus.</a:t>
            </a:r>
          </a:p>
        </p:txBody>
      </p:sp>
    </p:spTree>
    <p:extLst>
      <p:ext uri="{BB962C8B-B14F-4D97-AF65-F5344CB8AC3E}">
        <p14:creationId xmlns:p14="http://schemas.microsoft.com/office/powerpoint/2010/main" val="375060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38F81F3B-95E1-1BB4-0748-9429581DAD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376AD339-708C-6D88-413D-C4BF03ADBFD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POST-Erweiterung greift an vier Stellen ineinander</a:t>
            </a:r>
          </a:p>
        </p:txBody>
      </p:sp>
      <p:sp>
        <p:nvSpPr>
          <p:cNvPr id="21" name="Solution prompt panel">
            <a:extLst>
              <a:ext uri="{FF2B5EF4-FFF2-40B4-BE49-F238E27FC236}">
                <a16:creationId xmlns:a16="http://schemas.microsoft.com/office/drawing/2014/main" id="{01C87F64-8A18-4628-BAE8-3545B7B6E10C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4991100" cy="1695450"/>
          </a:xfrm>
          <a:prstGeom prst="roundRect">
            <a:avLst>
              <a:gd name="adj" fmla="val 4494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 · SYSTEM-PROMPT</a:t>
            </a:r>
          </a:p>
        </p:txBody>
      </p:sp>
      <p:sp>
        <p:nvSpPr>
          <p:cNvPr id="22" name="Solution prompt code">
            <a:extLst>
              <a:ext uri="{FF2B5EF4-FFF2-40B4-BE49-F238E27FC236}">
                <a16:creationId xmlns:a16="http://schemas.microsoft.com/office/drawing/2014/main" id="{76E0F210-C01D-4BF6-B29D-A79875E4EA55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46101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{"type": "http_post", "path": "/pfad",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"json_body": {"name": "wert"}}</a:t>
            </a:r>
          </a:p>
        </p:txBody>
      </p:sp>
      <p:sp>
        <p:nvSpPr>
          <p:cNvPr id="23" name="Solution parser panel">
            <a:extLst>
              <a:ext uri="{FF2B5EF4-FFF2-40B4-BE49-F238E27FC236}">
                <a16:creationId xmlns:a16="http://schemas.microsoft.com/office/drawing/2014/main" id="{D19BAD55-95A1-4789-9B36-08D6ED3BCE35}"/>
              </a:ext>
            </a:extLst>
          </p:cNvPr>
          <p:cNvSpPr>
            <a:spLocks noGrp="1"/>
          </p:cNvSpPr>
          <p:nvPr/>
        </p:nvSpPr>
        <p:spPr>
          <a:xfrm>
            <a:off x="6153150" y="1428750"/>
            <a:ext cx="5200650" cy="1695450"/>
          </a:xfrm>
          <a:prstGeom prst="roundRect">
            <a:avLst>
              <a:gd name="adj" fmla="val 4494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 · PARSER</a:t>
            </a:r>
          </a:p>
        </p:txBody>
      </p:sp>
      <p:sp>
        <p:nvSpPr>
          <p:cNvPr id="24" name="Solution parser code">
            <a:extLst>
              <a:ext uri="{FF2B5EF4-FFF2-40B4-BE49-F238E27FC236}">
                <a16:creationId xmlns:a16="http://schemas.microsoft.com/office/drawing/2014/main" id="{EDC6EBF8-B2C0-4843-9008-C752F607288A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48196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if action.get("type") not in {"http_get", "</a:t>
            </a:r>
            <a:r>
              <a:rPr sz="1125" b="1">
                <a:solidFill>
                  <a:srgbClr val="111111"/>
                </a:solidFill>
                <a:latin typeface="Menlo"/>
                <a:ea typeface="Menlo"/>
                <a:cs typeface="Menlo"/>
              </a:rPr>
              <a:t>http_post</a:t>
            </a: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", "finish"}: ..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if action["type"] == "http_post":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if not isinstance(action.get("path"), str): ..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if not isinstance(action.get("json_body"), dict): ..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endParaRPr sz="1125">
              <a:solidFill>
                <a:srgbClr val="111111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5" name="Solution tool panel">
            <a:extLst>
              <a:ext uri="{FF2B5EF4-FFF2-40B4-BE49-F238E27FC236}">
                <a16:creationId xmlns:a16="http://schemas.microsoft.com/office/drawing/2014/main" id="{A421F897-F6D5-4F57-B73B-F09548599228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4991100" cy="1752600"/>
          </a:xfrm>
          <a:prstGeom prst="roundRect">
            <a:avLst>
              <a:gd name="adj" fmla="val 4348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· HTTP-WERKZEUG</a:t>
            </a:r>
          </a:p>
        </p:txBody>
      </p:sp>
      <p:sp>
        <p:nvSpPr>
          <p:cNvPr id="26" name="Solution tool code">
            <a:extLst>
              <a:ext uri="{FF2B5EF4-FFF2-40B4-BE49-F238E27FC236}">
                <a16:creationId xmlns:a16="http://schemas.microsoft.com/office/drawing/2014/main" id="{CF1E4321-15B1-48B7-A7F6-F4E9AED290D4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46101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response = requests.post(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target_url(path), json=json_body, timeout=10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response_observation(response)</a:t>
            </a:r>
          </a:p>
        </p:txBody>
      </p:sp>
      <p:sp>
        <p:nvSpPr>
          <p:cNvPr id="27" name="Solution adapter panel">
            <a:extLst>
              <a:ext uri="{FF2B5EF4-FFF2-40B4-BE49-F238E27FC236}">
                <a16:creationId xmlns:a16="http://schemas.microsoft.com/office/drawing/2014/main" id="{0C255A44-C1E5-4B38-8218-ADDA7958C51F}"/>
              </a:ext>
            </a:extLst>
          </p:cNvPr>
          <p:cNvSpPr>
            <a:spLocks noGrp="1"/>
          </p:cNvSpPr>
          <p:nvPr/>
        </p:nvSpPr>
        <p:spPr>
          <a:xfrm>
            <a:off x="6153150" y="3371850"/>
            <a:ext cx="5200650" cy="1752600"/>
          </a:xfrm>
          <a:prstGeom prst="roundRect">
            <a:avLst>
              <a:gd name="adj" fmla="val 4348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 · ADAPTER</a:t>
            </a:r>
          </a:p>
        </p:txBody>
      </p:sp>
      <p:sp>
        <p:nvSpPr>
          <p:cNvPr id="28" name="Solution adapter code">
            <a:extLst>
              <a:ext uri="{FF2B5EF4-FFF2-40B4-BE49-F238E27FC236}">
                <a16:creationId xmlns:a16="http://schemas.microsoft.com/office/drawing/2014/main" id="{E6DB5196-7F15-4C91-A2CE-241ED4D54B50}"/>
              </a:ext>
            </a:extLst>
          </p:cNvPr>
          <p:cNvSpPr>
            <a:spLocks noGrp="1"/>
          </p:cNvSpPr>
          <p:nvPr/>
        </p:nvSpPr>
        <p:spPr>
          <a:xfrm>
            <a:off x="6343650" y="3848100"/>
            <a:ext cx="4819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if action["type"] == "http_post":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return http_post(action["path"],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               action["json_body"])</a:t>
            </a:r>
          </a:p>
        </p:txBody>
      </p:sp>
      <p:sp>
        <p:nvSpPr>
          <p:cNvPr id="29" name="Solution footer divider">
            <a:extLst>
              <a:ext uri="{FF2B5EF4-FFF2-40B4-BE49-F238E27FC236}">
                <a16:creationId xmlns:a16="http://schemas.microsoft.com/office/drawing/2014/main" id="{045DDFC5-A1D0-4788-A739-5F4CBB2612E8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olution footer">
            <a:extLst>
              <a:ext uri="{FF2B5EF4-FFF2-40B4-BE49-F238E27FC236}">
                <a16:creationId xmlns:a16="http://schemas.microsoft.com/office/drawing/2014/main" id="{F0555D4A-94EE-4E84-9F35-30EEB8FBB88C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Nur die konsistente Erweiterung aller vier Stellen macht POST tatsächlich ausführbar.</a:t>
            </a:r>
          </a:p>
        </p:txBody>
      </p:sp>
    </p:spTree>
    <p:extLst>
      <p:ext uri="{BB962C8B-B14F-4D97-AF65-F5344CB8AC3E}">
        <p14:creationId xmlns:p14="http://schemas.microsoft.com/office/powerpoint/2010/main" val="357810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2D4E0B5D-A1E5-2B7F-BB79-B5B2C1CF29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C630A04-5A25-9E0C-9436-126091DB86B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94754B19-5D5F-9D88-7759-7E4A42B790A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2: Login Admin ausführen und nachbessern</a:t>
            </a:r>
          </a:p>
        </p:txBody>
      </p:sp>
      <p:sp>
        <p:nvSpPr>
          <p:cNvPr id="21" name="Login goal panel">
            <a:extLst>
              <a:ext uri="{FF2B5EF4-FFF2-40B4-BE49-F238E27FC236}">
                <a16:creationId xmlns:a16="http://schemas.microsoft.com/office/drawing/2014/main" id="{70694582-A7A8-4614-A0DF-DB0602D7B1EF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115050" cy="1657350"/>
          </a:xfrm>
          <a:prstGeom prst="roundRect">
            <a:avLst>
              <a:gd name="adj" fmla="val 4598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ZIEL</a:t>
            </a:r>
          </a:p>
        </p:txBody>
      </p:sp>
      <p:sp>
        <p:nvSpPr>
          <p:cNvPr id="22" name="Login goal body">
            <a:extLst>
              <a:ext uri="{FF2B5EF4-FFF2-40B4-BE49-F238E27FC236}">
                <a16:creationId xmlns:a16="http://schemas.microsoft.com/office/drawing/2014/main" id="{3E36E4A5-49F4-4BF6-8C40-D921FC597EF5}"/>
              </a:ext>
            </a:extLst>
          </p:cNvPr>
          <p:cNvSpPr>
            <a:spLocks noGrp="1"/>
          </p:cNvSpPr>
          <p:nvPr/>
        </p:nvSpPr>
        <p:spPr>
          <a:xfrm>
            <a:off x="1104900" y="2019300"/>
            <a:ext cx="5581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Meldet euch ohne das tatsächliche Administratorpasswort an. Beendet erst, wenn die Antwort Administratorkonto und erfolgreichen Login belegt.</a:t>
            </a:r>
          </a:p>
        </p:txBody>
      </p:sp>
      <p:sp>
        <p:nvSpPr>
          <p:cNvPr id="23" name="Login command panel">
            <a:extLst>
              <a:ext uri="{FF2B5EF4-FFF2-40B4-BE49-F238E27FC236}">
                <a16:creationId xmlns:a16="http://schemas.microsoft.com/office/drawing/2014/main" id="{85ECEEAB-6DBD-4209-840E-F28DDF67D97C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6115050" cy="1219200"/>
          </a:xfrm>
          <a:prstGeom prst="roundRect">
            <a:avLst>
              <a:gd name="adj" fmla="val 6250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START</a:t>
            </a:r>
          </a:p>
        </p:txBody>
      </p:sp>
      <p:sp>
        <p:nvSpPr>
          <p:cNvPr id="24" name="Login command code">
            <a:extLst>
              <a:ext uri="{FF2B5EF4-FFF2-40B4-BE49-F238E27FC236}">
                <a16:creationId xmlns:a16="http://schemas.microsoft.com/office/drawing/2014/main" id="{D96351B1-6DB8-449E-942D-04537C82BD43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5734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slot3_agent.py "Login Admin: ohne bekanntes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Passwort anmelden und Erfolg belegen"</a:t>
            </a:r>
          </a:p>
        </p:txBody>
      </p:sp>
      <p:sp>
        <p:nvSpPr>
          <p:cNvPr id="25" name="Trace checklist panel">
            <a:extLst>
              <a:ext uri="{FF2B5EF4-FFF2-40B4-BE49-F238E27FC236}">
                <a16:creationId xmlns:a16="http://schemas.microsoft.com/office/drawing/2014/main" id="{B131B44D-7C9B-41CE-AA0A-7B88BF1CB22A}"/>
              </a:ext>
            </a:extLst>
          </p:cNvPr>
          <p:cNvSpPr>
            <a:spLocks noGrp="1"/>
          </p:cNvSpPr>
          <p:nvPr/>
        </p:nvSpPr>
        <p:spPr>
          <a:xfrm>
            <a:off x="7258050" y="1466850"/>
            <a:ext cx="4095750" cy="2190750"/>
          </a:xfrm>
          <a:prstGeom prst="roundRect">
            <a:avLst>
              <a:gd name="adj" fmla="val 3478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PRO SCHRITT PRÜFEN</a:t>
            </a:r>
          </a:p>
        </p:txBody>
      </p:sp>
      <p:sp>
        <p:nvSpPr>
          <p:cNvPr id="26" name="Trace item 1 bullet">
            <a:extLst>
              <a:ext uri="{FF2B5EF4-FFF2-40B4-BE49-F238E27FC236}">
                <a16:creationId xmlns:a16="http://schemas.microsoft.com/office/drawing/2014/main" id="{E628FBEF-C421-4CF3-9E5E-B8B89B4F14A7}"/>
              </a:ext>
            </a:extLst>
          </p:cNvPr>
          <p:cNvSpPr>
            <a:spLocks noGrp="1"/>
          </p:cNvSpPr>
          <p:nvPr/>
        </p:nvSpPr>
        <p:spPr>
          <a:xfrm>
            <a:off x="7524750" y="216217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race item 1 text">
            <a:extLst>
              <a:ext uri="{FF2B5EF4-FFF2-40B4-BE49-F238E27FC236}">
                <a16:creationId xmlns:a16="http://schemas.microsoft.com/office/drawing/2014/main" id="{F7B3BC87-E4FF-4D27-9129-5EBF184F3519}"/>
              </a:ext>
            </a:extLst>
          </p:cNvPr>
          <p:cNvSpPr>
            <a:spLocks noGrp="1"/>
          </p:cNvSpPr>
          <p:nvPr/>
        </p:nvSpPr>
        <p:spPr>
          <a:xfrm>
            <a:off x="7734300" y="20764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Methode, Pfad und JSON-Daten</a:t>
            </a:r>
          </a:p>
        </p:txBody>
      </p:sp>
      <p:sp>
        <p:nvSpPr>
          <p:cNvPr id="28" name="Trace item 2 bullet">
            <a:extLst>
              <a:ext uri="{FF2B5EF4-FFF2-40B4-BE49-F238E27FC236}">
                <a16:creationId xmlns:a16="http://schemas.microsoft.com/office/drawing/2014/main" id="{A650BA62-4F18-4AA0-A02F-D92AA94BCB2C}"/>
              </a:ext>
            </a:extLst>
          </p:cNvPr>
          <p:cNvSpPr>
            <a:spLocks noGrp="1"/>
          </p:cNvSpPr>
          <p:nvPr/>
        </p:nvSpPr>
        <p:spPr>
          <a:xfrm>
            <a:off x="7524750" y="258127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race item 2 text">
            <a:extLst>
              <a:ext uri="{FF2B5EF4-FFF2-40B4-BE49-F238E27FC236}">
                <a16:creationId xmlns:a16="http://schemas.microsoft.com/office/drawing/2014/main" id="{17CC1D90-69AF-4CF8-8357-EEE9DBBBB29F}"/>
              </a:ext>
            </a:extLst>
          </p:cNvPr>
          <p:cNvSpPr>
            <a:spLocks noGrp="1"/>
          </p:cNvSpPr>
          <p:nvPr/>
        </p:nvSpPr>
        <p:spPr>
          <a:xfrm>
            <a:off x="7734300" y="24955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Statuscode und relevante Antwort</a:t>
            </a:r>
          </a:p>
        </p:txBody>
      </p:sp>
      <p:sp>
        <p:nvSpPr>
          <p:cNvPr id="30" name="Trace item 3 bullet">
            <a:extLst>
              <a:ext uri="{FF2B5EF4-FFF2-40B4-BE49-F238E27FC236}">
                <a16:creationId xmlns:a16="http://schemas.microsoft.com/office/drawing/2014/main" id="{C61DB065-5EFA-40B7-B561-EBAC8DFEA84B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race item 3 text">
            <a:extLst>
              <a:ext uri="{FF2B5EF4-FFF2-40B4-BE49-F238E27FC236}">
                <a16:creationId xmlns:a16="http://schemas.microsoft.com/office/drawing/2014/main" id="{DB191440-F4AD-4200-BB49-4E65AD229262}"/>
              </a:ext>
            </a:extLst>
          </p:cNvPr>
          <p:cNvSpPr>
            <a:spLocks noGrp="1"/>
          </p:cNvSpPr>
          <p:nvPr/>
        </p:nvSpPr>
        <p:spPr>
          <a:xfrm>
            <a:off x="7734300" y="2914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Ursache der letzten Fehlaktion</a:t>
            </a:r>
          </a:p>
        </p:txBody>
      </p:sp>
      <p:sp>
        <p:nvSpPr>
          <p:cNvPr id="32" name="Success evidence panel">
            <a:extLst>
              <a:ext uri="{FF2B5EF4-FFF2-40B4-BE49-F238E27FC236}">
                <a16:creationId xmlns:a16="http://schemas.microsoft.com/office/drawing/2014/main" id="{F902BF98-A9DD-411B-B530-CEF608028B4F}"/>
              </a:ext>
            </a:extLst>
          </p:cNvPr>
          <p:cNvSpPr>
            <a:spLocks noGrp="1"/>
          </p:cNvSpPr>
          <p:nvPr/>
        </p:nvSpPr>
        <p:spPr>
          <a:xfrm>
            <a:off x="7258050" y="3905250"/>
            <a:ext cx="4095750" cy="1219200"/>
          </a:xfrm>
          <a:prstGeom prst="roundRect">
            <a:avLst>
              <a:gd name="adj" fmla="val 6250"/>
            </a:avLst>
          </a:prstGeom>
          <a:solidFill>
            <a:srgbClr val="EEF5F1"/>
          </a:solidFill>
          <a:ln w="9525">
            <a:solidFill>
              <a:srgbClr val="16845B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16845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845B"/>
                </a:solidFill>
                <a:latin typeface="Avenir Next"/>
                <a:ea typeface="Avenir Next"/>
                <a:cs typeface="Avenir Next"/>
              </a:rPr>
              <a:t>ERFOLGSBELEG</a:t>
            </a:r>
          </a:p>
        </p:txBody>
      </p:sp>
      <p:sp>
        <p:nvSpPr>
          <p:cNvPr id="33" name="Success evidence body">
            <a:extLst>
              <a:ext uri="{FF2B5EF4-FFF2-40B4-BE49-F238E27FC236}">
                <a16:creationId xmlns:a16="http://schemas.microsoft.com/office/drawing/2014/main" id="{4DD7D2E8-73BD-4D89-BA78-B0D7FCFAF800}"/>
              </a:ext>
            </a:extLst>
          </p:cNvPr>
          <p:cNvSpPr>
            <a:spLocks noGrp="1"/>
          </p:cNvSpPr>
          <p:nvPr/>
        </p:nvSpPr>
        <p:spPr>
          <a:xfrm>
            <a:off x="7505700" y="4438650"/>
            <a:ext cx="3600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HTTP 200 + Token + admin@juice-sh.op</a:t>
            </a:r>
          </a:p>
        </p:txBody>
      </p:sp>
      <p:sp>
        <p:nvSpPr>
          <p:cNvPr id="34" name="Task two footer divider">
            <a:extLst>
              <a:ext uri="{FF2B5EF4-FFF2-40B4-BE49-F238E27FC236}">
                <a16:creationId xmlns:a16="http://schemas.microsoft.com/office/drawing/2014/main" id="{14C5C4E0-9ECF-4A0B-AD1C-8C59A417E6BB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ask two footer">
            <a:extLst>
              <a:ext uri="{FF2B5EF4-FFF2-40B4-BE49-F238E27FC236}">
                <a16:creationId xmlns:a16="http://schemas.microsoft.com/office/drawing/2014/main" id="{7F5772F8-9B1F-45C6-B6DE-63D21B3AA839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Verwendet eine frische Juice-Shop-Instanz. Die Selbstaussage des Agenten reicht nicht als Erfolg.</a:t>
            </a:r>
          </a:p>
        </p:txBody>
      </p:sp>
    </p:spTree>
    <p:extLst>
      <p:ext uri="{BB962C8B-B14F-4D97-AF65-F5344CB8AC3E}">
        <p14:creationId xmlns:p14="http://schemas.microsoft.com/office/powerpoint/2010/main" val="316550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E945E18C-F28A-03BB-F316-07725DE559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3D7D1C8-AE23-AA48-DF65-C742588DBE4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F7ED27AA-7183-315A-E2A8-49EC27BCDDD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Eine erfolgreiche Spur belegt Aktion und Ergebnis</a:t>
            </a:r>
          </a:p>
        </p:txBody>
      </p:sp>
      <p:sp>
        <p:nvSpPr>
          <p:cNvPr id="21" name="Action to observation arrow">
            <a:extLst>
              <a:ext uri="{FF2B5EF4-FFF2-40B4-BE49-F238E27FC236}">
                <a16:creationId xmlns:a16="http://schemas.microsoft.com/office/drawing/2014/main" id="{2CFD9654-0C46-4B03-A3E2-91D293C11A87}"/>
              </a:ext>
            </a:extLst>
          </p:cNvPr>
          <p:cNvSpPr>
            <a:spLocks noGrp="1"/>
          </p:cNvSpPr>
          <p:nvPr/>
        </p:nvSpPr>
        <p:spPr>
          <a:xfrm>
            <a:off x="4038600" y="2933700"/>
            <a:ext cx="361950" cy="2667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bservation to finish arrow">
            <a:extLst>
              <a:ext uri="{FF2B5EF4-FFF2-40B4-BE49-F238E27FC236}">
                <a16:creationId xmlns:a16="http://schemas.microsoft.com/office/drawing/2014/main" id="{3E1BCA94-445D-460F-8E53-0A226CFADE8B}"/>
              </a:ext>
            </a:extLst>
          </p:cNvPr>
          <p:cNvSpPr>
            <a:spLocks noGrp="1"/>
          </p:cNvSpPr>
          <p:nvPr/>
        </p:nvSpPr>
        <p:spPr>
          <a:xfrm>
            <a:off x="7734300" y="2933700"/>
            <a:ext cx="361950" cy="266700"/>
          </a:xfrm>
          <a:prstGeom prst="rightArrow">
            <a:avLst/>
          </a:prstGeom>
          <a:solidFill>
            <a:srgbClr val="77819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race action panel">
            <a:extLst>
              <a:ext uri="{FF2B5EF4-FFF2-40B4-BE49-F238E27FC236}">
                <a16:creationId xmlns:a16="http://schemas.microsoft.com/office/drawing/2014/main" id="{A71D03F7-A492-4590-9BDA-D829F053F278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3124200" cy="3600450"/>
          </a:xfrm>
          <a:prstGeom prst="roundRect">
            <a:avLst>
              <a:gd name="adj" fmla="val 2439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· MODELLAKTION</a:t>
            </a:r>
          </a:p>
        </p:txBody>
      </p:sp>
      <p:sp>
        <p:nvSpPr>
          <p:cNvPr id="24" name="Trace action code">
            <a:extLst>
              <a:ext uri="{FF2B5EF4-FFF2-40B4-BE49-F238E27FC236}">
                <a16:creationId xmlns:a16="http://schemas.microsoft.com/office/drawing/2014/main" id="{3F1D8AFA-E8AF-4684-A356-143998A7C97C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7432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"type": "http_post",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"path": "/rest/user/login",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"json_body": {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"' OR 1=1--",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"password": "test"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}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5" name="Trace observation panel">
            <a:extLst>
              <a:ext uri="{FF2B5EF4-FFF2-40B4-BE49-F238E27FC236}">
                <a16:creationId xmlns:a16="http://schemas.microsoft.com/office/drawing/2014/main" id="{11FDC632-F26D-405E-8621-E2C0AFC17669}"/>
              </a:ext>
            </a:extLst>
          </p:cNvPr>
          <p:cNvSpPr>
            <a:spLocks noGrp="1"/>
          </p:cNvSpPr>
          <p:nvPr/>
        </p:nvSpPr>
        <p:spPr>
          <a:xfrm>
            <a:off x="4476750" y="1466850"/>
            <a:ext cx="3181350" cy="3600450"/>
          </a:xfrm>
          <a:prstGeom prst="roundRect">
            <a:avLst>
              <a:gd name="adj" fmla="val 2395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 · OBSERVATION</a:t>
            </a:r>
          </a:p>
        </p:txBody>
      </p:sp>
      <p:sp>
        <p:nvSpPr>
          <p:cNvPr id="26" name="Trace observation code">
            <a:extLst>
              <a:ext uri="{FF2B5EF4-FFF2-40B4-BE49-F238E27FC236}">
                <a16:creationId xmlns:a16="http://schemas.microsoft.com/office/drawing/2014/main" id="{580E67D4-8909-4726-BBEA-C8CBB7EAC1F4}"/>
              </a:ext>
            </a:extLst>
          </p:cNvPr>
          <p:cNvSpPr>
            <a:spLocks noGrp="1"/>
          </p:cNvSpPr>
          <p:nvPr/>
        </p:nvSpPr>
        <p:spPr>
          <a:xfrm>
            <a:off x="4667250" y="1943100"/>
            <a:ext cx="280035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"request": {"method": "POST"},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"response": {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"status_code": 200,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"body": "... admin@juice-sh.op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        ... token ..."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}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7" name="Trace finish panel">
            <a:extLst>
              <a:ext uri="{FF2B5EF4-FFF2-40B4-BE49-F238E27FC236}">
                <a16:creationId xmlns:a16="http://schemas.microsoft.com/office/drawing/2014/main" id="{EB49FA33-EC7D-4342-B794-6542DE297450}"/>
              </a:ext>
            </a:extLst>
          </p:cNvPr>
          <p:cNvSpPr>
            <a:spLocks noGrp="1"/>
          </p:cNvSpPr>
          <p:nvPr/>
        </p:nvSpPr>
        <p:spPr>
          <a:xfrm>
            <a:off x="8172450" y="1466850"/>
            <a:ext cx="3181350" cy="3600450"/>
          </a:xfrm>
          <a:prstGeom prst="roundRect">
            <a:avLst>
              <a:gd name="adj" fmla="val 2395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 · ENDE</a:t>
            </a:r>
          </a:p>
        </p:txBody>
      </p:sp>
      <p:sp>
        <p:nvSpPr>
          <p:cNvPr id="28" name="Trace finish code">
            <a:extLst>
              <a:ext uri="{FF2B5EF4-FFF2-40B4-BE49-F238E27FC236}">
                <a16:creationId xmlns:a16="http://schemas.microsoft.com/office/drawing/2014/main" id="{142ED28B-B558-4BAB-9631-269150D06DD3}"/>
              </a:ext>
            </a:extLst>
          </p:cNvPr>
          <p:cNvSpPr>
            <a:spLocks noGrp="1"/>
          </p:cNvSpPr>
          <p:nvPr/>
        </p:nvSpPr>
        <p:spPr>
          <a:xfrm>
            <a:off x="8362950" y="1943100"/>
            <a:ext cx="280035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"type": "finish",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"reason": "HTTP 200, Token und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Administratorkonto belegen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den Erfolg.",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"answer": "Login als Admin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erfolgreich."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29" name="Trace footer divider">
            <a:extLst>
              <a:ext uri="{FF2B5EF4-FFF2-40B4-BE49-F238E27FC236}">
                <a16:creationId xmlns:a16="http://schemas.microsoft.com/office/drawing/2014/main" id="{AE6FC31E-5C82-4C98-B104-FBD1D3091F40}"/>
              </a:ext>
            </a:extLst>
          </p:cNvPr>
          <p:cNvSpPr>
            <a:spLocks noGrp="1"/>
          </p:cNvSpPr>
          <p:nvPr/>
        </p:nvSpPr>
        <p:spPr>
          <a:xfrm>
            <a:off x="838200" y="541020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race footer">
            <a:extLst>
              <a:ext uri="{FF2B5EF4-FFF2-40B4-BE49-F238E27FC236}">
                <a16:creationId xmlns:a16="http://schemas.microsoft.com/office/drawing/2014/main" id="{44ED1ACC-CBE1-4237-861E-30F61F3E3B29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Gekürzte Referenzspur. Token und Antwortfelder variieren je nach Instanz und Lauf.</a:t>
            </a:r>
          </a:p>
        </p:txBody>
      </p:sp>
    </p:spTree>
    <p:extLst>
      <p:ext uri="{BB962C8B-B14F-4D97-AF65-F5344CB8AC3E}">
        <p14:creationId xmlns:p14="http://schemas.microsoft.com/office/powerpoint/2010/main" val="2534303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53788792-9BC8-CCF6-D2BB-055BD3ECD73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C363334C-738C-4531-438B-5197B08A60E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Optional: gezielte Verbesserung</a:t>
            </a:r>
          </a:p>
        </p:txBody>
      </p:sp>
      <p:sp>
        <p:nvSpPr>
          <p:cNvPr id="24" name="Improvement path panel">
            <a:extLst>
              <a:ext uri="{FF2B5EF4-FFF2-40B4-BE49-F238E27FC236}">
                <a16:creationId xmlns:a16="http://schemas.microsoft.com/office/drawing/2014/main" id="{F0AA09DD-6FB3-4D38-BD04-F311438A3F42}"/>
              </a:ext>
            </a:extLst>
          </p:cNvPr>
          <p:cNvSpPr>
            <a:spLocks noGrp="1"/>
          </p:cNvSpPr>
          <p:nvPr/>
        </p:nvSpPr>
        <p:spPr>
          <a:xfrm>
            <a:off x="2941320" y="1777365"/>
            <a:ext cx="6499860" cy="3303270"/>
          </a:xfrm>
          <a:prstGeom prst="roundRect">
            <a:avLst>
              <a:gd name="adj" fmla="val 3306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VERBESSERUNG</a:t>
            </a:r>
          </a:p>
        </p:txBody>
      </p:sp>
      <p:sp>
        <p:nvSpPr>
          <p:cNvPr id="25" name="Improvement path title">
            <a:extLst>
              <a:ext uri="{FF2B5EF4-FFF2-40B4-BE49-F238E27FC236}">
                <a16:creationId xmlns:a16="http://schemas.microsoft.com/office/drawing/2014/main" id="{5FA7E136-0060-42B5-81D3-972BDFB81B38}"/>
              </a:ext>
            </a:extLst>
          </p:cNvPr>
          <p:cNvSpPr>
            <a:spLocks noGrp="1"/>
          </p:cNvSpPr>
          <p:nvPr/>
        </p:nvSpPr>
        <p:spPr>
          <a:xfrm>
            <a:off x="3208020" y="2310765"/>
            <a:ext cx="472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Eine Ursache, eine Änderung</a:t>
            </a:r>
          </a:p>
        </p:txBody>
      </p:sp>
      <p:sp>
        <p:nvSpPr>
          <p:cNvPr id="26" name="Improve prompt bullet">
            <a:extLst>
              <a:ext uri="{FF2B5EF4-FFF2-40B4-BE49-F238E27FC236}">
                <a16:creationId xmlns:a16="http://schemas.microsoft.com/office/drawing/2014/main" id="{694E8031-76B5-46D2-80E0-3930CD1410F7}"/>
              </a:ext>
            </a:extLst>
          </p:cNvPr>
          <p:cNvSpPr>
            <a:spLocks noGrp="1"/>
          </p:cNvSpPr>
          <p:nvPr/>
        </p:nvSpPr>
        <p:spPr>
          <a:xfrm>
            <a:off x="3227070" y="289560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Improve prompt text">
            <a:extLst>
              <a:ext uri="{FF2B5EF4-FFF2-40B4-BE49-F238E27FC236}">
                <a16:creationId xmlns:a16="http://schemas.microsoft.com/office/drawing/2014/main" id="{3571F4C0-EA40-46C0-87D7-3E2BD8C1E118}"/>
              </a:ext>
            </a:extLst>
          </p:cNvPr>
          <p:cNvSpPr>
            <a:spLocks noGrp="1"/>
          </p:cNvSpPr>
          <p:nvPr/>
        </p:nvSpPr>
        <p:spPr>
          <a:xfrm>
            <a:off x="3436620" y="3258503"/>
            <a:ext cx="5082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lang="de-DE"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Prompt: Erfolg erst nach sichtbarem Beleg. Erfolglose Aktionen nicht unverändert wiederholen.</a:t>
            </a:r>
          </a:p>
        </p:txBody>
      </p:sp>
      <p:sp>
        <p:nvSpPr>
          <p:cNvPr id="28" name="Improve state bullet">
            <a:extLst>
              <a:ext uri="{FF2B5EF4-FFF2-40B4-BE49-F238E27FC236}">
                <a16:creationId xmlns:a16="http://schemas.microsoft.com/office/drawing/2014/main" id="{3171F7C0-7505-4EA0-80E1-06DE20AD3318}"/>
              </a:ext>
            </a:extLst>
          </p:cNvPr>
          <p:cNvSpPr>
            <a:spLocks noGrp="1"/>
          </p:cNvSpPr>
          <p:nvPr/>
        </p:nvSpPr>
        <p:spPr>
          <a:xfrm>
            <a:off x="3227070" y="336232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Improve state text">
            <a:extLst>
              <a:ext uri="{FF2B5EF4-FFF2-40B4-BE49-F238E27FC236}">
                <a16:creationId xmlns:a16="http://schemas.microsoft.com/office/drawing/2014/main" id="{5E36FECA-E15D-48D6-8774-9C1DE73E1681}"/>
              </a:ext>
            </a:extLst>
          </p:cNvPr>
          <p:cNvSpPr>
            <a:spLocks noGrp="1"/>
          </p:cNvSpPr>
          <p:nvPr/>
        </p:nvSpPr>
        <p:spPr>
          <a:xfrm>
            <a:off x="3436620" y="3742224"/>
            <a:ext cx="50063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: Methode,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Pfad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Statuscode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und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gekürzte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Antwort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strukturiert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speichern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30" name="Improve loop bullet">
            <a:extLst>
              <a:ext uri="{FF2B5EF4-FFF2-40B4-BE49-F238E27FC236}">
                <a16:creationId xmlns:a16="http://schemas.microsoft.com/office/drawing/2014/main" id="{FF7FB4F3-A10B-4528-86D8-3E57D80CDA76}"/>
              </a:ext>
            </a:extLst>
          </p:cNvPr>
          <p:cNvSpPr>
            <a:spLocks noGrp="1"/>
          </p:cNvSpPr>
          <p:nvPr/>
        </p:nvSpPr>
        <p:spPr>
          <a:xfrm>
            <a:off x="3227070" y="382905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Improve loop text">
            <a:extLst>
              <a:ext uri="{FF2B5EF4-FFF2-40B4-BE49-F238E27FC236}">
                <a16:creationId xmlns:a16="http://schemas.microsoft.com/office/drawing/2014/main" id="{98276660-A509-4C18-98C0-C7A1638C99F4}"/>
              </a:ext>
            </a:extLst>
          </p:cNvPr>
          <p:cNvSpPr>
            <a:spLocks noGrp="1"/>
          </p:cNvSpPr>
          <p:nvPr/>
        </p:nvSpPr>
        <p:spPr>
          <a:xfrm>
            <a:off x="3436620" y="4208949"/>
            <a:ext cx="5082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Schleife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: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Aktions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- und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Werkzeugfehler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sowie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direkte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Wiederholungen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als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Observation </a:t>
            </a:r>
            <a:r>
              <a:rPr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zurückgeben</a:t>
            </a:r>
            <a:r>
              <a:rPr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32" name="Improve target bullet">
            <a:extLst>
              <a:ext uri="{FF2B5EF4-FFF2-40B4-BE49-F238E27FC236}">
                <a16:creationId xmlns:a16="http://schemas.microsoft.com/office/drawing/2014/main" id="{D93A662F-2656-4535-B8D6-E27777CD5CDC}"/>
              </a:ext>
            </a:extLst>
          </p:cNvPr>
          <p:cNvSpPr>
            <a:spLocks noGrp="1"/>
          </p:cNvSpPr>
          <p:nvPr/>
        </p:nvSpPr>
        <p:spPr>
          <a:xfrm>
            <a:off x="3227070" y="429577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Improve target text">
            <a:extLst>
              <a:ext uri="{FF2B5EF4-FFF2-40B4-BE49-F238E27FC236}">
                <a16:creationId xmlns:a16="http://schemas.microsoft.com/office/drawing/2014/main" id="{0D11683C-720C-4663-9529-26C97C42A3CA}"/>
              </a:ext>
            </a:extLst>
          </p:cNvPr>
          <p:cNvSpPr>
            <a:spLocks noGrp="1"/>
          </p:cNvSpPr>
          <p:nvPr/>
        </p:nvSpPr>
        <p:spPr>
          <a:xfrm>
            <a:off x="3436620" y="4210050"/>
            <a:ext cx="508254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endParaRPr sz="1350" dirty="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69634A7-92F1-566E-5CCE-941CFBF15672}"/>
              </a:ext>
            </a:extLst>
          </p:cNvPr>
          <p:cNvSpPr txBox="1"/>
          <p:nvPr/>
        </p:nvSpPr>
        <p:spPr>
          <a:xfrm>
            <a:off x="3436620" y="2793534"/>
            <a:ext cx="609790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lang="de-DE"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Zielkonfiguration: Basisadresse </a:t>
            </a:r>
            <a:r>
              <a:rPr lang="de-DE"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über</a:t>
            </a:r>
            <a:r>
              <a:rPr lang="de-DE"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--target getrennt vom Auftrag </a:t>
            </a:r>
            <a:r>
              <a:rPr lang="de-DE" sz="1350" dirty="0" err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übergeben</a:t>
            </a:r>
            <a:r>
              <a:rPr lang="de-DE" sz="1350" dirty="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 und vor dem Lauf begrenzen.</a:t>
            </a:r>
          </a:p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endParaRPr lang="de-DE" sz="1350" dirty="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278710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53788792-9BC8-CCF6-D2BB-055BD3ECD73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88657AE-30A1-5A7A-6A7F-315D84436430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C363334C-738C-4531-438B-5197B08A60E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Was die vier Verbesserungen bewirken</a:t>
            </a:r>
          </a:p>
        </p:txBody>
      </p:sp>
      <p:sp>
        <p:nvSpPr>
          <p:cNvPr id="24" name="Improvement path panel">
            <a:extLst>
              <a:ext uri="{FF2B5EF4-FFF2-40B4-BE49-F238E27FC236}">
                <a16:creationId xmlns:a16="http://schemas.microsoft.com/office/drawing/2014/main" id="{F0AA09DD-6FB3-4D38-BD04-F311438A3F42}"/>
              </a:ext>
            </a:extLst>
          </p:cNvPr>
          <p:cNvSpPr>
            <a:spLocks noGrp="1"/>
          </p:cNvSpPr>
          <p:nvPr/>
        </p:nvSpPr>
        <p:spPr>
          <a:xfrm>
            <a:off x="2941320" y="1777365"/>
            <a:ext cx="6499860" cy="3303270"/>
          </a:xfrm>
          <a:prstGeom prst="roundRect">
            <a:avLst>
              <a:gd name="adj" fmla="val 3306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AUSWERTUNG</a:t>
            </a:r>
          </a:p>
        </p:txBody>
      </p:sp>
      <p:sp>
        <p:nvSpPr>
          <p:cNvPr id="25" name="Improvement path title">
            <a:extLst>
              <a:ext uri="{FF2B5EF4-FFF2-40B4-BE49-F238E27FC236}">
                <a16:creationId xmlns:a16="http://schemas.microsoft.com/office/drawing/2014/main" id="{5FA7E136-0060-42B5-81D3-972BDFB81B38}"/>
              </a:ext>
            </a:extLst>
          </p:cNvPr>
          <p:cNvSpPr>
            <a:spLocks noGrp="1"/>
          </p:cNvSpPr>
          <p:nvPr/>
        </p:nvSpPr>
        <p:spPr>
          <a:xfrm>
            <a:off x="3208020" y="2310765"/>
            <a:ext cx="472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Vier Änderungen mit klarer Wirkung</a:t>
            </a:r>
          </a:p>
        </p:txBody>
      </p:sp>
      <p:sp>
        <p:nvSpPr>
          <p:cNvPr id="26" name="Improve prompt bullet">
            <a:extLst>
              <a:ext uri="{FF2B5EF4-FFF2-40B4-BE49-F238E27FC236}">
                <a16:creationId xmlns:a16="http://schemas.microsoft.com/office/drawing/2014/main" id="{694E8031-76B5-46D2-80E0-3930CD1410F7}"/>
              </a:ext>
            </a:extLst>
          </p:cNvPr>
          <p:cNvSpPr>
            <a:spLocks noGrp="1"/>
          </p:cNvSpPr>
          <p:nvPr/>
        </p:nvSpPr>
        <p:spPr>
          <a:xfrm>
            <a:off x="3227070" y="289560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Improve prompt text">
            <a:extLst>
              <a:ext uri="{FF2B5EF4-FFF2-40B4-BE49-F238E27FC236}">
                <a16:creationId xmlns:a16="http://schemas.microsoft.com/office/drawing/2014/main" id="{3571F4C0-EA40-46C0-87D7-3E2BD8C1E118}"/>
              </a:ext>
            </a:extLst>
          </p:cNvPr>
          <p:cNvSpPr>
            <a:spLocks noGrp="1"/>
          </p:cNvSpPr>
          <p:nvPr/>
        </p:nvSpPr>
        <p:spPr>
          <a:xfrm>
            <a:off x="3436620" y="2809875"/>
            <a:ext cx="5082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Prompt: Erfolg erst nach belegtem Ergebnis.</a:t>
            </a:r>
          </a:p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Verhindert verfrühte Erfolgsmeldungen.</a:t>
            </a:r>
          </a:p>
        </p:txBody>
      </p:sp>
      <p:sp>
        <p:nvSpPr>
          <p:cNvPr id="28" name="Improve state bullet">
            <a:extLst>
              <a:ext uri="{FF2B5EF4-FFF2-40B4-BE49-F238E27FC236}">
                <a16:creationId xmlns:a16="http://schemas.microsoft.com/office/drawing/2014/main" id="{3171F7C0-7505-4EA0-80E1-06DE20AD3318}"/>
              </a:ext>
            </a:extLst>
          </p:cNvPr>
          <p:cNvSpPr>
            <a:spLocks noGrp="1"/>
          </p:cNvSpPr>
          <p:nvPr/>
        </p:nvSpPr>
        <p:spPr>
          <a:xfrm>
            <a:off x="3227070" y="336232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Improve state text">
            <a:extLst>
              <a:ext uri="{FF2B5EF4-FFF2-40B4-BE49-F238E27FC236}">
                <a16:creationId xmlns:a16="http://schemas.microsoft.com/office/drawing/2014/main" id="{5E36FECA-E15D-48D6-8774-9C1DE73E1681}"/>
              </a:ext>
            </a:extLst>
          </p:cNvPr>
          <p:cNvSpPr>
            <a:spLocks noGrp="1"/>
          </p:cNvSpPr>
          <p:nvPr/>
        </p:nvSpPr>
        <p:spPr>
          <a:xfrm>
            <a:off x="3436620" y="3276600"/>
            <a:ext cx="50063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Zustand: Anfrage und Antwort strukturiert.</a:t>
            </a:r>
          </a:p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Macht Entscheidungen später prüfbar.</a:t>
            </a:r>
            <a:endParaRPr sz="13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0" name="Improve loop bullet">
            <a:extLst>
              <a:ext uri="{FF2B5EF4-FFF2-40B4-BE49-F238E27FC236}">
                <a16:creationId xmlns:a16="http://schemas.microsoft.com/office/drawing/2014/main" id="{FF7FB4F3-A10B-4528-86D8-3E57D80CDA76}"/>
              </a:ext>
            </a:extLst>
          </p:cNvPr>
          <p:cNvSpPr>
            <a:spLocks noGrp="1"/>
          </p:cNvSpPr>
          <p:nvPr/>
        </p:nvSpPr>
        <p:spPr>
          <a:xfrm>
            <a:off x="3227070" y="3829050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Improve loop text">
            <a:extLst>
              <a:ext uri="{FF2B5EF4-FFF2-40B4-BE49-F238E27FC236}">
                <a16:creationId xmlns:a16="http://schemas.microsoft.com/office/drawing/2014/main" id="{98276660-A509-4C18-98C0-C7A1638C99F4}"/>
              </a:ext>
            </a:extLst>
          </p:cNvPr>
          <p:cNvSpPr>
            <a:spLocks noGrp="1"/>
          </p:cNvSpPr>
          <p:nvPr/>
        </p:nvSpPr>
        <p:spPr>
          <a:xfrm>
            <a:off x="3436620" y="3743325"/>
            <a:ext cx="5082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Schleife: Fehler und Wiederholungen werden Observations.</a:t>
            </a:r>
          </a:p>
          <a:p>
            <a:pPr>
              <a:buNone/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Ermöglicht Korrekturen im nächsten Schritt.</a:t>
            </a:r>
            <a:endParaRPr sz="1350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2" name="Improve target effect bullet">
            <a:extLst>
              <a:ext uri="{FF2B5EF4-FFF2-40B4-BE49-F238E27FC236}">
                <a16:creationId xmlns:a16="http://schemas.microsoft.com/office/drawing/2014/main" id="{126D886C-2723-41FD-AC62-AE2EC9D79E3A}"/>
              </a:ext>
            </a:extLst>
          </p:cNvPr>
          <p:cNvSpPr>
            <a:spLocks noGrp="1"/>
          </p:cNvSpPr>
          <p:nvPr/>
        </p:nvSpPr>
        <p:spPr>
          <a:xfrm>
            <a:off x="3227070" y="4295775"/>
            <a:ext cx="76200" cy="76200"/>
          </a:xfrm>
          <a:prstGeom prst="ellipse">
            <a:avLst/>
          </a:prstGeom>
          <a:solidFill>
            <a:srgbClr val="48536D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Improve target effect text">
            <a:extLst>
              <a:ext uri="{FF2B5EF4-FFF2-40B4-BE49-F238E27FC236}">
                <a16:creationId xmlns:a16="http://schemas.microsoft.com/office/drawing/2014/main" id="{C809EB34-DDC7-4C7B-A428-0C092753F895}"/>
              </a:ext>
            </a:extLst>
          </p:cNvPr>
          <p:cNvSpPr>
            <a:spLocks noGrp="1"/>
          </p:cNvSpPr>
          <p:nvPr/>
        </p:nvSpPr>
        <p:spPr>
          <a:xfrm>
            <a:off x="3436620" y="4210050"/>
            <a:ext cx="508254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Ziel: Basisadresse vor dem Lauf validieren.</a:t>
            </a:r>
          </a:p>
          <a:p>
            <a:pPr>
              <a:def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Begrenzt den freigegebenen Handlungsraum.</a:t>
            </a:r>
          </a:p>
        </p:txBody>
      </p:sp>
    </p:spTree>
    <p:extLst>
      <p:ext uri="{BB962C8B-B14F-4D97-AF65-F5344CB8AC3E}">
        <p14:creationId xmlns:p14="http://schemas.microsoft.com/office/powerpoint/2010/main" val="2787101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38F81F3B-95E1-1BB4-0748-9429581DAD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376AD339-708C-6D88-413D-C4BF03ADBFD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Referenzagent mit vier Verbesserungen</a:t>
            </a:r>
          </a:p>
        </p:txBody>
      </p:sp>
      <p:sp>
        <p:nvSpPr>
          <p:cNvPr id="21" name="Solution prompt panel">
            <a:extLst>
              <a:ext uri="{FF2B5EF4-FFF2-40B4-BE49-F238E27FC236}">
                <a16:creationId xmlns:a16="http://schemas.microsoft.com/office/drawing/2014/main" id="{01C87F64-8A18-4628-BAE8-3545B7B6E10C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4991100" cy="1695450"/>
          </a:xfrm>
          <a:prstGeom prst="roundRect">
            <a:avLst>
              <a:gd name="adj" fmla="val 4494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 · ZIELKONFIGURATION</a:t>
            </a:r>
          </a:p>
        </p:txBody>
      </p:sp>
      <p:sp>
        <p:nvSpPr>
          <p:cNvPr id="22" name="Solution prompt code">
            <a:extLst>
              <a:ext uri="{FF2B5EF4-FFF2-40B4-BE49-F238E27FC236}">
                <a16:creationId xmlns:a16="http://schemas.microsoft.com/office/drawing/2014/main" id="{76E0F210-C01D-4BF6-B29D-A79875E4EA55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46101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--target http://127.0.0.1:3000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validate_target_base_url(args.target)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Werkzeuge nutzen weiterhin relative Pfade.</a:t>
            </a:r>
          </a:p>
        </p:txBody>
      </p:sp>
      <p:sp>
        <p:nvSpPr>
          <p:cNvPr id="23" name="Solution parser panel">
            <a:extLst>
              <a:ext uri="{FF2B5EF4-FFF2-40B4-BE49-F238E27FC236}">
                <a16:creationId xmlns:a16="http://schemas.microsoft.com/office/drawing/2014/main" id="{D19BAD55-95A1-4789-9B36-08D6ED3BCE35}"/>
              </a:ext>
            </a:extLst>
          </p:cNvPr>
          <p:cNvSpPr>
            <a:spLocks noGrp="1"/>
          </p:cNvSpPr>
          <p:nvPr/>
        </p:nvSpPr>
        <p:spPr>
          <a:xfrm>
            <a:off x="6153150" y="1428750"/>
            <a:ext cx="5200650" cy="1695450"/>
          </a:xfrm>
          <a:prstGeom prst="roundRect">
            <a:avLst>
              <a:gd name="adj" fmla="val 4494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 · PROMPT</a:t>
            </a:r>
          </a:p>
        </p:txBody>
      </p:sp>
      <p:sp>
        <p:nvSpPr>
          <p:cNvPr id="24" name="Solution parser code">
            <a:extLst>
              <a:ext uri="{FF2B5EF4-FFF2-40B4-BE49-F238E27FC236}">
                <a16:creationId xmlns:a16="http://schemas.microsoft.com/office/drawing/2014/main" id="{EDC6EBF8-B2C0-4843-9008-C752F607288A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48196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Prüfe Statuscode und Antwortinhalt.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Wiederhole erfolglose Aktionen nicht unverändert.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Nutze finish erst nach sichtbarem Erfolgsbeleg.</a:t>
            </a:r>
          </a:p>
        </p:txBody>
      </p:sp>
      <p:sp>
        <p:nvSpPr>
          <p:cNvPr id="25" name="Solution tool panel">
            <a:extLst>
              <a:ext uri="{FF2B5EF4-FFF2-40B4-BE49-F238E27FC236}">
                <a16:creationId xmlns:a16="http://schemas.microsoft.com/office/drawing/2014/main" id="{A421F897-F6D5-4F57-B73B-F09548599228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4991100" cy="1752600"/>
          </a:xfrm>
          <a:prstGeom prst="roundRect">
            <a:avLst>
              <a:gd name="adj" fmla="val 4348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· ZUSTAND</a:t>
            </a:r>
          </a:p>
        </p:txBody>
      </p:sp>
      <p:sp>
        <p:nvSpPr>
          <p:cNvPr id="26" name="Solution tool code">
            <a:extLst>
              <a:ext uri="{FF2B5EF4-FFF2-40B4-BE49-F238E27FC236}">
                <a16:creationId xmlns:a16="http://schemas.microsoft.com/office/drawing/2014/main" id="{CF1E4321-15B1-48B7-A7F6-F4E9AED290D4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46101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"tool": "http",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"request": {"method": method, "path": path},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"response": {"status_code": ...,</a:t>
            </a:r>
          </a:p>
          <a:p>
            <a:pPr>
              <a:buNone/>
              <a:defRPr sz="112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"body": ..., "truncated": ...}</a:t>
            </a:r>
          </a:p>
        </p:txBody>
      </p:sp>
      <p:sp>
        <p:nvSpPr>
          <p:cNvPr id="27" name="Solution adapter panel">
            <a:extLst>
              <a:ext uri="{FF2B5EF4-FFF2-40B4-BE49-F238E27FC236}">
                <a16:creationId xmlns:a16="http://schemas.microsoft.com/office/drawing/2014/main" id="{0C255A44-C1E5-4B38-8218-ADDA7958C51F}"/>
              </a:ext>
            </a:extLst>
          </p:cNvPr>
          <p:cNvSpPr>
            <a:spLocks noGrp="1"/>
          </p:cNvSpPr>
          <p:nvPr/>
        </p:nvSpPr>
        <p:spPr>
          <a:xfrm>
            <a:off x="6153150" y="3371850"/>
            <a:ext cx="5200650" cy="1752600"/>
          </a:xfrm>
          <a:prstGeom prst="roundRect">
            <a:avLst>
              <a:gd name="adj" fmla="val 4348"/>
            </a:avLst>
          </a:prstGeom>
          <a:solidFill>
            <a:srgbClr val="F5F6F8"/>
          </a:solidFill>
          <a:ln w="9525">
            <a:solidFill>
              <a:srgbClr val="D4D7DE"/>
            </a:solidFill>
            <a:prstDash val="solid"/>
          </a:ln>
        </p:spPr>
        <p:txBody>
          <a:bodyPr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 · SCHLEIFE</a:t>
            </a:r>
          </a:p>
        </p:txBody>
      </p:sp>
      <p:sp>
        <p:nvSpPr>
          <p:cNvPr id="28" name="Solution adapter code">
            <a:extLst>
              <a:ext uri="{FF2B5EF4-FFF2-40B4-BE49-F238E27FC236}">
                <a16:creationId xmlns:a16="http://schemas.microsoft.com/office/drawing/2014/main" id="{E6DB5196-7F15-4C91-A2CE-241ED4D54B50}"/>
              </a:ext>
            </a:extLst>
          </p:cNvPr>
          <p:cNvSpPr>
            <a:spLocks noGrp="1"/>
          </p:cNvSpPr>
          <p:nvPr/>
        </p:nvSpPr>
        <p:spPr>
          <a:xfrm>
            <a:off x="6343650" y="3848100"/>
            <a:ext cx="4819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except ValueError as error: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observation = error_observation(...)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if current_action_key == previous_action_key:</a:t>
            </a:r>
          </a:p>
          <a:p>
            <a:pPr>
              <a:buNone/>
              <a:defRPr sz="1125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11111"/>
                </a:solidFill>
                <a:latin typeface="Menlo"/>
                <a:ea typeface="Menlo"/>
                <a:cs typeface="Menlo"/>
              </a:rPr>
              <a:t>  observation = error_observation(...)</a:t>
            </a:r>
          </a:p>
        </p:txBody>
      </p:sp>
      <p:sp>
        <p:nvSpPr>
          <p:cNvPr id="29" name="Solution footer divider">
            <a:extLst>
              <a:ext uri="{FF2B5EF4-FFF2-40B4-BE49-F238E27FC236}">
                <a16:creationId xmlns:a16="http://schemas.microsoft.com/office/drawing/2014/main" id="{045DDFC5-A1D0-4788-A739-5F4CBB2612E8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515600" cy="0"/>
          </a:xfrm>
          <a:prstGeom prst="lin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olution footer">
            <a:extLst>
              <a:ext uri="{FF2B5EF4-FFF2-40B4-BE49-F238E27FC236}">
                <a16:creationId xmlns:a16="http://schemas.microsoft.com/office/drawing/2014/main" id="{F0555D4A-94EE-4E84-9F35-30EEB8FBB88C}"/>
              </a:ext>
            </a:extLst>
          </p:cNvPr>
          <p:cNvSpPr>
            <a:spLocks noGrp="1"/>
          </p:cNvSpPr>
          <p:nvPr/>
        </p:nvSpPr>
        <p:spPr>
          <a:xfrm>
            <a:off x="1219200" y="5162550"/>
            <a:ext cx="975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6324A"/>
                </a:solidFill>
                <a:latin typeface="Avenir Next"/>
                <a:ea typeface="Avenir Next"/>
                <a:cs typeface="Avenir Next"/>
              </a:rPr>
              <a:t>Zielkonfiguration begrenzt den Handlungsraum. Prompt, Zustand und Schleife machen den Lauf prüfbarer und robuster.</a:t>
            </a:r>
          </a:p>
        </p:txBody>
      </p:sp>
    </p:spTree>
    <p:extLst>
      <p:ext uri="{BB962C8B-B14F-4D97-AF65-F5344CB8AC3E}">
        <p14:creationId xmlns:p14="http://schemas.microsoft.com/office/powerpoint/2010/main" val="357810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>
            <a:extLst>
              <a:ext uri="{FF2B5EF4-FFF2-40B4-BE49-F238E27FC236}">
                <a16:creationId xmlns:a16="http://schemas.microsoft.com/office/drawing/2014/main" id="{709180E5-E5C3-A7AB-7B7F-895FF83C5F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0394428-F1DC-E5F6-DB0C-7DE31F3D8A2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lide title">
            <a:extLst>
              <a:ext uri="{FF2B5EF4-FFF2-40B4-BE49-F238E27FC236}">
                <a16:creationId xmlns:a16="http://schemas.microsoft.com/office/drawing/2014/main" id="{51C71DEE-CF71-ADC9-71BC-16E6F895E5F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981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Referenzagent ist der gemeinsame Stand für Slot 4</a:t>
            </a:r>
          </a:p>
        </p:txBody>
      </p:sp>
      <p:sp>
        <p:nvSpPr>
          <p:cNvPr id="21" name="Reference agent panel">
            <a:extLst>
              <a:ext uri="{FF2B5EF4-FFF2-40B4-BE49-F238E27FC236}">
                <a16:creationId xmlns:a16="http://schemas.microsoft.com/office/drawing/2014/main" id="{AFB89981-93CF-4A18-AC4B-8FECC4A81013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4095750" cy="3257550"/>
          </a:xfrm>
          <a:prstGeom prst="roundRect">
            <a:avLst>
              <a:gd name="adj" fmla="val 2339"/>
            </a:avLst>
          </a:prstGeom>
          <a:solidFill>
            <a:srgbClr val="48536D"/>
          </a:solidFill>
          <a:ln w="9525">
            <a:solidFill>
              <a:srgbClr val="48536D"/>
            </a:solidFill>
            <a:prstDash val="solid"/>
          </a:ln>
        </p:spPr>
        <p:txBody>
          <a:bodyPr anchor="t"/>
          <a:lstStyle/>
          <a:p>
            <a:pPr>
              <a:buNone/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VOLLSTÄNDIGER REFERENZSTAND</a:t>
            </a:r>
          </a:p>
        </p:txBody>
      </p:sp>
      <p:sp>
        <p:nvSpPr>
          <p:cNvPr id="22" name="Reference agent filename">
            <a:extLst>
              <a:ext uri="{FF2B5EF4-FFF2-40B4-BE49-F238E27FC236}">
                <a16:creationId xmlns:a16="http://schemas.microsoft.com/office/drawing/2014/main" id="{D28A58E6-D657-4BE6-B932-D81D8D29F8F8}"/>
              </a:ext>
            </a:extLst>
          </p:cNvPr>
          <p:cNvSpPr>
            <a:spLocks noGrp="1"/>
          </p:cNvSpPr>
          <p:nvPr/>
        </p:nvSpPr>
        <p:spPr>
          <a:xfrm>
            <a:off x="1104900" y="2171700"/>
            <a:ext cx="35623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slot3_reference_</a:t>
            </a:r>
          </a:p>
          <a:p>
            <a:pPr>
              <a:buNone/>
              <a:defRPr sz="18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agent.py</a:t>
            </a:r>
          </a:p>
        </p:txBody>
      </p:sp>
      <p:sp>
        <p:nvSpPr>
          <p:cNvPr id="23" name="Reference agent instruction">
            <a:extLst>
              <a:ext uri="{FF2B5EF4-FFF2-40B4-BE49-F238E27FC236}">
                <a16:creationId xmlns:a16="http://schemas.microsoft.com/office/drawing/2014/main" id="{BC8AF16A-E43C-47A1-9AFF-8B825BDA3730}"/>
              </a:ext>
            </a:extLst>
          </p:cNvPr>
          <p:cNvSpPr>
            <a:spLocks noGrp="1"/>
          </p:cNvSpPr>
          <p:nvPr/>
        </p:nvSpPr>
        <p:spPr>
          <a:xfrm>
            <a:off x="1104900" y="3314700"/>
            <a:ext cx="3562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Gemeinsamen Stand übernehmen. Eigene Lösung für den Vergleich behalten.</a:t>
            </a:r>
          </a:p>
        </p:txBody>
      </p:sp>
      <p:sp>
        <p:nvSpPr>
          <p:cNvPr id="24" name="Reference agent run">
            <a:extLst>
              <a:ext uri="{FF2B5EF4-FFF2-40B4-BE49-F238E27FC236}">
                <a16:creationId xmlns:a16="http://schemas.microsoft.com/office/drawing/2014/main" id="{7B3D3D31-E6C6-4EF7-8622-A9ECB6F4F059}"/>
              </a:ext>
            </a:extLst>
          </p:cNvPr>
          <p:cNvSpPr>
            <a:spLocks noGrp="1"/>
          </p:cNvSpPr>
          <p:nvPr/>
        </p:nvSpPr>
        <p:spPr>
          <a:xfrm>
            <a:off x="1104900" y="4057650"/>
            <a:ext cx="3562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05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slot3_reference_agent.py
  --target http://127.0.0.1:3000 "&lt;Ziel&gt;"</a:t>
            </a:r>
          </a:p>
        </p:txBody>
      </p:sp>
      <p:sp>
        <p:nvSpPr>
          <p:cNvPr id="25" name="Feature 01 number">
            <a:extLst>
              <a:ext uri="{FF2B5EF4-FFF2-40B4-BE49-F238E27FC236}">
                <a16:creationId xmlns:a16="http://schemas.microsoft.com/office/drawing/2014/main" id="{E31C058B-4850-4B51-BF4E-8E1400C35DA9}"/>
              </a:ext>
            </a:extLst>
          </p:cNvPr>
          <p:cNvSpPr>
            <a:spLocks noGrp="1"/>
          </p:cNvSpPr>
          <p:nvPr/>
        </p:nvSpPr>
        <p:spPr>
          <a:xfrm>
            <a:off x="5467350" y="14763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6" name="Feature 01 heading">
            <a:extLst>
              <a:ext uri="{FF2B5EF4-FFF2-40B4-BE49-F238E27FC236}">
                <a16:creationId xmlns:a16="http://schemas.microsoft.com/office/drawing/2014/main" id="{C3ECC329-8AA5-4424-9D20-518FE6A55080}"/>
              </a:ext>
            </a:extLst>
          </p:cNvPr>
          <p:cNvSpPr>
            <a:spLocks noGrp="1"/>
          </p:cNvSpPr>
          <p:nvPr/>
        </p:nvSpPr>
        <p:spPr>
          <a:xfrm>
            <a:off x="6076950" y="14573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Zielkonfiguration</a:t>
            </a:r>
          </a:p>
        </p:txBody>
      </p:sp>
      <p:sp>
        <p:nvSpPr>
          <p:cNvPr id="27" name="Feature 01 detail">
            <a:extLst>
              <a:ext uri="{FF2B5EF4-FFF2-40B4-BE49-F238E27FC236}">
                <a16:creationId xmlns:a16="http://schemas.microsoft.com/office/drawing/2014/main" id="{CB69CABD-E4F8-4688-A593-C04959730ACE}"/>
              </a:ext>
            </a:extLst>
          </p:cNvPr>
          <p:cNvSpPr>
            <a:spLocks noGrp="1"/>
          </p:cNvSpPr>
          <p:nvPr/>
        </p:nvSpPr>
        <p:spPr>
          <a:xfrm>
            <a:off x="6076950" y="17621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explizite Basisadresse, vor dem Lauf validiert</a:t>
            </a:r>
          </a:p>
        </p:txBody>
      </p:sp>
      <p:sp>
        <p:nvSpPr>
          <p:cNvPr id="28" name="Feature 02 number">
            <a:extLst>
              <a:ext uri="{FF2B5EF4-FFF2-40B4-BE49-F238E27FC236}">
                <a16:creationId xmlns:a16="http://schemas.microsoft.com/office/drawing/2014/main" id="{4B809AE0-DB5B-4812-B2CE-9B3E21F2948A}"/>
              </a:ext>
            </a:extLst>
          </p:cNvPr>
          <p:cNvSpPr>
            <a:spLocks noGrp="1"/>
          </p:cNvSpPr>
          <p:nvPr/>
        </p:nvSpPr>
        <p:spPr>
          <a:xfrm>
            <a:off x="5467350" y="21050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9" name="Feature 02 heading">
            <a:extLst>
              <a:ext uri="{FF2B5EF4-FFF2-40B4-BE49-F238E27FC236}">
                <a16:creationId xmlns:a16="http://schemas.microsoft.com/office/drawing/2014/main" id="{26C1745F-0E18-4223-BCD1-550B5BB23C5E}"/>
              </a:ext>
            </a:extLst>
          </p:cNvPr>
          <p:cNvSpPr>
            <a:spLocks noGrp="1"/>
          </p:cNvSpPr>
          <p:nvPr/>
        </p:nvSpPr>
        <p:spPr>
          <a:xfrm>
            <a:off x="6076950" y="20859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GET + JSON-POST</a:t>
            </a:r>
          </a:p>
        </p:txBody>
      </p:sp>
      <p:sp>
        <p:nvSpPr>
          <p:cNvPr id="30" name="Feature 02 detail">
            <a:extLst>
              <a:ext uri="{FF2B5EF4-FFF2-40B4-BE49-F238E27FC236}">
                <a16:creationId xmlns:a16="http://schemas.microsoft.com/office/drawing/2014/main" id="{A3FE6324-A3A3-4CF8-BE40-CA10841DE67F}"/>
              </a:ext>
            </a:extLst>
          </p:cNvPr>
          <p:cNvSpPr>
            <a:spLocks noGrp="1"/>
          </p:cNvSpPr>
          <p:nvPr/>
        </p:nvSpPr>
        <p:spPr>
          <a:xfrm>
            <a:off x="6076950" y="23907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gemeinsamer Aktionsraum, Cookies bleiben erhalten</a:t>
            </a:r>
          </a:p>
        </p:txBody>
      </p:sp>
      <p:sp>
        <p:nvSpPr>
          <p:cNvPr id="31" name="Feature 03 number">
            <a:extLst>
              <a:ext uri="{FF2B5EF4-FFF2-40B4-BE49-F238E27FC236}">
                <a16:creationId xmlns:a16="http://schemas.microsoft.com/office/drawing/2014/main" id="{D2D77507-3985-4831-940A-0EEC21B359B8}"/>
              </a:ext>
            </a:extLst>
          </p:cNvPr>
          <p:cNvSpPr>
            <a:spLocks noGrp="1"/>
          </p:cNvSpPr>
          <p:nvPr/>
        </p:nvSpPr>
        <p:spPr>
          <a:xfrm>
            <a:off x="5467350" y="27336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2" name="Feature 03 heading">
            <a:extLst>
              <a:ext uri="{FF2B5EF4-FFF2-40B4-BE49-F238E27FC236}">
                <a16:creationId xmlns:a16="http://schemas.microsoft.com/office/drawing/2014/main" id="{E2484CC6-EA2A-4C9D-8CF4-AFDCE1BD91A2}"/>
              </a:ext>
            </a:extLst>
          </p:cNvPr>
          <p:cNvSpPr>
            <a:spLocks noGrp="1"/>
          </p:cNvSpPr>
          <p:nvPr/>
        </p:nvSpPr>
        <p:spPr>
          <a:xfrm>
            <a:off x="6076950" y="271462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Prompt mit Erfolgsbeleg</a:t>
            </a:r>
          </a:p>
        </p:txBody>
      </p:sp>
      <p:sp>
        <p:nvSpPr>
          <p:cNvPr id="33" name="Feature 03 detail">
            <a:extLst>
              <a:ext uri="{FF2B5EF4-FFF2-40B4-BE49-F238E27FC236}">
                <a16:creationId xmlns:a16="http://schemas.microsoft.com/office/drawing/2014/main" id="{12B55EE9-539A-4356-8841-CC8937158866}"/>
              </a:ext>
            </a:extLst>
          </p:cNvPr>
          <p:cNvSpPr>
            <a:spLocks noGrp="1"/>
          </p:cNvSpPr>
          <p:nvPr/>
        </p:nvSpPr>
        <p:spPr>
          <a:xfrm>
            <a:off x="6076950" y="30194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finish erst nach sichtbarer Observation</a:t>
            </a:r>
          </a:p>
        </p:txBody>
      </p:sp>
      <p:sp>
        <p:nvSpPr>
          <p:cNvPr id="34" name="Feature 04 number">
            <a:extLst>
              <a:ext uri="{FF2B5EF4-FFF2-40B4-BE49-F238E27FC236}">
                <a16:creationId xmlns:a16="http://schemas.microsoft.com/office/drawing/2014/main" id="{48C433F3-8836-4BB1-BE58-104429DCD2A8}"/>
              </a:ext>
            </a:extLst>
          </p:cNvPr>
          <p:cNvSpPr>
            <a:spLocks noGrp="1"/>
          </p:cNvSpPr>
          <p:nvPr/>
        </p:nvSpPr>
        <p:spPr>
          <a:xfrm>
            <a:off x="5467350" y="33623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5" name="Feature 04 heading">
            <a:extLst>
              <a:ext uri="{FF2B5EF4-FFF2-40B4-BE49-F238E27FC236}">
                <a16:creationId xmlns:a16="http://schemas.microsoft.com/office/drawing/2014/main" id="{DBF63E69-1781-4C0C-97AE-D920178C70DD}"/>
              </a:ext>
            </a:extLst>
          </p:cNvPr>
          <p:cNvSpPr>
            <a:spLocks noGrp="1"/>
          </p:cNvSpPr>
          <p:nvPr/>
        </p:nvSpPr>
        <p:spPr>
          <a:xfrm>
            <a:off x="6076950" y="3343275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Strukturierte Observation</a:t>
            </a:r>
          </a:p>
        </p:txBody>
      </p:sp>
      <p:sp>
        <p:nvSpPr>
          <p:cNvPr id="36" name="Feature 04 detail">
            <a:extLst>
              <a:ext uri="{FF2B5EF4-FFF2-40B4-BE49-F238E27FC236}">
                <a16:creationId xmlns:a16="http://schemas.microsoft.com/office/drawing/2014/main" id="{750A75A2-52D3-4FF5-915C-102C950A0EC2}"/>
              </a:ext>
            </a:extLst>
          </p:cNvPr>
          <p:cNvSpPr>
            <a:spLocks noGrp="1"/>
          </p:cNvSpPr>
          <p:nvPr/>
        </p:nvSpPr>
        <p:spPr>
          <a:xfrm>
            <a:off x="6076950" y="3648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Methode, Pfad, Statuscode und gekürzter Body</a:t>
            </a:r>
          </a:p>
        </p:txBody>
      </p:sp>
      <p:sp>
        <p:nvSpPr>
          <p:cNvPr id="37" name="Slot four transition">
            <a:extLst>
              <a:ext uri="{FF2B5EF4-FFF2-40B4-BE49-F238E27FC236}">
                <a16:creationId xmlns:a16="http://schemas.microsoft.com/office/drawing/2014/main" id="{E1B4FF0E-E2FE-422E-8EDD-122509BC3987}"/>
              </a:ext>
            </a:extLst>
          </p:cNvPr>
          <p:cNvSpPr>
            <a:spLocks noGrp="1"/>
          </p:cNvSpPr>
          <p:nvPr/>
        </p:nvSpPr>
        <p:spPr>
          <a:xfrm>
            <a:off x="838200" y="5048250"/>
            <a:ext cx="10515600" cy="666750"/>
          </a:xfrm>
          <a:prstGeom prst="roundRect">
            <a:avLst>
              <a:gd name="adj" fmla="val 11429"/>
            </a:avLst>
          </a:prstGeom>
          <a:solidFill>
            <a:srgbClr val="F5F6F8"/>
          </a:solidFill>
          <a:ln w="9525">
            <a:solidFill>
              <a:srgbClr val="A6ADBC"/>
            </a:solidFill>
            <a:prstDash val="solid"/>
          </a:ln>
        </p:spPr>
        <p:txBody>
          <a:bodyPr anchor="t"/>
          <a:lstStyle/>
          <a:p>
            <a:pPr>
              <a:buNone/>
              <a:defRPr sz="135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In Slot 4 bleibt dieser Stand unverändert: Dann wird sichtbar, welche zusätzliche Aktion und welches Werkzeug dem Eigenbau fehlen.</a:t>
            </a:r>
          </a:p>
        </p:txBody>
      </p:sp>
      <p:sp>
        <p:nvSpPr>
          <p:cNvPr id="38" name="Feature 05 number">
            <a:extLst>
              <a:ext uri="{FF2B5EF4-FFF2-40B4-BE49-F238E27FC236}">
                <a16:creationId xmlns:a16="http://schemas.microsoft.com/office/drawing/2014/main" id="{E73FF02E-B2BA-43B3-BA80-A72FCE46865C}"/>
              </a:ext>
            </a:extLst>
          </p:cNvPr>
          <p:cNvSpPr>
            <a:spLocks noGrp="1"/>
          </p:cNvSpPr>
          <p:nvPr/>
        </p:nvSpPr>
        <p:spPr>
          <a:xfrm>
            <a:off x="5467350" y="3990975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9" name="Feature 05 heading">
            <a:extLst>
              <a:ext uri="{FF2B5EF4-FFF2-40B4-BE49-F238E27FC236}">
                <a16:creationId xmlns:a16="http://schemas.microsoft.com/office/drawing/2014/main" id="{72D033AC-2C50-4960-B8BE-440C544DB1CB}"/>
              </a:ext>
            </a:extLst>
          </p:cNvPr>
          <p:cNvSpPr>
            <a:spLocks noGrp="1"/>
          </p:cNvSpPr>
          <p:nvPr/>
        </p:nvSpPr>
        <p:spPr>
          <a:xfrm>
            <a:off x="6076950" y="39719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Robustere Schleife</a:t>
            </a:r>
          </a:p>
        </p:txBody>
      </p:sp>
      <p:sp>
        <p:nvSpPr>
          <p:cNvPr id="40" name="Feature 05 detail">
            <a:extLst>
              <a:ext uri="{FF2B5EF4-FFF2-40B4-BE49-F238E27FC236}">
                <a16:creationId xmlns:a16="http://schemas.microsoft.com/office/drawing/2014/main" id="{406DE2F8-D996-49CE-B742-07F6E98784D5}"/>
              </a:ext>
            </a:extLst>
          </p:cNvPr>
          <p:cNvSpPr>
            <a:spLocks noGrp="1"/>
          </p:cNvSpPr>
          <p:nvPr/>
        </p:nvSpPr>
        <p:spPr>
          <a:xfrm>
            <a:off x="6076950" y="42767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1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Fehler und Wiederholungen werden Observations</a:t>
            </a:r>
          </a:p>
        </p:txBody>
      </p:sp>
    </p:spTree>
    <p:extLst>
      <p:ext uri="{BB962C8B-B14F-4D97-AF65-F5344CB8AC3E}">
        <p14:creationId xmlns:p14="http://schemas.microsoft.com/office/powerpoint/2010/main" val="486041621"/>
      </p:ext>
    </p:extLst>
  </p:cSld>
  <p:clrMapOvr>
    <a:masterClrMapping/>
  </p:clrMapOvr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Microsoft Macintosh PowerPoint</Application>
  <DocSecurity>0</DocSecurity>
  <PresentationFormat>Breitbild</PresentationFormat>
  <Paragraphs>215</Paragraphs>
  <Slides>11</Slides>
  <Notes>11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 Mono</vt:lpstr>
      <vt:lpstr>Avenir Next</vt:lpstr>
      <vt:lpstr>Menlo</vt:lpstr>
      <vt:lpstr>Serify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Markus Bayer</cp:lastModifiedBy>
  <cp:revision>2</cp:revision>
  <dcterms:created xsi:type="dcterms:W3CDTF">2026-09-04T10:47:47Z</dcterms:created>
  <dcterms:modified xsi:type="dcterms:W3CDTF">2026-09-04T11:02:09Z</dcterms:modified>
</cp:coreProperties>
</file>