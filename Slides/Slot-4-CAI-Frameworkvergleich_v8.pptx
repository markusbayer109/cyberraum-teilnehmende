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F41658-5F32-F0E1-7446-2A602223BA7A}" name="Markus Bayer" initials="MB" userId="280c9097fed83638" providerId="Windows Live"/>
  <p188:author id="{92394061-3665-6D24-A577-C223EBB3DCE8}" name="Philipp Kühn" initials="PK" userId="e3a6e9f4ee67076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7"/>
    <p:restoredTop sz="94648"/>
  </p:normalViewPr>
  <p:slideViewPr>
    <p:cSldViewPr snapToGrid="0">
      <p:cViewPr varScale="1">
        <p:scale>
          <a:sx n="112" d="100"/>
          <a:sy n="112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Ziel des Slots: Die </a:t>
            </a:r>
            <a:r>
              <a:rPr dirty="0" err="1"/>
              <a:t>Teilnehmenden</a:t>
            </a:r>
            <a:r>
              <a:rPr dirty="0"/>
              <a:t> </a:t>
            </a:r>
            <a:r>
              <a:rPr dirty="0" err="1"/>
              <a:t>starten</a:t>
            </a:r>
            <a:r>
              <a:rPr dirty="0"/>
              <a:t> die </a:t>
            </a:r>
            <a:r>
              <a:rPr dirty="0" err="1"/>
              <a:t>echte</a:t>
            </a:r>
            <a:r>
              <a:rPr dirty="0"/>
              <a:t> CAI-CLI und </a:t>
            </a:r>
            <a:r>
              <a:rPr dirty="0" err="1"/>
              <a:t>treffen</a:t>
            </a:r>
            <a:r>
              <a:rPr dirty="0"/>
              <a:t> die </a:t>
            </a:r>
            <a:r>
              <a:rPr dirty="0" err="1"/>
              <a:t>Agentenauswahl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/agents/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Moderationshinweis</a:t>
            </a:r>
            <a:r>
              <a:rPr dirty="0"/>
              <a:t>: maximal </a:t>
            </a:r>
            <a:r>
              <a:rPr dirty="0" err="1"/>
              <a:t>fünf</a:t>
            </a:r>
            <a:r>
              <a:rPr dirty="0"/>
              <a:t> Minuten. Keine </a:t>
            </a:r>
            <a:r>
              <a:rPr dirty="0" err="1"/>
              <a:t>erneute</a:t>
            </a:r>
            <a:r>
              <a:rPr dirty="0"/>
              <a:t> </a:t>
            </a:r>
            <a:r>
              <a:rPr dirty="0" err="1"/>
              <a:t>ReAct-Erklärung</a:t>
            </a:r>
            <a:r>
              <a:rPr dirty="0"/>
              <a:t>, </a:t>
            </a:r>
            <a:r>
              <a:rPr dirty="0" err="1"/>
              <a:t>nur</a:t>
            </a:r>
            <a:r>
              <a:rPr dirty="0"/>
              <a:t> die vier </a:t>
            </a:r>
            <a:r>
              <a:rPr dirty="0" err="1"/>
              <a:t>bekannten</a:t>
            </a:r>
            <a:r>
              <a:rPr dirty="0"/>
              <a:t> </a:t>
            </a:r>
            <a:r>
              <a:rPr dirty="0" err="1"/>
              <a:t>Bausteine</a:t>
            </a:r>
            <a:r>
              <a:rPr dirty="0"/>
              <a:t> </a:t>
            </a:r>
            <a:r>
              <a:rPr dirty="0" err="1"/>
              <a:t>aktivieren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Lokaler</a:t>
            </a:r>
            <a:r>
              <a:rPr dirty="0"/>
              <a:t> Workshop-</a:t>
            </a:r>
            <a:r>
              <a:rPr dirty="0" err="1"/>
              <a:t>Eigenbau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Slot 2 und Slot 3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Moderationshinweis</a:t>
            </a:r>
            <a:r>
              <a:rPr dirty="0"/>
              <a:t>: maximal </a:t>
            </a:r>
            <a:r>
              <a:rPr dirty="0" err="1"/>
              <a:t>fünf</a:t>
            </a:r>
            <a:r>
              <a:rPr dirty="0"/>
              <a:t> Minuten. Keine </a:t>
            </a:r>
            <a:r>
              <a:rPr dirty="0" err="1"/>
              <a:t>erneute</a:t>
            </a:r>
            <a:r>
              <a:rPr dirty="0"/>
              <a:t> </a:t>
            </a:r>
            <a:r>
              <a:rPr dirty="0" err="1"/>
              <a:t>ReAct-Erklärung</a:t>
            </a:r>
            <a:r>
              <a:rPr dirty="0"/>
              <a:t>, </a:t>
            </a:r>
            <a:r>
              <a:rPr dirty="0" err="1"/>
              <a:t>nur</a:t>
            </a:r>
            <a:r>
              <a:rPr dirty="0"/>
              <a:t> die vier </a:t>
            </a:r>
            <a:r>
              <a:rPr dirty="0" err="1"/>
              <a:t>bekannten</a:t>
            </a:r>
            <a:r>
              <a:rPr dirty="0"/>
              <a:t> </a:t>
            </a:r>
            <a:r>
              <a:rPr dirty="0" err="1"/>
              <a:t>Bausteine</a:t>
            </a:r>
            <a:r>
              <a:rPr dirty="0"/>
              <a:t> </a:t>
            </a:r>
            <a:r>
              <a:rPr dirty="0" err="1"/>
              <a:t>aktivieren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Lokaler</a:t>
            </a:r>
            <a:r>
              <a:rPr dirty="0"/>
              <a:t> Workshop-</a:t>
            </a:r>
            <a:r>
              <a:rPr dirty="0" err="1"/>
              <a:t>Eigenbau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Slot 2 und Slot 3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arxiv.org</a:t>
            </a:r>
            <a:r>
              <a:rPr dirty="0"/>
              <a:t>/abs/2210.03629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/agents/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Diese</a:t>
            </a:r>
            <a:r>
              <a:rPr dirty="0"/>
              <a:t> Folie </a:t>
            </a:r>
            <a:r>
              <a:rPr dirty="0" err="1"/>
              <a:t>trennt</a:t>
            </a:r>
            <a:r>
              <a:rPr dirty="0"/>
              <a:t> die </a:t>
            </a:r>
            <a:r>
              <a:rPr dirty="0" err="1"/>
              <a:t>gemeinsame</a:t>
            </a:r>
            <a:r>
              <a:rPr dirty="0"/>
              <a:t> </a:t>
            </a:r>
            <a:r>
              <a:rPr dirty="0" err="1"/>
              <a:t>ReAct-Logik</a:t>
            </a:r>
            <a:r>
              <a:rPr dirty="0"/>
              <a:t> von den </a:t>
            </a:r>
            <a:r>
              <a:rPr dirty="0" err="1"/>
              <a:t>expliziten</a:t>
            </a:r>
            <a:r>
              <a:rPr dirty="0"/>
              <a:t> </a:t>
            </a:r>
            <a:r>
              <a:rPr dirty="0" err="1"/>
              <a:t>Konfigurationsentscheidungen</a:t>
            </a:r>
            <a:r>
              <a:rPr dirty="0"/>
              <a:t> in CAI.</a:t>
            </a:r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/agents/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/handoffs/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Die vier Karten </a:t>
            </a:r>
            <a:r>
              <a:rPr dirty="0" err="1"/>
              <a:t>unterscheiden</a:t>
            </a:r>
            <a:r>
              <a:rPr dirty="0"/>
              <a:t> vier Start- und </a:t>
            </a:r>
            <a:r>
              <a:rPr dirty="0" err="1"/>
              <a:t>Koordinationslogiken</a:t>
            </a:r>
            <a:r>
              <a:rPr dirty="0"/>
              <a:t> </a:t>
            </a:r>
            <a:r>
              <a:rPr dirty="0" err="1"/>
              <a:t>derselben</a:t>
            </a:r>
            <a:r>
              <a:rPr dirty="0"/>
              <a:t> CAI-</a:t>
            </a:r>
            <a:r>
              <a:rPr dirty="0" err="1"/>
              <a:t>Laufzeit</a:t>
            </a:r>
            <a:r>
              <a:rPr dirty="0"/>
              <a:t>.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praktischen</a:t>
            </a:r>
            <a:r>
              <a:rPr dirty="0"/>
              <a:t> </a:t>
            </a:r>
            <a:r>
              <a:rPr dirty="0" err="1"/>
              <a:t>Workshoplauf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one_tool_agent</a:t>
            </a:r>
            <a:r>
              <a:rPr dirty="0"/>
              <a:t> </a:t>
            </a:r>
            <a:r>
              <a:rPr dirty="0" err="1"/>
              <a:t>direkt</a:t>
            </a:r>
            <a:r>
              <a:rPr dirty="0"/>
              <a:t> </a:t>
            </a:r>
            <a:r>
              <a:rPr dirty="0" err="1"/>
              <a:t>gewählt</a:t>
            </a:r>
            <a:r>
              <a:rPr dirty="0"/>
              <a:t>; Handoff und Multi-Agent-</a:t>
            </a:r>
            <a:r>
              <a:rPr dirty="0" err="1"/>
              <a:t>Orchestrierung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eingeordnet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/agents/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</a:t>
            </a:r>
            <a:r>
              <a:rPr dirty="0" err="1"/>
              <a:t>multi_agent</a:t>
            </a:r>
            <a:r>
              <a:rPr dirty="0"/>
              <a:t>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Der </a:t>
            </a:r>
            <a:r>
              <a:rPr dirty="0" err="1"/>
              <a:t>genaue</a:t>
            </a:r>
            <a:r>
              <a:rPr dirty="0"/>
              <a:t> </a:t>
            </a:r>
            <a:r>
              <a:rPr dirty="0" err="1"/>
              <a:t>Agentenbefehl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final </a:t>
            </a:r>
            <a:r>
              <a:rPr dirty="0" err="1"/>
              <a:t>gepinnten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Ende-</a:t>
            </a:r>
            <a:r>
              <a:rPr dirty="0" err="1"/>
              <a:t>zu</a:t>
            </a:r>
            <a:r>
              <a:rPr dirty="0"/>
              <a:t>-Ende </a:t>
            </a:r>
            <a:r>
              <a:rPr dirty="0" err="1"/>
              <a:t>getestet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/agents/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aliasrobotics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/blob/main/docs/</a:t>
            </a:r>
            <a:r>
              <a:rPr dirty="0" err="1"/>
              <a:t>agents.md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Challenges/</a:t>
            </a:r>
            <a:r>
              <a:rPr dirty="0" err="1"/>
              <a:t>Aufgabenblatt.md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Challenges/</a:t>
            </a:r>
            <a:r>
              <a:rPr dirty="0" err="1"/>
              <a:t>Lehrendenhinweise.md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aliasrobotics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/blob/main/docs/</a:t>
            </a:r>
            <a:r>
              <a:rPr dirty="0" err="1"/>
              <a:t>agents.md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Challenges/</a:t>
            </a:r>
            <a:r>
              <a:rPr dirty="0" err="1"/>
              <a:t>Aufgabenblatt.md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Challenges/</a:t>
            </a:r>
            <a:r>
              <a:rPr dirty="0" err="1"/>
              <a:t>Lehrendenhinweise.md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</a:t>
            </a:r>
            <a:r>
              <a:rPr dirty="0" err="1"/>
              <a:t>Workshopplan.md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aliasrobotics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/blob/main/docs/</a:t>
            </a:r>
            <a:r>
              <a:rPr dirty="0" err="1"/>
              <a:t>agents.md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Challenges/</a:t>
            </a:r>
            <a:r>
              <a:rPr dirty="0" err="1"/>
              <a:t>Aufgabenblatt.md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Challenges/</a:t>
            </a:r>
            <a:r>
              <a:rPr dirty="0" err="1"/>
              <a:t>Lehrendenhinweise.md</a:t>
            </a:r>
            <a:endParaRPr dirty="0"/>
          </a:p>
          <a:p>
            <a:r>
              <a:rPr dirty="0"/>
              <a:t>- Interne Workshop-</a:t>
            </a:r>
            <a:r>
              <a:rPr dirty="0" err="1"/>
              <a:t>Unterlagen</a:t>
            </a:r>
            <a:r>
              <a:rPr dirty="0"/>
              <a:t>: </a:t>
            </a:r>
            <a:r>
              <a:rPr dirty="0" err="1"/>
              <a:t>Workshopplan.md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Diese</a:t>
            </a:r>
            <a:r>
              <a:rPr dirty="0"/>
              <a:t> Folie </a:t>
            </a:r>
            <a:r>
              <a:rPr dirty="0" err="1"/>
              <a:t>folgt</a:t>
            </a:r>
            <a:r>
              <a:rPr dirty="0"/>
              <a:t> dem </a:t>
            </a:r>
            <a:r>
              <a:rPr dirty="0" err="1"/>
              <a:t>Aufgabenblatt</a:t>
            </a:r>
            <a:r>
              <a:rPr dirty="0"/>
              <a:t> für Slot 4. Aufgabe 2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technische</a:t>
            </a:r>
            <a:r>
              <a:rPr dirty="0"/>
              <a:t> CAI-Check </a:t>
            </a:r>
            <a:r>
              <a:rPr dirty="0" err="1"/>
              <a:t>mit</a:t>
            </a:r>
            <a:r>
              <a:rPr dirty="0"/>
              <a:t> Login Admin. </a:t>
            </a:r>
            <a:r>
              <a:rPr dirty="0" err="1"/>
              <a:t>Danach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Product Tampering </a:t>
            </a:r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eingefrorenen</a:t>
            </a:r>
            <a:r>
              <a:rPr dirty="0"/>
              <a:t> </a:t>
            </a:r>
            <a:r>
              <a:rPr dirty="0" err="1"/>
              <a:t>Eigenbau</a:t>
            </a:r>
            <a:r>
              <a:rPr dirty="0"/>
              <a:t> und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one_tool_agent</a:t>
            </a:r>
            <a:r>
              <a:rPr dirty="0"/>
              <a:t> auf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frischen</a:t>
            </a:r>
            <a:r>
              <a:rPr dirty="0"/>
              <a:t> </a:t>
            </a:r>
            <a:r>
              <a:rPr dirty="0" err="1"/>
              <a:t>Instanz</a:t>
            </a:r>
            <a:r>
              <a:rPr dirty="0"/>
              <a:t> </a:t>
            </a:r>
            <a:r>
              <a:rPr dirty="0" err="1"/>
              <a:t>bearbeitet</a:t>
            </a:r>
            <a:r>
              <a:rPr dirty="0"/>
              <a:t>. Der </a:t>
            </a:r>
            <a:r>
              <a:rPr dirty="0" err="1"/>
              <a:t>Zieltext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sichtbar</a:t>
            </a:r>
            <a:r>
              <a:rPr dirty="0"/>
              <a:t>; </a:t>
            </a:r>
            <a:r>
              <a:rPr dirty="0" err="1"/>
              <a:t>lösungsspezifische</a:t>
            </a:r>
            <a:r>
              <a:rPr dirty="0"/>
              <a:t> </a:t>
            </a:r>
            <a:r>
              <a:rPr dirty="0" err="1"/>
              <a:t>Hinweise</a:t>
            </a:r>
            <a:r>
              <a:rPr dirty="0"/>
              <a:t> </a:t>
            </a:r>
            <a:r>
              <a:rPr dirty="0" err="1"/>
              <a:t>bleiben</a:t>
            </a:r>
            <a:r>
              <a:rPr dirty="0"/>
              <a:t> bis </a:t>
            </a:r>
            <a:r>
              <a:rPr dirty="0" err="1"/>
              <a:t>nach</a:t>
            </a:r>
            <a:r>
              <a:rPr dirty="0"/>
              <a:t> den </a:t>
            </a:r>
            <a:r>
              <a:rPr dirty="0" err="1"/>
              <a:t>Läufen</a:t>
            </a:r>
            <a:r>
              <a:rPr dirty="0"/>
              <a:t> </a:t>
            </a:r>
            <a:r>
              <a:rPr dirty="0" err="1"/>
              <a:t>verborgen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vault/workshops/</a:t>
            </a:r>
            <a:r>
              <a:rPr dirty="0" err="1"/>
              <a:t>studienstiftung-cyberraum</a:t>
            </a:r>
            <a:r>
              <a:rPr dirty="0"/>
              <a:t>/Challenges/</a:t>
            </a:r>
            <a:r>
              <a:rPr dirty="0" err="1"/>
              <a:t>Aufgabenblatt.md</a:t>
            </a:r>
            <a:endParaRPr dirty="0"/>
          </a:p>
          <a:p>
            <a:r>
              <a:rPr dirty="0"/>
              <a:t>- vault/workshops/</a:t>
            </a:r>
            <a:r>
              <a:rPr dirty="0" err="1"/>
              <a:t>studienstiftung-cyberraum</a:t>
            </a:r>
            <a:r>
              <a:rPr dirty="0"/>
              <a:t>/Challenges/</a:t>
            </a:r>
            <a:r>
              <a:rPr dirty="0" err="1"/>
              <a:t>Lehrendenhinweise.md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Die </a:t>
            </a:r>
            <a:r>
              <a:rPr dirty="0" err="1"/>
              <a:t>Auswertung</a:t>
            </a:r>
            <a:r>
              <a:rPr dirty="0"/>
              <a:t> </a:t>
            </a:r>
            <a:r>
              <a:rPr dirty="0" err="1"/>
              <a:t>soll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einzelne</a:t>
            </a:r>
            <a:r>
              <a:rPr dirty="0"/>
              <a:t> Ursache </a:t>
            </a:r>
            <a:r>
              <a:rPr dirty="0" err="1"/>
              <a:t>behaupten</a:t>
            </a:r>
            <a:r>
              <a:rPr dirty="0"/>
              <a:t>. </a:t>
            </a:r>
            <a:r>
              <a:rPr dirty="0" err="1"/>
              <a:t>Entscheidend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nachvollziehbare</a:t>
            </a:r>
            <a:r>
              <a:rPr dirty="0"/>
              <a:t> </a:t>
            </a:r>
            <a:r>
              <a:rPr dirty="0" err="1"/>
              <a:t>Zuordnung</a:t>
            </a:r>
            <a:r>
              <a:rPr dirty="0"/>
              <a:t> der </a:t>
            </a:r>
            <a:r>
              <a:rPr dirty="0" err="1"/>
              <a:t>beobachteten</a:t>
            </a:r>
            <a:r>
              <a:rPr dirty="0"/>
              <a:t> </a:t>
            </a:r>
            <a:r>
              <a:rPr dirty="0" err="1"/>
              <a:t>Schritte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aliasrobotics.github.io</a:t>
            </a:r>
            <a:r>
              <a:rPr dirty="0"/>
              <a:t>/</a:t>
            </a:r>
            <a:r>
              <a:rPr dirty="0" err="1"/>
              <a:t>cai</a:t>
            </a:r>
            <a:r>
              <a:rPr dirty="0"/>
              <a:t>/agents/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/>
              <a:t>Erst </a:t>
            </a:r>
            <a:r>
              <a:rPr dirty="0" err="1"/>
              <a:t>nach</a:t>
            </a:r>
            <a:r>
              <a:rPr dirty="0"/>
              <a:t> den </a:t>
            </a:r>
            <a:r>
              <a:rPr dirty="0" err="1"/>
              <a:t>Eigenbau</a:t>
            </a:r>
            <a:r>
              <a:rPr dirty="0"/>
              <a:t>- und CAI-</a:t>
            </a:r>
            <a:r>
              <a:rPr dirty="0" err="1"/>
              <a:t>Läufen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. </a:t>
            </a:r>
            <a:r>
              <a:rPr dirty="0" err="1"/>
              <a:t>Produkt</a:t>
            </a:r>
            <a:r>
              <a:rPr dirty="0"/>
              <a:t> in der </a:t>
            </a:r>
            <a:r>
              <a:rPr dirty="0" err="1"/>
              <a:t>Shopsuche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O-Saft </a:t>
            </a:r>
            <a:r>
              <a:rPr dirty="0" err="1"/>
              <a:t>suchen</a:t>
            </a:r>
            <a:r>
              <a:rPr dirty="0"/>
              <a:t> und </a:t>
            </a:r>
            <a:r>
              <a:rPr dirty="0" err="1"/>
              <a:t>öffnen</a:t>
            </a:r>
            <a:r>
              <a:rPr dirty="0"/>
              <a:t>. Ziel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ausschließlich</a:t>
            </a:r>
            <a:r>
              <a:rPr dirty="0"/>
              <a:t> das </a:t>
            </a:r>
            <a:r>
              <a:rPr dirty="0" err="1"/>
              <a:t>href</a:t>
            </a:r>
            <a:r>
              <a:rPr dirty="0"/>
              <a:t> des </a:t>
            </a:r>
            <a:r>
              <a:rPr dirty="0" err="1"/>
              <a:t>vorhandenen</a:t>
            </a:r>
            <a:r>
              <a:rPr dirty="0"/>
              <a:t> More...-Links. Der </a:t>
            </a:r>
            <a:r>
              <a:rPr dirty="0" err="1"/>
              <a:t>restliche</a:t>
            </a:r>
            <a:r>
              <a:rPr dirty="0"/>
              <a:t> </a:t>
            </a:r>
            <a:r>
              <a:rPr dirty="0" err="1"/>
              <a:t>Beschreibungstext</a:t>
            </a:r>
            <a:r>
              <a:rPr dirty="0"/>
              <a:t>, der </a:t>
            </a:r>
            <a:r>
              <a:rPr dirty="0" err="1"/>
              <a:t>Linktext</a:t>
            </a:r>
            <a:r>
              <a:rPr dirty="0"/>
              <a:t>, target und alle </a:t>
            </a:r>
            <a:r>
              <a:rPr dirty="0" err="1"/>
              <a:t>übrigen</a:t>
            </a:r>
            <a:r>
              <a:rPr dirty="0"/>
              <a:t> </a:t>
            </a:r>
            <a:r>
              <a:rPr dirty="0" err="1"/>
              <a:t>fachlichen</a:t>
            </a:r>
            <a:r>
              <a:rPr dirty="0"/>
              <a:t> </a:t>
            </a:r>
            <a:r>
              <a:rPr dirty="0" err="1"/>
              <a:t>Produktdaten</a:t>
            </a:r>
            <a:r>
              <a:rPr dirty="0"/>
              <a:t> </a:t>
            </a:r>
            <a:r>
              <a:rPr dirty="0" err="1"/>
              <a:t>bleiben</a:t>
            </a:r>
            <a:r>
              <a:rPr dirty="0"/>
              <a:t> </a:t>
            </a:r>
            <a:r>
              <a:rPr dirty="0" err="1"/>
              <a:t>unverändert</a:t>
            </a:r>
            <a:r>
              <a:rPr dirty="0"/>
              <a:t>. Der Server </a:t>
            </a:r>
            <a:r>
              <a:rPr dirty="0" err="1"/>
              <a:t>aktualisiert</a:t>
            </a:r>
            <a:r>
              <a:rPr dirty="0"/>
              <a:t> </a:t>
            </a:r>
            <a:r>
              <a:rPr dirty="0" err="1"/>
              <a:t>updatedAt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. Screenshot: </a:t>
            </a:r>
            <a:r>
              <a:rPr dirty="0" err="1"/>
              <a:t>eigene</a:t>
            </a:r>
            <a:r>
              <a:rPr dirty="0"/>
              <a:t> </a:t>
            </a:r>
            <a:r>
              <a:rPr dirty="0" err="1"/>
              <a:t>Aufnahme</a:t>
            </a:r>
            <a:r>
              <a:rPr dirty="0"/>
              <a:t> der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Workshopinstanz</a:t>
            </a:r>
            <a:r>
              <a:rPr dirty="0"/>
              <a:t>, 18.09.2026. Alle </a:t>
            </a:r>
            <a:r>
              <a:rPr dirty="0" err="1"/>
              <a:t>Befehle</a:t>
            </a:r>
            <a:r>
              <a:rPr dirty="0"/>
              <a:t> </a:t>
            </a:r>
            <a:r>
              <a:rPr dirty="0" err="1"/>
              <a:t>gehören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freigegebenen</a:t>
            </a:r>
            <a:r>
              <a:rPr dirty="0"/>
              <a:t>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Übung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 err="1"/>
              <a:t>Quellen</a:t>
            </a:r>
            <a:r>
              <a:rPr dirty="0"/>
              <a:t>: http://127.0.0.1:3000/</a:t>
            </a:r>
            <a:r>
              <a:rPr dirty="0" err="1"/>
              <a:t>main.js</a:t>
            </a:r>
            <a:r>
              <a:rPr dirty="0"/>
              <a:t> (</a:t>
            </a:r>
            <a:r>
              <a:rPr dirty="0" err="1"/>
              <a:t>ausgeliefertes</a:t>
            </a:r>
            <a:r>
              <a:rPr dirty="0"/>
              <a:t> Frontend der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Workshopinstanz</a:t>
            </a:r>
            <a:r>
              <a:rPr dirty="0"/>
              <a:t>, </a:t>
            </a:r>
            <a:r>
              <a:rPr dirty="0" err="1"/>
              <a:t>abgerufen</a:t>
            </a:r>
            <a:r>
              <a:rPr dirty="0"/>
              <a:t> am 18.09.2026); https://</a:t>
            </a:r>
            <a:r>
              <a:rPr dirty="0" err="1"/>
              <a:t>github.com</a:t>
            </a:r>
            <a:r>
              <a:rPr dirty="0"/>
              <a:t>/juice-shop/juice-shop/blob/v20.0.0/</a:t>
            </a:r>
            <a:r>
              <a:rPr dirty="0" err="1"/>
              <a:t>server.ts</a:t>
            </a:r>
            <a:endParaRPr dirty="0"/>
          </a:p>
          <a:p>
            <a:r>
              <a:rPr dirty="0"/>
              <a:t>Chrome/Edge: </a:t>
            </a:r>
            <a:r>
              <a:rPr dirty="0" err="1"/>
              <a:t>Entwicklertools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das </a:t>
            </a:r>
            <a:r>
              <a:rPr dirty="0" err="1"/>
              <a:t>Browsermenü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Strg+Umschalt+I</a:t>
            </a:r>
            <a:r>
              <a:rPr dirty="0"/>
              <a:t> (macOS: </a:t>
            </a:r>
            <a:r>
              <a:rPr dirty="0" err="1"/>
              <a:t>Cmd+Option+I</a:t>
            </a:r>
            <a:r>
              <a:rPr dirty="0"/>
              <a:t>) </a:t>
            </a:r>
            <a:r>
              <a:rPr dirty="0" err="1"/>
              <a:t>öffnen</a:t>
            </a:r>
            <a:r>
              <a:rPr dirty="0"/>
              <a:t>. Network/</a:t>
            </a:r>
            <a:r>
              <a:rPr dirty="0" err="1"/>
              <a:t>Netzwerk</a:t>
            </a:r>
            <a:r>
              <a:rPr dirty="0"/>
              <a:t> </a:t>
            </a:r>
            <a:r>
              <a:rPr dirty="0" err="1"/>
              <a:t>auswählen</a:t>
            </a:r>
            <a:r>
              <a:rPr dirty="0"/>
              <a:t>, Fetch/XHR </a:t>
            </a:r>
            <a:r>
              <a:rPr dirty="0" err="1"/>
              <a:t>filtern</a:t>
            </a:r>
            <a:r>
              <a:rPr dirty="0"/>
              <a:t>, </a:t>
            </a:r>
            <a:r>
              <a:rPr dirty="0" err="1"/>
              <a:t>dann</a:t>
            </a:r>
            <a:r>
              <a:rPr dirty="0"/>
              <a:t> die </a:t>
            </a:r>
            <a:r>
              <a:rPr dirty="0" err="1"/>
              <a:t>Seite</a:t>
            </a:r>
            <a:r>
              <a:rPr dirty="0"/>
              <a:t> neu laden und </a:t>
            </a:r>
            <a:r>
              <a:rPr dirty="0" err="1"/>
              <a:t>nach</a:t>
            </a:r>
            <a:r>
              <a:rPr dirty="0"/>
              <a:t> O-Saft </a:t>
            </a:r>
            <a:r>
              <a:rPr dirty="0" err="1"/>
              <a:t>suchen</a:t>
            </a:r>
            <a:r>
              <a:rPr dirty="0"/>
              <a:t>. Den Request /rest/products/</a:t>
            </a:r>
            <a:r>
              <a:rPr dirty="0" err="1"/>
              <a:t>search?q</a:t>
            </a:r>
            <a:r>
              <a:rPr dirty="0"/>
              <a:t>=O-Saft </a:t>
            </a:r>
            <a:r>
              <a:rPr dirty="0" err="1"/>
              <a:t>öffnen</a:t>
            </a:r>
            <a:r>
              <a:rPr dirty="0"/>
              <a:t>. Headers </a:t>
            </a:r>
            <a:r>
              <a:rPr dirty="0" err="1"/>
              <a:t>zeigt</a:t>
            </a:r>
            <a:r>
              <a:rPr dirty="0"/>
              <a:t> URL und GET, Preview/Response das data-Array </a:t>
            </a:r>
            <a:r>
              <a:rPr dirty="0" err="1"/>
              <a:t>samt</a:t>
            </a:r>
            <a:r>
              <a:rPr dirty="0"/>
              <a:t> id und description. Die ID 9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Standarddatensatz</a:t>
            </a:r>
            <a:r>
              <a:rPr dirty="0"/>
              <a:t> </a:t>
            </a:r>
            <a:r>
              <a:rPr dirty="0" err="1"/>
              <a:t>beobachtet</a:t>
            </a:r>
            <a:r>
              <a:rPr dirty="0"/>
              <a:t>, </a:t>
            </a:r>
            <a:r>
              <a:rPr dirty="0" err="1"/>
              <a:t>sie</a:t>
            </a:r>
            <a:r>
              <a:rPr dirty="0"/>
              <a:t> muss </a:t>
            </a:r>
            <a:r>
              <a:rPr dirty="0" err="1"/>
              <a:t>aus</a:t>
            </a:r>
            <a:r>
              <a:rPr dirty="0"/>
              <a:t> der </a:t>
            </a:r>
            <a:r>
              <a:rPr dirty="0" err="1"/>
              <a:t>eigenen</a:t>
            </a:r>
            <a:r>
              <a:rPr dirty="0"/>
              <a:t> </a:t>
            </a:r>
            <a:r>
              <a:rPr dirty="0" err="1"/>
              <a:t>Antwort</a:t>
            </a:r>
            <a:r>
              <a:rPr dirty="0"/>
              <a:t> </a:t>
            </a:r>
            <a:r>
              <a:rPr dirty="0" err="1"/>
              <a:t>übernommen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 Beim </a:t>
            </a:r>
            <a:r>
              <a:rPr dirty="0" err="1"/>
              <a:t>Öffnen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</a:t>
            </a:r>
            <a:r>
              <a:rPr dirty="0" err="1"/>
              <a:t>Produktdialogs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weitere</a:t>
            </a:r>
            <a:r>
              <a:rPr dirty="0"/>
              <a:t> Requests, </a:t>
            </a:r>
            <a:r>
              <a:rPr dirty="0" err="1"/>
              <a:t>etwa</a:t>
            </a:r>
            <a:r>
              <a:rPr dirty="0"/>
              <a:t> /rest/products/9/reviews, </a:t>
            </a:r>
            <a:r>
              <a:rPr dirty="0" err="1"/>
              <a:t>erscheinen</a:t>
            </a:r>
            <a:r>
              <a:rPr dirty="0"/>
              <a:t>. Ein Review-</a:t>
            </a:r>
            <a:r>
              <a:rPr dirty="0" err="1"/>
              <a:t>Endpunkt</a:t>
            </a:r>
            <a:r>
              <a:rPr dirty="0"/>
              <a:t> </a:t>
            </a:r>
            <a:r>
              <a:rPr dirty="0" err="1"/>
              <a:t>bearbeitet</a:t>
            </a:r>
            <a:r>
              <a:rPr dirty="0"/>
              <a:t> </a:t>
            </a:r>
            <a:r>
              <a:rPr dirty="0" err="1"/>
              <a:t>Rezensionen</a:t>
            </a:r>
            <a:r>
              <a:rPr dirty="0"/>
              <a:t> und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Beleg</a:t>
            </a:r>
            <a:r>
              <a:rPr dirty="0"/>
              <a:t> für </a:t>
            </a:r>
            <a:r>
              <a:rPr dirty="0" err="1"/>
              <a:t>Produktänderungen</a:t>
            </a:r>
            <a:r>
              <a:rPr dirty="0"/>
              <a:t>. #/search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Frontendroute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Browser. Der URL-Teil </a:t>
            </a:r>
            <a:r>
              <a:rPr dirty="0" err="1"/>
              <a:t>nach</a:t>
            </a:r>
            <a:r>
              <a:rPr dirty="0"/>
              <a:t> # </a:t>
            </a:r>
            <a:r>
              <a:rPr dirty="0" err="1"/>
              <a:t>wird</a:t>
            </a:r>
            <a:r>
              <a:rPr dirty="0"/>
              <a:t> nicht </a:t>
            </a:r>
            <a:r>
              <a:rPr dirty="0" err="1"/>
              <a:t>als</a:t>
            </a:r>
            <a:r>
              <a:rPr dirty="0"/>
              <a:t> HTTP-</a:t>
            </a:r>
            <a:r>
              <a:rPr dirty="0" err="1"/>
              <a:t>Pfad</a:t>
            </a:r>
            <a:r>
              <a:rPr dirty="0"/>
              <a:t> an den Server </a:t>
            </a:r>
            <a:r>
              <a:rPr dirty="0" err="1"/>
              <a:t>gesendet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Quellen</a:t>
            </a:r>
            <a:r>
              <a:rPr dirty="0"/>
              <a:t>: http://127.0.0.1:3000/</a:t>
            </a:r>
            <a:r>
              <a:rPr dirty="0" err="1"/>
              <a:t>main.js</a:t>
            </a:r>
            <a:r>
              <a:rPr dirty="0"/>
              <a:t> (</a:t>
            </a:r>
            <a:r>
              <a:rPr dirty="0" err="1"/>
              <a:t>ausgeliefertes</a:t>
            </a:r>
            <a:r>
              <a:rPr dirty="0"/>
              <a:t> Frontend der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Workshopinstanz</a:t>
            </a:r>
            <a:r>
              <a:rPr dirty="0"/>
              <a:t>, </a:t>
            </a:r>
            <a:r>
              <a:rPr dirty="0" err="1"/>
              <a:t>abgerufen</a:t>
            </a:r>
            <a:r>
              <a:rPr dirty="0"/>
              <a:t> am 18.09.2026); https://</a:t>
            </a:r>
            <a:r>
              <a:rPr dirty="0" err="1"/>
              <a:t>github.com</a:t>
            </a:r>
            <a:r>
              <a:rPr dirty="0"/>
              <a:t>/juice-shop/juice-shop/blob/v20.0.0/</a:t>
            </a:r>
            <a:r>
              <a:rPr dirty="0" err="1"/>
              <a:t>server.ts</a:t>
            </a:r>
            <a:endParaRPr dirty="0"/>
          </a:p>
          <a:p>
            <a:r>
              <a:rPr dirty="0"/>
              <a:t>Der </a:t>
            </a:r>
            <a:r>
              <a:rPr dirty="0" err="1"/>
              <a:t>Netzwerkrequest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Suche</a:t>
            </a:r>
            <a:r>
              <a:rPr dirty="0"/>
              <a:t> </a:t>
            </a:r>
            <a:r>
              <a:rPr dirty="0" err="1"/>
              <a:t>lautet</a:t>
            </a:r>
            <a:r>
              <a:rPr dirty="0"/>
              <a:t> /rest/products/search. </a:t>
            </a:r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allein</a:t>
            </a:r>
            <a:r>
              <a:rPr dirty="0"/>
              <a:t> </a:t>
            </a:r>
            <a:r>
              <a:rPr dirty="0" err="1"/>
              <a:t>folgt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Schreibendpunkt</a:t>
            </a:r>
            <a:r>
              <a:rPr dirty="0"/>
              <a:t>. </a:t>
            </a:r>
            <a:r>
              <a:rPr dirty="0" err="1"/>
              <a:t>Im</a:t>
            </a:r>
            <a:r>
              <a:rPr dirty="0"/>
              <a:t> Network-Tab auf JS </a:t>
            </a:r>
            <a:r>
              <a:rPr dirty="0" err="1"/>
              <a:t>wechseln</a:t>
            </a:r>
            <a:r>
              <a:rPr dirty="0"/>
              <a:t> und </a:t>
            </a:r>
            <a:r>
              <a:rPr dirty="0" err="1"/>
              <a:t>main.js</a:t>
            </a:r>
            <a:r>
              <a:rPr dirty="0"/>
              <a:t> </a:t>
            </a:r>
            <a:r>
              <a:rPr dirty="0" err="1"/>
              <a:t>öffnen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Sources/</a:t>
            </a:r>
            <a:r>
              <a:rPr dirty="0" err="1"/>
              <a:t>Quellen</a:t>
            </a:r>
            <a:r>
              <a:rPr dirty="0"/>
              <a:t> die </a:t>
            </a:r>
            <a:r>
              <a:rPr dirty="0" err="1"/>
              <a:t>geladenen</a:t>
            </a:r>
            <a:r>
              <a:rPr dirty="0"/>
              <a:t> </a:t>
            </a:r>
            <a:r>
              <a:rPr dirty="0" err="1"/>
              <a:t>Dateien</a:t>
            </a:r>
            <a:r>
              <a:rPr dirty="0"/>
              <a:t> </a:t>
            </a:r>
            <a:r>
              <a:rPr dirty="0" err="1"/>
              <a:t>durchsuchen</a:t>
            </a:r>
            <a:r>
              <a:rPr dirty="0"/>
              <a:t>. </a:t>
            </a:r>
            <a:r>
              <a:rPr dirty="0" err="1"/>
              <a:t>Strg+Umschalt+F</a:t>
            </a:r>
            <a:r>
              <a:rPr dirty="0"/>
              <a:t> </a:t>
            </a:r>
            <a:r>
              <a:rPr dirty="0" err="1"/>
              <a:t>bzw</a:t>
            </a:r>
            <a:r>
              <a:rPr dirty="0"/>
              <a:t>. </a:t>
            </a:r>
            <a:r>
              <a:rPr dirty="0" err="1"/>
              <a:t>Cmd+Option+F</a:t>
            </a:r>
            <a:r>
              <a:rPr dirty="0"/>
              <a:t> </a:t>
            </a:r>
            <a:r>
              <a:rPr dirty="0" err="1"/>
              <a:t>sucht</a:t>
            </a:r>
            <a:r>
              <a:rPr dirty="0"/>
              <a:t> in den </a:t>
            </a:r>
            <a:r>
              <a:rPr dirty="0" err="1"/>
              <a:t>geladenen</a:t>
            </a:r>
            <a:r>
              <a:rPr dirty="0"/>
              <a:t> </a:t>
            </a:r>
            <a:r>
              <a:rPr dirty="0" err="1"/>
              <a:t>Quelldateien</a:t>
            </a:r>
            <a:r>
              <a:rPr dirty="0"/>
              <a:t>. Nach dem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Netzwerk</a:t>
            </a:r>
            <a:r>
              <a:rPr dirty="0"/>
              <a:t> </a:t>
            </a:r>
            <a:r>
              <a:rPr dirty="0" err="1"/>
              <a:t>beobachteten</a:t>
            </a:r>
            <a:r>
              <a:rPr dirty="0"/>
              <a:t> </a:t>
            </a:r>
            <a:r>
              <a:rPr dirty="0" err="1"/>
              <a:t>Pfad</a:t>
            </a:r>
            <a:r>
              <a:rPr dirty="0"/>
              <a:t> products/search </a:t>
            </a:r>
            <a:r>
              <a:rPr dirty="0" err="1"/>
              <a:t>suchen</a:t>
            </a:r>
            <a:r>
              <a:rPr dirty="0"/>
              <a:t> und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Bedarf</a:t>
            </a:r>
            <a:r>
              <a:rPr dirty="0"/>
              <a:t> die {}-</a:t>
            </a:r>
            <a:r>
              <a:rPr dirty="0" err="1"/>
              <a:t>Schaltfläche</a:t>
            </a:r>
            <a:r>
              <a:rPr dirty="0"/>
              <a:t> für Pretty Print </a:t>
            </a:r>
            <a:r>
              <a:rPr dirty="0" err="1"/>
              <a:t>verwenden</a:t>
            </a:r>
            <a:r>
              <a:rPr dirty="0"/>
              <a:t>. Die </a:t>
            </a:r>
            <a:r>
              <a:rPr dirty="0" err="1"/>
              <a:t>zugehörige</a:t>
            </a:r>
            <a:r>
              <a:rPr dirty="0"/>
              <a:t> </a:t>
            </a:r>
            <a:r>
              <a:rPr dirty="0" err="1"/>
              <a:t>Suchfunktion</a:t>
            </a:r>
            <a:r>
              <a:rPr dirty="0"/>
              <a:t> </a:t>
            </a:r>
            <a:r>
              <a:rPr dirty="0" err="1"/>
              <a:t>steht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selben</a:t>
            </a:r>
            <a:r>
              <a:rPr dirty="0"/>
              <a:t> </a:t>
            </a:r>
            <a:r>
              <a:rPr dirty="0" err="1"/>
              <a:t>Produktservice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host und put. So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Ausgangspunkt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beobachteter</a:t>
            </a:r>
            <a:r>
              <a:rPr dirty="0"/>
              <a:t> Request und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vorab</a:t>
            </a:r>
            <a:r>
              <a:rPr dirty="0"/>
              <a:t> </a:t>
            </a:r>
            <a:r>
              <a:rPr dirty="0" err="1"/>
              <a:t>bekannter</a:t>
            </a:r>
            <a:r>
              <a:rPr dirty="0"/>
              <a:t> API-</a:t>
            </a:r>
            <a:r>
              <a:rPr dirty="0" err="1"/>
              <a:t>Pfad</a:t>
            </a:r>
            <a:r>
              <a:rPr dirty="0"/>
              <a:t>.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ausgelieferten</a:t>
            </a:r>
            <a:r>
              <a:rPr dirty="0"/>
              <a:t> </a:t>
            </a:r>
            <a:r>
              <a:rPr dirty="0" err="1"/>
              <a:t>Produktservice</a:t>
            </a:r>
            <a:r>
              <a:rPr dirty="0"/>
              <a:t> </a:t>
            </a:r>
            <a:r>
              <a:rPr dirty="0" err="1"/>
              <a:t>steht</a:t>
            </a:r>
            <a:r>
              <a:rPr dirty="0"/>
              <a:t> host=</a:t>
            </a:r>
            <a:r>
              <a:rPr dirty="0" err="1"/>
              <a:t>this.hostServer</a:t>
            </a:r>
            <a:r>
              <a:rPr dirty="0"/>
              <a:t>+"/</a:t>
            </a:r>
            <a:r>
              <a:rPr dirty="0" err="1"/>
              <a:t>api</a:t>
            </a:r>
            <a:r>
              <a:rPr dirty="0"/>
              <a:t>/Products". Die </a:t>
            </a:r>
            <a:r>
              <a:rPr dirty="0" err="1"/>
              <a:t>Funktion</a:t>
            </a:r>
            <a:r>
              <a:rPr dirty="0"/>
              <a:t> put(</a:t>
            </a:r>
            <a:r>
              <a:rPr dirty="0" err="1"/>
              <a:t>e,i</a:t>
            </a:r>
            <a:r>
              <a:rPr dirty="0"/>
              <a:t>) </a:t>
            </a:r>
            <a:r>
              <a:rPr dirty="0" err="1"/>
              <a:t>ruft</a:t>
            </a:r>
            <a:r>
              <a:rPr dirty="0"/>
              <a:t> </a:t>
            </a:r>
            <a:r>
              <a:rPr dirty="0" err="1"/>
              <a:t>this.http.put</a:t>
            </a:r>
            <a:r>
              <a:rPr dirty="0"/>
              <a:t>(`${</a:t>
            </a:r>
            <a:r>
              <a:rPr dirty="0" err="1"/>
              <a:t>this.host</a:t>
            </a:r>
            <a:r>
              <a:rPr dirty="0"/>
              <a:t>}/${e}`,</a:t>
            </a:r>
            <a:r>
              <a:rPr dirty="0" err="1"/>
              <a:t>i</a:t>
            </a:r>
            <a:r>
              <a:rPr dirty="0"/>
              <a:t>) auf. e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Produkt</a:t>
            </a:r>
            <a:r>
              <a:rPr dirty="0"/>
              <a:t>-ID, </a:t>
            </a:r>
            <a:r>
              <a:rPr dirty="0" err="1"/>
              <a:t>i</a:t>
            </a:r>
            <a:r>
              <a:rPr dirty="0"/>
              <a:t> der Request-Body. Die .pipe(...) </a:t>
            </a:r>
            <a:r>
              <a:rPr dirty="0" err="1"/>
              <a:t>Nachverarbeitung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auf der Folie </a:t>
            </a:r>
            <a:r>
              <a:rPr dirty="0" err="1"/>
              <a:t>ausgelassen</a:t>
            </a:r>
            <a:r>
              <a:rPr dirty="0"/>
              <a:t>. Der Dateiname </a:t>
            </a:r>
            <a:r>
              <a:rPr dirty="0" err="1"/>
              <a:t>main.js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in </a:t>
            </a:r>
            <a:r>
              <a:rPr dirty="0" err="1"/>
              <a:t>anderen</a:t>
            </a:r>
            <a:r>
              <a:rPr dirty="0"/>
              <a:t> Builds </a:t>
            </a:r>
            <a:r>
              <a:rPr dirty="0" err="1"/>
              <a:t>einen</a:t>
            </a:r>
            <a:r>
              <a:rPr dirty="0"/>
              <a:t> Hash </a:t>
            </a:r>
            <a:r>
              <a:rPr dirty="0" err="1"/>
              <a:t>tragen</a:t>
            </a:r>
            <a:r>
              <a:rPr dirty="0"/>
              <a:t>. Der Code </a:t>
            </a:r>
            <a:r>
              <a:rPr dirty="0" err="1"/>
              <a:t>macht</a:t>
            </a:r>
            <a:r>
              <a:rPr dirty="0"/>
              <a:t> PUT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begründeten</a:t>
            </a:r>
            <a:r>
              <a:rPr dirty="0"/>
              <a:t> </a:t>
            </a:r>
            <a:r>
              <a:rPr dirty="0" err="1"/>
              <a:t>Kandidaten</a:t>
            </a:r>
            <a:r>
              <a:rPr dirty="0"/>
              <a:t>, die HTTP-</a:t>
            </a:r>
            <a:r>
              <a:rPr dirty="0" err="1"/>
              <a:t>Antwort</a:t>
            </a:r>
            <a:r>
              <a:rPr dirty="0"/>
              <a:t> </a:t>
            </a:r>
            <a:r>
              <a:rPr dirty="0" err="1"/>
              <a:t>bestätigt</a:t>
            </a:r>
            <a:r>
              <a:rPr dirty="0"/>
              <a:t> erst </a:t>
            </a:r>
            <a:r>
              <a:rPr dirty="0" err="1"/>
              <a:t>dessen</a:t>
            </a:r>
            <a:r>
              <a:rPr dirty="0"/>
              <a:t> </a:t>
            </a:r>
            <a:r>
              <a:rPr dirty="0" err="1"/>
              <a:t>tatsächliches</a:t>
            </a:r>
            <a:r>
              <a:rPr dirty="0"/>
              <a:t> </a:t>
            </a:r>
            <a:r>
              <a:rPr dirty="0" err="1"/>
              <a:t>Verhalten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/>
              <a:t>Die </a:t>
            </a:r>
            <a:r>
              <a:rPr dirty="0" err="1"/>
              <a:t>folgenden</a:t>
            </a:r>
            <a:r>
              <a:rPr dirty="0"/>
              <a:t> JavaScript-</a:t>
            </a:r>
            <a:r>
              <a:rPr dirty="0" err="1"/>
              <a:t>Blöcke</a:t>
            </a:r>
            <a:r>
              <a:rPr dirty="0"/>
              <a:t> </a:t>
            </a:r>
            <a:r>
              <a:rPr dirty="0" err="1"/>
              <a:t>nacheinander</a:t>
            </a:r>
            <a:r>
              <a:rPr dirty="0"/>
              <a:t> in </a:t>
            </a:r>
            <a:r>
              <a:rPr dirty="0" err="1"/>
              <a:t>derselben</a:t>
            </a:r>
            <a:r>
              <a:rPr dirty="0"/>
              <a:t> </a:t>
            </a:r>
            <a:r>
              <a:rPr dirty="0" err="1"/>
              <a:t>DevTools-Konsole</a:t>
            </a:r>
            <a:r>
              <a:rPr dirty="0"/>
              <a:t> der </a:t>
            </a:r>
            <a:r>
              <a:rPr dirty="0" err="1"/>
              <a:t>geöffneten</a:t>
            </a:r>
            <a:r>
              <a:rPr dirty="0"/>
              <a:t> </a:t>
            </a:r>
            <a:r>
              <a:rPr dirty="0" err="1"/>
              <a:t>lokalen</a:t>
            </a:r>
            <a:r>
              <a:rPr dirty="0"/>
              <a:t> Juice-Shop-</a:t>
            </a:r>
            <a:r>
              <a:rPr dirty="0" err="1"/>
              <a:t>Seite</a:t>
            </a:r>
            <a:r>
              <a:rPr dirty="0"/>
              <a:t> </a:t>
            </a:r>
            <a:r>
              <a:rPr dirty="0" err="1"/>
              <a:t>ausführen</a:t>
            </a:r>
            <a:r>
              <a:rPr dirty="0"/>
              <a:t>. Keine </a:t>
            </a:r>
            <a:r>
              <a:rPr dirty="0" err="1"/>
              <a:t>weitere</a:t>
            </a:r>
            <a:r>
              <a:rPr dirty="0"/>
              <a:t> </a:t>
            </a:r>
            <a:r>
              <a:rPr dirty="0" err="1"/>
              <a:t>Bibliothek</a:t>
            </a:r>
            <a:r>
              <a:rPr dirty="0"/>
              <a:t> </a:t>
            </a:r>
            <a:r>
              <a:rPr dirty="0" err="1"/>
              <a:t>erforderlich</a:t>
            </a:r>
            <a:r>
              <a:rPr dirty="0"/>
              <a:t>. fetch </a:t>
            </a:r>
            <a:r>
              <a:rPr dirty="0" err="1"/>
              <a:t>sendet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HTTP-Anfrage, </a:t>
            </a:r>
            <a:r>
              <a:rPr dirty="0" err="1"/>
              <a:t>json</a:t>
            </a:r>
            <a:r>
              <a:rPr dirty="0"/>
              <a:t>() </a:t>
            </a:r>
            <a:r>
              <a:rPr dirty="0" err="1"/>
              <a:t>liest</a:t>
            </a:r>
            <a:r>
              <a:rPr dirty="0"/>
              <a:t> den JSON-</a:t>
            </a:r>
            <a:r>
              <a:rPr dirty="0" err="1"/>
              <a:t>Antwortkörper</a:t>
            </a:r>
            <a:r>
              <a:rPr dirty="0"/>
              <a:t>. Relative </a:t>
            </a:r>
            <a:r>
              <a:rPr dirty="0" err="1"/>
              <a:t>Pfade</a:t>
            </a:r>
            <a:r>
              <a:rPr dirty="0"/>
              <a:t> </a:t>
            </a:r>
            <a:r>
              <a:rPr dirty="0" err="1"/>
              <a:t>verwenden</a:t>
            </a:r>
            <a:r>
              <a:rPr dirty="0"/>
              <a:t> die Basis-URL des </a:t>
            </a:r>
            <a:r>
              <a:rPr dirty="0" err="1"/>
              <a:t>geöffneten</a:t>
            </a:r>
            <a:r>
              <a:rPr dirty="0"/>
              <a:t> Shops, </a:t>
            </a:r>
            <a:r>
              <a:rPr dirty="0" err="1"/>
              <a:t>im</a:t>
            </a:r>
            <a:r>
              <a:rPr dirty="0"/>
              <a:t> Workshop http://127.0.0.1:3000. /</a:t>
            </a:r>
            <a:r>
              <a:rPr dirty="0" err="1"/>
              <a:t>api</a:t>
            </a:r>
            <a:r>
              <a:rPr dirty="0"/>
              <a:t>/Products </a:t>
            </a:r>
            <a:r>
              <a:rPr dirty="0" err="1"/>
              <a:t>gibt</a:t>
            </a:r>
            <a:r>
              <a:rPr dirty="0"/>
              <a:t> die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data </a:t>
            </a:r>
            <a:r>
              <a:rPr dirty="0" err="1"/>
              <a:t>zurück</a:t>
            </a:r>
            <a:r>
              <a:rPr dirty="0"/>
              <a:t>. find </a:t>
            </a:r>
            <a:r>
              <a:rPr dirty="0" err="1"/>
              <a:t>wählt</a:t>
            </a:r>
            <a:r>
              <a:rPr dirty="0"/>
              <a:t> das Ziel </a:t>
            </a:r>
            <a:r>
              <a:rPr dirty="0" err="1"/>
              <a:t>anhand</a:t>
            </a:r>
            <a:r>
              <a:rPr dirty="0"/>
              <a:t> des </a:t>
            </a:r>
            <a:r>
              <a:rPr dirty="0" err="1"/>
              <a:t>vollständigen</a:t>
            </a:r>
            <a:r>
              <a:rPr dirty="0"/>
              <a:t> </a:t>
            </a:r>
            <a:r>
              <a:rPr dirty="0" err="1"/>
              <a:t>Namens</a:t>
            </a:r>
            <a:r>
              <a:rPr dirty="0"/>
              <a:t>. Vor dem </a:t>
            </a:r>
            <a:r>
              <a:rPr dirty="0" err="1"/>
              <a:t>nächsten</a:t>
            </a:r>
            <a:r>
              <a:rPr dirty="0"/>
              <a:t> Block </a:t>
            </a:r>
            <a:r>
              <a:rPr dirty="0" err="1"/>
              <a:t>prüfen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product </a:t>
            </a:r>
            <a:r>
              <a:rPr dirty="0" err="1"/>
              <a:t>existiert</a:t>
            </a:r>
            <a:r>
              <a:rPr dirty="0"/>
              <a:t> und before das </a:t>
            </a:r>
            <a:r>
              <a:rPr dirty="0" err="1"/>
              <a:t>erwartete</a:t>
            </a:r>
            <a:r>
              <a:rPr dirty="0"/>
              <a:t> </a:t>
            </a:r>
            <a:r>
              <a:rPr dirty="0" err="1"/>
              <a:t>Produkt</a:t>
            </a:r>
            <a:r>
              <a:rPr dirty="0"/>
              <a:t> </a:t>
            </a:r>
            <a:r>
              <a:rPr dirty="0" err="1"/>
              <a:t>enthält</a:t>
            </a:r>
            <a:r>
              <a:rPr dirty="0"/>
              <a:t>. endpoint </a:t>
            </a:r>
            <a:r>
              <a:rPr dirty="0" err="1"/>
              <a:t>übernimmt</a:t>
            </a:r>
            <a:r>
              <a:rPr dirty="0"/>
              <a:t> die </a:t>
            </a:r>
            <a:r>
              <a:rPr dirty="0" err="1"/>
              <a:t>tatsächliche</a:t>
            </a:r>
            <a:r>
              <a:rPr dirty="0"/>
              <a:t> ID. before </a:t>
            </a:r>
            <a:r>
              <a:rPr dirty="0" err="1"/>
              <a:t>hält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Kopie</a:t>
            </a:r>
            <a:r>
              <a:rPr dirty="0"/>
              <a:t> des </a:t>
            </a:r>
            <a:r>
              <a:rPr dirty="0" err="1"/>
              <a:t>Ausgangszustands</a:t>
            </a:r>
            <a:r>
              <a:rPr dirty="0"/>
              <a:t>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Vergleich</a:t>
            </a:r>
            <a:r>
              <a:rPr dirty="0"/>
              <a:t>. Ein </a:t>
            </a:r>
            <a:r>
              <a:rPr dirty="0" err="1"/>
              <a:t>erneutes</a:t>
            </a:r>
            <a:r>
              <a:rPr dirty="0"/>
              <a:t> </a:t>
            </a:r>
            <a:r>
              <a:rPr dirty="0" err="1"/>
              <a:t>Ausführen</a:t>
            </a:r>
            <a:r>
              <a:rPr dirty="0"/>
              <a:t> </a:t>
            </a:r>
            <a:r>
              <a:rPr dirty="0" err="1"/>
              <a:t>derselben</a:t>
            </a:r>
            <a:r>
              <a:rPr dirty="0"/>
              <a:t> const-</a:t>
            </a:r>
            <a:r>
              <a:rPr dirty="0" err="1"/>
              <a:t>Deklarationen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in der </a:t>
            </a:r>
            <a:r>
              <a:rPr dirty="0" err="1"/>
              <a:t>Konsole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Redeclaration-Fehler </a:t>
            </a:r>
            <a:r>
              <a:rPr dirty="0" err="1"/>
              <a:t>erzeugen</a:t>
            </a:r>
            <a:r>
              <a:rPr dirty="0"/>
              <a:t>. Dann </a:t>
            </a:r>
            <a:r>
              <a:rPr dirty="0" err="1"/>
              <a:t>Seite</a:t>
            </a:r>
            <a:r>
              <a:rPr dirty="0"/>
              <a:t> neu laden und die </a:t>
            </a:r>
            <a:r>
              <a:rPr dirty="0" err="1"/>
              <a:t>Blöcke</a:t>
            </a:r>
            <a:r>
              <a:rPr dirty="0"/>
              <a:t> ab </a:t>
            </a:r>
            <a:r>
              <a:rPr dirty="0" err="1"/>
              <a:t>dieser</a:t>
            </a:r>
            <a:r>
              <a:rPr dirty="0"/>
              <a:t> Folie </a:t>
            </a:r>
            <a:r>
              <a:rPr dirty="0" err="1"/>
              <a:t>erneut</a:t>
            </a:r>
            <a:r>
              <a:rPr dirty="0"/>
              <a:t> </a:t>
            </a:r>
            <a:r>
              <a:rPr dirty="0" err="1"/>
              <a:t>ausführen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 err="1"/>
              <a:t>oldHref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dem </a:t>
            </a:r>
            <a:r>
              <a:rPr dirty="0" err="1"/>
              <a:t>href</a:t>
            </a:r>
            <a:r>
              <a:rPr dirty="0"/>
              <a:t> des More...-Links in </a:t>
            </a:r>
            <a:r>
              <a:rPr dirty="0" err="1"/>
              <a:t>before.description</a:t>
            </a:r>
            <a:r>
              <a:rPr dirty="0"/>
              <a:t> </a:t>
            </a:r>
            <a:r>
              <a:rPr dirty="0" err="1"/>
              <a:t>übernommen</a:t>
            </a:r>
            <a:r>
              <a:rPr dirty="0"/>
              <a:t>. Der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gezeigte</a:t>
            </a:r>
            <a:r>
              <a:rPr dirty="0"/>
              <a:t> Wert </a:t>
            </a:r>
            <a:r>
              <a:rPr dirty="0" err="1"/>
              <a:t>stammt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dem </a:t>
            </a:r>
            <a:r>
              <a:rPr dirty="0" err="1"/>
              <a:t>Standarddatensatz</a:t>
            </a:r>
            <a:r>
              <a:rPr dirty="0"/>
              <a:t> von Juice Shop v20.0.0 und </a:t>
            </a:r>
            <a:r>
              <a:rPr dirty="0" err="1"/>
              <a:t>wurde</a:t>
            </a:r>
            <a:r>
              <a:rPr dirty="0"/>
              <a:t> an der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Instanz</a:t>
            </a:r>
            <a:r>
              <a:rPr dirty="0"/>
              <a:t> </a:t>
            </a:r>
            <a:r>
              <a:rPr dirty="0" err="1"/>
              <a:t>gelesen</a:t>
            </a:r>
            <a:r>
              <a:rPr dirty="0"/>
              <a:t>. Bei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anderen</a:t>
            </a:r>
            <a:r>
              <a:rPr dirty="0"/>
              <a:t> </a:t>
            </a:r>
            <a:r>
              <a:rPr dirty="0" err="1"/>
              <a:t>Antwort</a:t>
            </a:r>
            <a:r>
              <a:rPr dirty="0"/>
              <a:t> den Wert </a:t>
            </a:r>
            <a:r>
              <a:rPr dirty="0" err="1"/>
              <a:t>entsprechend</a:t>
            </a:r>
            <a:r>
              <a:rPr dirty="0"/>
              <a:t> </a:t>
            </a:r>
            <a:r>
              <a:rPr dirty="0" err="1"/>
              <a:t>anpassen</a:t>
            </a:r>
            <a:r>
              <a:rPr dirty="0"/>
              <a:t>. replace </a:t>
            </a:r>
            <a:r>
              <a:rPr dirty="0" err="1"/>
              <a:t>tauscht</a:t>
            </a:r>
            <a:r>
              <a:rPr dirty="0"/>
              <a:t> </a:t>
            </a:r>
            <a:r>
              <a:rPr dirty="0" err="1"/>
              <a:t>ausschließlich</a:t>
            </a:r>
            <a:r>
              <a:rPr dirty="0"/>
              <a:t> das </a:t>
            </a:r>
            <a:r>
              <a:rPr dirty="0" err="1"/>
              <a:t>entsprechende</a:t>
            </a:r>
            <a:r>
              <a:rPr dirty="0"/>
              <a:t> </a:t>
            </a:r>
            <a:r>
              <a:rPr dirty="0" err="1"/>
              <a:t>href-Attribut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, </a:t>
            </a:r>
            <a:r>
              <a:rPr dirty="0" err="1"/>
              <a:t>ohne</a:t>
            </a:r>
            <a:r>
              <a:rPr dirty="0"/>
              <a:t> HTML neu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serialisieren</a:t>
            </a:r>
            <a:r>
              <a:rPr dirty="0"/>
              <a:t>. Der </a:t>
            </a:r>
            <a:r>
              <a:rPr dirty="0" err="1"/>
              <a:t>übrige</a:t>
            </a:r>
            <a:r>
              <a:rPr dirty="0"/>
              <a:t> </a:t>
            </a:r>
            <a:r>
              <a:rPr dirty="0" err="1"/>
              <a:t>Beschreibungstext</a:t>
            </a:r>
            <a:r>
              <a:rPr dirty="0"/>
              <a:t>, target="_blank" und More... </a:t>
            </a:r>
            <a:r>
              <a:rPr dirty="0" err="1"/>
              <a:t>bleiben</a:t>
            </a:r>
            <a:r>
              <a:rPr dirty="0"/>
              <a:t> </a:t>
            </a:r>
            <a:r>
              <a:rPr dirty="0" err="1"/>
              <a:t>exakt</a:t>
            </a:r>
            <a:r>
              <a:rPr dirty="0"/>
              <a:t> </a:t>
            </a:r>
            <a:r>
              <a:rPr dirty="0" err="1"/>
              <a:t>erhalten</a:t>
            </a:r>
            <a:r>
              <a:rPr dirty="0"/>
              <a:t>. Die </a:t>
            </a:r>
            <a:r>
              <a:rPr dirty="0" err="1"/>
              <a:t>Prüfung</a:t>
            </a:r>
            <a:r>
              <a:rPr dirty="0"/>
              <a:t> </a:t>
            </a:r>
            <a:r>
              <a:rPr dirty="0" err="1"/>
              <a:t>bricht</a:t>
            </a:r>
            <a:r>
              <a:rPr dirty="0"/>
              <a:t> ab, </a:t>
            </a:r>
            <a:r>
              <a:rPr dirty="0" err="1"/>
              <a:t>wenn</a:t>
            </a:r>
            <a:r>
              <a:rPr dirty="0"/>
              <a:t> der </a:t>
            </a:r>
            <a:r>
              <a:rPr dirty="0" err="1"/>
              <a:t>erwartete</a:t>
            </a:r>
            <a:r>
              <a:rPr dirty="0"/>
              <a:t> </a:t>
            </a:r>
            <a:r>
              <a:rPr dirty="0" err="1"/>
              <a:t>alte</a:t>
            </a:r>
            <a:r>
              <a:rPr dirty="0"/>
              <a:t> Link nicht </a:t>
            </a:r>
            <a:r>
              <a:rPr dirty="0" err="1"/>
              <a:t>vorkommt</a:t>
            </a:r>
            <a:r>
              <a:rPr dirty="0"/>
              <a:t>, </a:t>
            </a:r>
            <a:r>
              <a:rPr dirty="0" err="1"/>
              <a:t>beispielsweise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gelösten</a:t>
            </a:r>
            <a:r>
              <a:rPr dirty="0"/>
              <a:t> Challenge. description in der </a:t>
            </a:r>
            <a:r>
              <a:rPr dirty="0" err="1"/>
              <a:t>Konsole</a:t>
            </a:r>
            <a:r>
              <a:rPr dirty="0"/>
              <a:t> </a:t>
            </a:r>
            <a:r>
              <a:rPr dirty="0" err="1"/>
              <a:t>ansehen</a:t>
            </a:r>
            <a:r>
              <a:rPr dirty="0"/>
              <a:t>, bevor die PUT-</a:t>
            </a:r>
            <a:r>
              <a:rPr dirty="0" err="1"/>
              <a:t>Anfrage</a:t>
            </a:r>
            <a:r>
              <a:rPr dirty="0"/>
              <a:t> </a:t>
            </a:r>
            <a:r>
              <a:rPr dirty="0" err="1"/>
              <a:t>ausgeführt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 Die </a:t>
            </a:r>
            <a:r>
              <a:rPr dirty="0" err="1"/>
              <a:t>vollständige</a:t>
            </a:r>
            <a:r>
              <a:rPr dirty="0"/>
              <a:t> </a:t>
            </a:r>
            <a:r>
              <a:rPr dirty="0" err="1"/>
              <a:t>Beschreibung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übertragen</a:t>
            </a:r>
            <a:r>
              <a:rPr dirty="0"/>
              <a:t>, nicht </a:t>
            </a:r>
            <a:r>
              <a:rPr dirty="0" err="1"/>
              <a:t>nur</a:t>
            </a:r>
            <a:r>
              <a:rPr dirty="0"/>
              <a:t> die </a:t>
            </a:r>
            <a:r>
              <a:rPr dirty="0" err="1"/>
              <a:t>neue</a:t>
            </a:r>
            <a:r>
              <a:rPr dirty="0"/>
              <a:t>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 err="1"/>
              <a:t>Quellen</a:t>
            </a:r>
            <a:r>
              <a:rPr dirty="0"/>
              <a:t>: http://127.0.0.1:3000/</a:t>
            </a:r>
            <a:r>
              <a:rPr dirty="0" err="1"/>
              <a:t>main.js</a:t>
            </a:r>
            <a:r>
              <a:rPr dirty="0"/>
              <a:t> (</a:t>
            </a:r>
            <a:r>
              <a:rPr dirty="0" err="1"/>
              <a:t>ausgeliefertes</a:t>
            </a:r>
            <a:r>
              <a:rPr dirty="0"/>
              <a:t> Frontend der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Workshopinstanz</a:t>
            </a:r>
            <a:r>
              <a:rPr dirty="0"/>
              <a:t>, </a:t>
            </a:r>
            <a:r>
              <a:rPr dirty="0" err="1"/>
              <a:t>abgerufen</a:t>
            </a:r>
            <a:r>
              <a:rPr dirty="0"/>
              <a:t> am 18.09.2026); https://</a:t>
            </a:r>
            <a:r>
              <a:rPr dirty="0" err="1"/>
              <a:t>github.com</a:t>
            </a:r>
            <a:r>
              <a:rPr dirty="0"/>
              <a:t>/juice-shop/juice-shop/blob/v20.0.0/</a:t>
            </a:r>
            <a:r>
              <a:rPr dirty="0" err="1"/>
              <a:t>server.ts</a:t>
            </a:r>
            <a:endParaRPr dirty="0"/>
          </a:p>
          <a:p>
            <a:r>
              <a:rPr dirty="0"/>
              <a:t>response </a:t>
            </a:r>
            <a:r>
              <a:rPr dirty="0" err="1"/>
              <a:t>ist</a:t>
            </a:r>
            <a:r>
              <a:rPr dirty="0"/>
              <a:t> das HTTP-</a:t>
            </a:r>
            <a:r>
              <a:rPr dirty="0" err="1"/>
              <a:t>Antwortobjekt</a:t>
            </a:r>
            <a:r>
              <a:rPr dirty="0"/>
              <a:t>. Die </a:t>
            </a:r>
            <a:r>
              <a:rPr dirty="0" err="1"/>
              <a:t>Konsole</a:t>
            </a:r>
            <a:r>
              <a:rPr dirty="0"/>
              <a:t> </a:t>
            </a:r>
            <a:r>
              <a:rPr dirty="0" err="1"/>
              <a:t>zeigt</a:t>
            </a:r>
            <a:r>
              <a:rPr dirty="0"/>
              <a:t> </a:t>
            </a:r>
            <a:r>
              <a:rPr dirty="0" err="1"/>
              <a:t>Statuscode</a:t>
            </a:r>
            <a:r>
              <a:rPr dirty="0"/>
              <a:t> und JSON-</a:t>
            </a:r>
            <a:r>
              <a:rPr dirty="0" err="1"/>
              <a:t>Antwort</a:t>
            </a:r>
            <a:r>
              <a:rPr dirty="0"/>
              <a:t>.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verwundbaren</a:t>
            </a:r>
            <a:r>
              <a:rPr dirty="0"/>
              <a:t> Workshop-Build </a:t>
            </a:r>
            <a:r>
              <a:rPr dirty="0" err="1"/>
              <a:t>akzeptiert</a:t>
            </a:r>
            <a:r>
              <a:rPr dirty="0"/>
              <a:t> der </a:t>
            </a:r>
            <a:r>
              <a:rPr dirty="0" err="1"/>
              <a:t>Produktendpunkt</a:t>
            </a:r>
            <a:r>
              <a:rPr dirty="0"/>
              <a:t> PUT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JSON-Body, der </a:t>
            </a:r>
            <a:r>
              <a:rPr dirty="0" err="1"/>
              <a:t>nur</a:t>
            </a:r>
            <a:r>
              <a:rPr dirty="0"/>
              <a:t> das Feld description </a:t>
            </a:r>
            <a:r>
              <a:rPr dirty="0" err="1"/>
              <a:t>enthält</a:t>
            </a:r>
            <a:r>
              <a:rPr dirty="0"/>
              <a:t>. Andere </a:t>
            </a:r>
            <a:r>
              <a:rPr dirty="0" err="1"/>
              <a:t>fachliche</a:t>
            </a:r>
            <a:r>
              <a:rPr dirty="0"/>
              <a:t> Felder </a:t>
            </a:r>
            <a:r>
              <a:rPr dirty="0" err="1"/>
              <a:t>bleiben</a:t>
            </a:r>
            <a:r>
              <a:rPr dirty="0"/>
              <a:t> </a:t>
            </a:r>
            <a:r>
              <a:rPr dirty="0" err="1"/>
              <a:t>erhalten</a:t>
            </a:r>
            <a:r>
              <a:rPr dirty="0"/>
              <a:t>. Dieses </a:t>
            </a:r>
            <a:r>
              <a:rPr dirty="0" err="1"/>
              <a:t>Verhalten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geprüft</a:t>
            </a:r>
            <a:r>
              <a:rPr dirty="0"/>
              <a:t> und </a:t>
            </a:r>
            <a:r>
              <a:rPr dirty="0" err="1"/>
              <a:t>darf</a:t>
            </a:r>
            <a:r>
              <a:rPr dirty="0"/>
              <a:t> nicht </a:t>
            </a:r>
            <a:r>
              <a:rPr dirty="0" err="1"/>
              <a:t>pauschal</a:t>
            </a:r>
            <a:r>
              <a:rPr dirty="0"/>
              <a:t> für </a:t>
            </a:r>
            <a:r>
              <a:rPr dirty="0" err="1"/>
              <a:t>jede</a:t>
            </a:r>
            <a:r>
              <a:rPr dirty="0"/>
              <a:t> API </a:t>
            </a:r>
            <a:r>
              <a:rPr dirty="0" err="1"/>
              <a:t>angenommen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: PUT hat </a:t>
            </a:r>
            <a:r>
              <a:rPr dirty="0" err="1"/>
              <a:t>häufig</a:t>
            </a:r>
            <a:r>
              <a:rPr dirty="0"/>
              <a:t> </a:t>
            </a:r>
            <a:r>
              <a:rPr dirty="0" err="1"/>
              <a:t>Ersetzungssemantik</a:t>
            </a:r>
            <a:r>
              <a:rPr dirty="0"/>
              <a:t>. </a:t>
            </a:r>
            <a:r>
              <a:rPr dirty="0" err="1"/>
              <a:t>credentials:"omit</a:t>
            </a:r>
            <a:r>
              <a:rPr dirty="0"/>
              <a:t>" </a:t>
            </a:r>
            <a:r>
              <a:rPr dirty="0" err="1"/>
              <a:t>unterdrückt</a:t>
            </a:r>
            <a:r>
              <a:rPr dirty="0"/>
              <a:t> Browser-Cookies. Der </a:t>
            </a:r>
            <a:r>
              <a:rPr dirty="0" err="1"/>
              <a:t>Aufruf</a:t>
            </a:r>
            <a:r>
              <a:rPr dirty="0"/>
              <a:t> </a:t>
            </a:r>
            <a:r>
              <a:rPr dirty="0" err="1"/>
              <a:t>setzt</a:t>
            </a:r>
            <a:r>
              <a:rPr dirty="0"/>
              <a:t> </a:t>
            </a:r>
            <a:r>
              <a:rPr dirty="0" err="1"/>
              <a:t>keinen</a:t>
            </a:r>
            <a:r>
              <a:rPr dirty="0"/>
              <a:t> Authorization-Header und </a:t>
            </a:r>
            <a:r>
              <a:rPr dirty="0" err="1"/>
              <a:t>benötigt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Anmeldung</a:t>
            </a:r>
            <a:r>
              <a:rPr dirty="0"/>
              <a:t>. </a:t>
            </a:r>
            <a:r>
              <a:rPr dirty="0" err="1"/>
              <a:t>JSON.stringify</a:t>
            </a:r>
            <a:r>
              <a:rPr dirty="0"/>
              <a:t> </a:t>
            </a:r>
            <a:r>
              <a:rPr dirty="0" err="1"/>
              <a:t>serialisiert</a:t>
            </a:r>
            <a:r>
              <a:rPr dirty="0"/>
              <a:t> das JSON und </a:t>
            </a:r>
            <a:r>
              <a:rPr dirty="0" err="1"/>
              <a:t>maskiert</a:t>
            </a:r>
            <a:r>
              <a:rPr dirty="0"/>
              <a:t> die </a:t>
            </a:r>
            <a:r>
              <a:rPr dirty="0" err="1"/>
              <a:t>Anführungszeichen</a:t>
            </a:r>
            <a:r>
              <a:rPr dirty="0"/>
              <a:t> des HTML-</a:t>
            </a:r>
            <a:r>
              <a:rPr dirty="0" err="1"/>
              <a:t>Attributs</a:t>
            </a:r>
            <a:r>
              <a:rPr dirty="0"/>
              <a:t> </a:t>
            </a:r>
            <a:r>
              <a:rPr dirty="0" err="1"/>
              <a:t>korrekt</a:t>
            </a:r>
            <a:r>
              <a:rPr dirty="0"/>
              <a:t>. GET </a:t>
            </a:r>
            <a:r>
              <a:rPr dirty="0" err="1"/>
              <a:t>liest</a:t>
            </a:r>
            <a:r>
              <a:rPr dirty="0"/>
              <a:t>, PUT </a:t>
            </a:r>
            <a:r>
              <a:rPr dirty="0" err="1"/>
              <a:t>aktualisiert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die </a:t>
            </a:r>
            <a:r>
              <a:rPr dirty="0" err="1"/>
              <a:t>vorhandene</a:t>
            </a:r>
            <a:r>
              <a:rPr dirty="0"/>
              <a:t> </a:t>
            </a:r>
            <a:r>
              <a:rPr dirty="0" err="1"/>
              <a:t>Ressource</a:t>
            </a:r>
            <a:r>
              <a:rPr dirty="0"/>
              <a:t>. POST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austauschbar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PUT. </a:t>
            </a:r>
            <a:r>
              <a:rPr dirty="0" err="1"/>
              <a:t>Unmittelbar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der </a:t>
            </a:r>
            <a:r>
              <a:rPr dirty="0" err="1"/>
              <a:t>Antwort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keinen</a:t>
            </a:r>
            <a:r>
              <a:rPr dirty="0"/>
              <a:t> </a:t>
            </a:r>
            <a:r>
              <a:rPr dirty="0" err="1"/>
              <a:t>Erfolg</a:t>
            </a:r>
            <a:r>
              <a:rPr dirty="0"/>
              <a:t> </a:t>
            </a:r>
            <a:r>
              <a:rPr dirty="0" err="1"/>
              <a:t>behaupten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neuem</a:t>
            </a:r>
            <a:r>
              <a:rPr dirty="0"/>
              <a:t> GET und Scoreboard </a:t>
            </a:r>
            <a:r>
              <a:rPr dirty="0" err="1"/>
              <a:t>verifizieren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 err="1"/>
              <a:t>Zuerst</a:t>
            </a:r>
            <a:r>
              <a:rPr dirty="0"/>
              <a:t> </a:t>
            </a:r>
            <a:r>
              <a:rPr dirty="0" err="1"/>
              <a:t>unabhängig</a:t>
            </a:r>
            <a:r>
              <a:rPr dirty="0"/>
              <a:t> von der PUT-</a:t>
            </a:r>
            <a:r>
              <a:rPr dirty="0" err="1"/>
              <a:t>Antwort</a:t>
            </a:r>
            <a:r>
              <a:rPr dirty="0"/>
              <a:t> den </a:t>
            </a:r>
            <a:r>
              <a:rPr dirty="0" err="1"/>
              <a:t>Produktendpunkt</a:t>
            </a:r>
            <a:r>
              <a:rPr dirty="0"/>
              <a:t> </a:t>
            </a:r>
            <a:r>
              <a:rPr dirty="0" err="1"/>
              <a:t>erneut</a:t>
            </a:r>
            <a:r>
              <a:rPr dirty="0"/>
              <a:t> per GET </a:t>
            </a:r>
            <a:r>
              <a:rPr dirty="0" err="1"/>
              <a:t>lesen</a:t>
            </a:r>
            <a:r>
              <a:rPr dirty="0"/>
              <a:t>. </a:t>
            </a:r>
            <a:r>
              <a:rPr dirty="0" err="1"/>
              <a:t>cache:"no-store</a:t>
            </a:r>
            <a:r>
              <a:rPr dirty="0"/>
              <a:t>" </a:t>
            </a:r>
            <a:r>
              <a:rPr dirty="0" err="1"/>
              <a:t>verhindert</a:t>
            </a:r>
            <a:r>
              <a:rPr dirty="0"/>
              <a:t> die </a:t>
            </a:r>
            <a:r>
              <a:rPr dirty="0" err="1"/>
              <a:t>Wiederverwendung</a:t>
            </a:r>
            <a:r>
              <a:rPr dirty="0"/>
              <a:t> </a:t>
            </a:r>
            <a:r>
              <a:rPr dirty="0" err="1"/>
              <a:t>einer</a:t>
            </a:r>
            <a:r>
              <a:rPr dirty="0"/>
              <a:t> Browser-</a:t>
            </a:r>
            <a:r>
              <a:rPr dirty="0" err="1"/>
              <a:t>Cacheantwort</a:t>
            </a:r>
            <a:r>
              <a:rPr dirty="0"/>
              <a:t>. </a:t>
            </a:r>
            <a:r>
              <a:rPr dirty="0" err="1"/>
              <a:t>after.description</a:t>
            </a:r>
            <a:r>
              <a:rPr dirty="0"/>
              <a:t>===description muss true sein. Alle </a:t>
            </a:r>
            <a:r>
              <a:rPr dirty="0" err="1"/>
              <a:t>übrigen</a:t>
            </a:r>
            <a:r>
              <a:rPr dirty="0"/>
              <a:t> </a:t>
            </a:r>
            <a:r>
              <a:rPr dirty="0" err="1"/>
              <a:t>fachlichen</a:t>
            </a:r>
            <a:r>
              <a:rPr dirty="0"/>
              <a:t> </a:t>
            </a:r>
            <a:r>
              <a:rPr dirty="0" err="1"/>
              <a:t>Produktfelder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before </a:t>
            </a:r>
            <a:r>
              <a:rPr dirty="0" err="1"/>
              <a:t>vergleichen</a:t>
            </a:r>
            <a:r>
              <a:rPr dirty="0"/>
              <a:t>. </a:t>
            </a:r>
            <a:r>
              <a:rPr dirty="0" err="1"/>
              <a:t>updatedAt</a:t>
            </a:r>
            <a:r>
              <a:rPr dirty="0"/>
              <a:t> </a:t>
            </a:r>
            <a:r>
              <a:rPr dirty="0" err="1"/>
              <a:t>darf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die </a:t>
            </a:r>
            <a:r>
              <a:rPr dirty="0" err="1"/>
              <a:t>serverseitige</a:t>
            </a:r>
            <a:r>
              <a:rPr dirty="0"/>
              <a:t> </a:t>
            </a:r>
            <a:r>
              <a:rPr dirty="0" err="1"/>
              <a:t>Speicherung</a:t>
            </a:r>
            <a:r>
              <a:rPr dirty="0"/>
              <a:t> </a:t>
            </a:r>
            <a:r>
              <a:rPr dirty="0" err="1"/>
              <a:t>ändern</a:t>
            </a:r>
            <a:r>
              <a:rPr dirty="0"/>
              <a:t>. Dann /</a:t>
            </a:r>
            <a:r>
              <a:rPr dirty="0" err="1"/>
              <a:t>api</a:t>
            </a:r>
            <a:r>
              <a:rPr dirty="0"/>
              <a:t>/Challenges </a:t>
            </a:r>
            <a:r>
              <a:rPr dirty="0" err="1"/>
              <a:t>abrufen</a:t>
            </a:r>
            <a:r>
              <a:rPr dirty="0"/>
              <a:t> und Product Tampering </a:t>
            </a:r>
            <a:r>
              <a:rPr dirty="0" err="1"/>
              <a:t>anhand</a:t>
            </a:r>
            <a:r>
              <a:rPr dirty="0"/>
              <a:t> des </a:t>
            </a:r>
            <a:r>
              <a:rPr dirty="0" err="1"/>
              <a:t>Namens</a:t>
            </a:r>
            <a:r>
              <a:rPr dirty="0"/>
              <a:t> </a:t>
            </a:r>
            <a:r>
              <a:rPr dirty="0" err="1"/>
              <a:t>suchen</a:t>
            </a:r>
            <a:r>
              <a:rPr dirty="0"/>
              <a:t>. solved muss true sein. </a:t>
            </a:r>
            <a:r>
              <a:rPr dirty="0" err="1"/>
              <a:t>Alternativ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Browser /#/score-board </a:t>
            </a:r>
            <a:r>
              <a:rPr dirty="0" err="1"/>
              <a:t>öffnen</a:t>
            </a:r>
            <a:r>
              <a:rPr dirty="0"/>
              <a:t>, </a:t>
            </a:r>
            <a:r>
              <a:rPr dirty="0" err="1"/>
              <a:t>nach</a:t>
            </a:r>
            <a:r>
              <a:rPr dirty="0"/>
              <a:t> Product Tampering </a:t>
            </a:r>
            <a:r>
              <a:rPr dirty="0" err="1"/>
              <a:t>suchen</a:t>
            </a:r>
            <a:r>
              <a:rPr dirty="0"/>
              <a:t> und den </a:t>
            </a:r>
            <a:r>
              <a:rPr dirty="0" err="1"/>
              <a:t>gelösten</a:t>
            </a:r>
            <a:r>
              <a:rPr dirty="0"/>
              <a:t> Status </a:t>
            </a:r>
            <a:r>
              <a:rPr dirty="0" err="1"/>
              <a:t>prüfen</a:t>
            </a:r>
            <a:r>
              <a:rPr dirty="0"/>
              <a:t>. Falls die Challenge </a:t>
            </a:r>
            <a:r>
              <a:rPr dirty="0" err="1"/>
              <a:t>unmittelbar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dem PUT </a:t>
            </a:r>
            <a:r>
              <a:rPr dirty="0" err="1"/>
              <a:t>noch</a:t>
            </a:r>
            <a:r>
              <a:rPr dirty="0"/>
              <a:t> false </a:t>
            </a:r>
            <a:r>
              <a:rPr dirty="0" err="1"/>
              <a:t>meldet</a:t>
            </a:r>
            <a:r>
              <a:rPr dirty="0"/>
              <a:t>, GET </a:t>
            </a:r>
            <a:r>
              <a:rPr dirty="0" err="1"/>
              <a:t>bzw</a:t>
            </a:r>
            <a:r>
              <a:rPr dirty="0"/>
              <a:t>. Scoreboard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kurzer</a:t>
            </a:r>
            <a:r>
              <a:rPr dirty="0"/>
              <a:t> Zeit </a:t>
            </a:r>
            <a:r>
              <a:rPr dirty="0" err="1"/>
              <a:t>erneut</a:t>
            </a:r>
            <a:r>
              <a:rPr dirty="0"/>
              <a:t> laden, da die </a:t>
            </a:r>
            <a:r>
              <a:rPr dirty="0" err="1"/>
              <a:t>Auswertung</a:t>
            </a:r>
            <a:r>
              <a:rPr dirty="0"/>
              <a:t> </a:t>
            </a:r>
            <a:r>
              <a:rPr dirty="0" err="1"/>
              <a:t>asynchron</a:t>
            </a:r>
            <a:r>
              <a:rPr dirty="0"/>
              <a:t> </a:t>
            </a:r>
            <a:r>
              <a:rPr dirty="0" err="1"/>
              <a:t>erfolgen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. Ein HTTP 200 </a:t>
            </a:r>
            <a:r>
              <a:rPr dirty="0" err="1"/>
              <a:t>allein</a:t>
            </a:r>
            <a:r>
              <a:rPr dirty="0"/>
              <a:t> </a:t>
            </a:r>
            <a:r>
              <a:rPr dirty="0" err="1"/>
              <a:t>beweist</a:t>
            </a:r>
            <a:r>
              <a:rPr dirty="0"/>
              <a:t> </a:t>
            </a:r>
            <a:r>
              <a:rPr dirty="0" err="1"/>
              <a:t>weder</a:t>
            </a:r>
            <a:r>
              <a:rPr dirty="0"/>
              <a:t> die </a:t>
            </a:r>
            <a:r>
              <a:rPr dirty="0" err="1"/>
              <a:t>korrekte</a:t>
            </a:r>
            <a:r>
              <a:rPr dirty="0"/>
              <a:t> </a:t>
            </a:r>
            <a:r>
              <a:rPr dirty="0" err="1"/>
              <a:t>Änderung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den Challenge-</a:t>
            </a:r>
            <a:r>
              <a:rPr dirty="0" err="1"/>
              <a:t>Erfolg</a:t>
            </a:r>
            <a:r>
              <a:rPr dirty="0"/>
              <a:t>. Quelle </a:t>
            </a:r>
            <a:r>
              <a:rPr dirty="0" err="1"/>
              <a:t>zur</a:t>
            </a:r>
            <a:r>
              <a:rPr dirty="0"/>
              <a:t> Challenge-API: https://</a:t>
            </a:r>
            <a:r>
              <a:rPr dirty="0" err="1"/>
              <a:t>help.owasp-juice.shop</a:t>
            </a:r>
            <a:r>
              <a:rPr dirty="0"/>
              <a:t>/appendix/</a:t>
            </a:r>
            <a:r>
              <a:rPr dirty="0" err="1"/>
              <a:t>integration.html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Quelle: Challenges/</a:t>
            </a:r>
            <a:r>
              <a:rPr dirty="0" err="1"/>
              <a:t>Lehrendenhinweise.md</a:t>
            </a:r>
            <a:r>
              <a:rPr dirty="0"/>
              <a:t>, </a:t>
            </a:r>
            <a:r>
              <a:rPr dirty="0" err="1"/>
              <a:t>Abschnitt</a:t>
            </a:r>
            <a:r>
              <a:rPr dirty="0"/>
              <a:t> „</a:t>
            </a:r>
            <a:r>
              <a:rPr dirty="0" err="1"/>
              <a:t>Transferaufgabe</a:t>
            </a:r>
            <a:r>
              <a:rPr dirty="0"/>
              <a:t>: Product Tampering“. </a:t>
            </a:r>
            <a:r>
              <a:rPr dirty="0" err="1"/>
              <a:t>Lokale</a:t>
            </a:r>
            <a:r>
              <a:rPr dirty="0"/>
              <a:t> </a:t>
            </a:r>
            <a:r>
              <a:rPr dirty="0" err="1"/>
              <a:t>Workshopversion</a:t>
            </a:r>
            <a:r>
              <a:rPr dirty="0"/>
              <a:t> OWASP Juice Shop v20.0.0.</a:t>
            </a:r>
          </a:p>
          <a:p>
            <a:r>
              <a:rPr dirty="0" err="1"/>
              <a:t>Quellen</a:t>
            </a:r>
            <a:r>
              <a:rPr dirty="0"/>
              <a:t>: http://127.0.0.1:3000/</a:t>
            </a:r>
            <a:r>
              <a:rPr dirty="0" err="1"/>
              <a:t>main.js</a:t>
            </a:r>
            <a:r>
              <a:rPr dirty="0"/>
              <a:t> (</a:t>
            </a:r>
            <a:r>
              <a:rPr dirty="0" err="1"/>
              <a:t>ausgeliefertes</a:t>
            </a:r>
            <a:r>
              <a:rPr dirty="0"/>
              <a:t> Frontend der </a:t>
            </a:r>
            <a:r>
              <a:rPr dirty="0" err="1"/>
              <a:t>lokalen</a:t>
            </a:r>
            <a:r>
              <a:rPr dirty="0"/>
              <a:t> </a:t>
            </a:r>
            <a:r>
              <a:rPr dirty="0" err="1"/>
              <a:t>Workshopinstanz</a:t>
            </a:r>
            <a:r>
              <a:rPr dirty="0"/>
              <a:t>, </a:t>
            </a:r>
            <a:r>
              <a:rPr dirty="0" err="1"/>
              <a:t>abgerufen</a:t>
            </a:r>
            <a:r>
              <a:rPr dirty="0"/>
              <a:t> am 18.09.2026); https://</a:t>
            </a:r>
            <a:r>
              <a:rPr dirty="0" err="1"/>
              <a:t>github.com</a:t>
            </a:r>
            <a:r>
              <a:rPr dirty="0"/>
              <a:t>/juice-shop/juice-shop/blob/v20.0.0/</a:t>
            </a:r>
            <a:r>
              <a:rPr dirty="0" err="1"/>
              <a:t>server.ts</a:t>
            </a:r>
            <a:endParaRPr dirty="0"/>
          </a:p>
          <a:p>
            <a:r>
              <a:rPr dirty="0"/>
              <a:t>Die </a:t>
            </a:r>
            <a:r>
              <a:rPr dirty="0" err="1"/>
              <a:t>Sichtbarkeit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API-</a:t>
            </a:r>
            <a:r>
              <a:rPr dirty="0" err="1"/>
              <a:t>Endpunkts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Frontend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erwartbar</a:t>
            </a:r>
            <a:r>
              <a:rPr dirty="0"/>
              <a:t> und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Sicherheitsfehler</a:t>
            </a:r>
            <a:r>
              <a:rPr dirty="0"/>
              <a:t>. Der Fehler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fehlende</a:t>
            </a:r>
            <a:r>
              <a:rPr dirty="0"/>
              <a:t> </a:t>
            </a:r>
            <a:r>
              <a:rPr dirty="0" err="1"/>
              <a:t>serverseitige</a:t>
            </a:r>
            <a:r>
              <a:rPr dirty="0"/>
              <a:t> </a:t>
            </a:r>
            <a:r>
              <a:rPr dirty="0" err="1"/>
              <a:t>Berechtigungsprüfung</a:t>
            </a:r>
            <a:r>
              <a:rPr dirty="0"/>
              <a:t> für die </a:t>
            </a:r>
            <a:r>
              <a:rPr dirty="0" err="1"/>
              <a:t>Produktänderung</a:t>
            </a:r>
            <a:r>
              <a:rPr dirty="0"/>
              <a:t>. In </a:t>
            </a:r>
            <a:r>
              <a:rPr dirty="0" err="1"/>
              <a:t>server.ts</a:t>
            </a:r>
            <a:r>
              <a:rPr dirty="0"/>
              <a:t> v20.0.0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Autorisierung</a:t>
            </a:r>
            <a:r>
              <a:rPr dirty="0"/>
              <a:t> für PUT /</a:t>
            </a:r>
            <a:r>
              <a:rPr dirty="0" err="1"/>
              <a:t>api</a:t>
            </a:r>
            <a:r>
              <a:rPr dirty="0"/>
              <a:t>/Products/:id </a:t>
            </a:r>
            <a:r>
              <a:rPr dirty="0" err="1"/>
              <a:t>auskommentiert</a:t>
            </a:r>
            <a:r>
              <a:rPr dirty="0"/>
              <a:t>, </a:t>
            </a:r>
            <a:r>
              <a:rPr dirty="0" err="1"/>
              <a:t>während</a:t>
            </a:r>
            <a:r>
              <a:rPr dirty="0"/>
              <a:t> POST und DELETE </a:t>
            </a:r>
            <a:r>
              <a:rPr dirty="0" err="1"/>
              <a:t>geschützt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 Die </a:t>
            </a:r>
            <a:r>
              <a:rPr dirty="0" err="1"/>
              <a:t>Anwendung</a:t>
            </a:r>
            <a:r>
              <a:rPr dirty="0"/>
              <a:t> </a:t>
            </a:r>
            <a:r>
              <a:rPr dirty="0" err="1"/>
              <a:t>benötigt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zentrale</a:t>
            </a:r>
            <a:r>
              <a:rPr dirty="0"/>
              <a:t> </a:t>
            </a:r>
            <a:r>
              <a:rPr dirty="0" err="1"/>
              <a:t>Authentifizierung</a:t>
            </a:r>
            <a:r>
              <a:rPr dirty="0"/>
              <a:t> und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rollen</a:t>
            </a:r>
            <a:r>
              <a:rPr dirty="0"/>
              <a:t>- und </a:t>
            </a:r>
            <a:r>
              <a:rPr dirty="0" err="1"/>
              <a:t>objektbezogene</a:t>
            </a:r>
            <a:r>
              <a:rPr dirty="0"/>
              <a:t> </a:t>
            </a:r>
            <a:r>
              <a:rPr dirty="0" err="1"/>
              <a:t>Autorisierung</a:t>
            </a:r>
            <a:r>
              <a:rPr dirty="0"/>
              <a:t> für </a:t>
            </a:r>
            <a:r>
              <a:rPr dirty="0" err="1"/>
              <a:t>schreibende</a:t>
            </a:r>
            <a:r>
              <a:rPr dirty="0"/>
              <a:t> </a:t>
            </a:r>
            <a:r>
              <a:rPr dirty="0" err="1"/>
              <a:t>Produktoperationen</a:t>
            </a:r>
            <a:r>
              <a:rPr dirty="0"/>
              <a:t>. Die </a:t>
            </a:r>
            <a:r>
              <a:rPr dirty="0" err="1"/>
              <a:t>fehlende</a:t>
            </a:r>
            <a:r>
              <a:rPr dirty="0"/>
              <a:t> </a:t>
            </a:r>
            <a:r>
              <a:rPr dirty="0" err="1"/>
              <a:t>Bearbeiten-Schaltfläche</a:t>
            </a:r>
            <a:r>
              <a:rPr dirty="0"/>
              <a:t> </a:t>
            </a:r>
            <a:r>
              <a:rPr dirty="0" err="1"/>
              <a:t>schützt</a:t>
            </a:r>
            <a:r>
              <a:rPr dirty="0"/>
              <a:t> die API nicht. Beim </a:t>
            </a:r>
            <a:r>
              <a:rPr dirty="0" err="1"/>
              <a:t>Vergleich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Workshop </a:t>
            </a:r>
            <a:r>
              <a:rPr dirty="0" err="1"/>
              <a:t>wählt</a:t>
            </a:r>
            <a:r>
              <a:rPr dirty="0"/>
              <a:t> der Mensch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manuellen</a:t>
            </a:r>
            <a:r>
              <a:rPr dirty="0"/>
              <a:t> Weg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Beobachtung</a:t>
            </a:r>
            <a:r>
              <a:rPr dirty="0"/>
              <a:t>, </a:t>
            </a:r>
            <a:r>
              <a:rPr dirty="0" err="1"/>
              <a:t>Hypothese</a:t>
            </a:r>
            <a:r>
              <a:rPr dirty="0"/>
              <a:t>, Request und </a:t>
            </a:r>
            <a:r>
              <a:rPr dirty="0" err="1"/>
              <a:t>Erfolgstest</a:t>
            </a:r>
            <a:r>
              <a:rPr dirty="0"/>
              <a:t>. Der </a:t>
            </a:r>
            <a:r>
              <a:rPr dirty="0" err="1"/>
              <a:t>Eigenbau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GET und JSON-POST,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PUT. CAI </a:t>
            </a:r>
            <a:r>
              <a:rPr dirty="0" err="1"/>
              <a:t>one_tool_agent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generic_linux_command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passenden</a:t>
            </a:r>
            <a:r>
              <a:rPr dirty="0"/>
              <a:t> curl-</a:t>
            </a:r>
            <a:r>
              <a:rPr dirty="0" err="1"/>
              <a:t>Aufruf</a:t>
            </a:r>
            <a:r>
              <a:rPr dirty="0"/>
              <a:t> </a:t>
            </a:r>
            <a:r>
              <a:rPr dirty="0" err="1"/>
              <a:t>ausführen</a:t>
            </a:r>
            <a:r>
              <a:rPr dirty="0"/>
              <a:t>. </a:t>
            </a:r>
            <a:r>
              <a:rPr dirty="0" err="1"/>
              <a:t>Erfolg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sowohl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Werkzeugraum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von der </a:t>
            </a:r>
            <a:r>
              <a:rPr dirty="0" err="1"/>
              <a:t>Entscheidung</a:t>
            </a:r>
            <a:r>
              <a:rPr dirty="0"/>
              <a:t> </a:t>
            </a:r>
            <a:r>
              <a:rPr dirty="0" err="1"/>
              <a:t>abhängig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1C24-7A6A-B681-74AA-29429CAE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3257550"/>
            <a:ext cx="8572500" cy="904875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5400"/>
            </a:lvl1pPr>
          </a:lstStyle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13457-E88A-729E-2343-D334E10D5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4210050"/>
            <a:ext cx="7429500" cy="742950"/>
          </a:xfrm>
        </p:spPr>
        <p:txBody>
          <a:bodyPr lIns="0" tIns="0" rIns="0" bIns="0" anchor="t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Master subtitle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9862E78-18EB-4EFA-9D08-E08915145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4BCE-BE82-6FF5-5C7E-8EDA3736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F435-C354-B390-F51A-EB54B00EA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19100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  <a:p>
            <a:pPr lvl="1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 level</a:t>
            </a:r>
          </a:p>
          <a:p>
            <a:pPr lvl="2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Third level</a:t>
            </a:r>
          </a:p>
          <a:p>
            <a:pPr lvl="3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Fourth level</a:t>
            </a:r>
          </a:p>
          <a:p>
            <a:pPr lvl="4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AB83843-CEE0-6E6B-2B30-5A3D986687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Serify footer">
            <a:extLst>
              <a:ext uri="{FF2B5EF4-FFF2-40B4-BE49-F238E27FC236}">
                <a16:creationId xmlns:a16="http://schemas.microsoft.com/office/drawing/2014/main" id="{87F30370-3D1D-4ECA-8F08-20085C0DECA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3A0C85-713D-2CA1-7DA5-36A9FA2AB34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714500" y="2286000"/>
            <a:ext cx="8763000" cy="2095500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4400"/>
            </a:lvl1pPr>
          </a:lstStyle>
          <a:p>
            <a:pPr lvl="0"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DA0653D-F337-4F6D-B1FC-533A69E1BA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5D15A9-2976-48CB-81B8-836D30C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Body Placeholder">
            <a:extLst>
              <a:ext uri="{FF2B5EF4-FFF2-40B4-BE49-F238E27FC236}">
                <a16:creationId xmlns:a16="http://schemas.microsoft.com/office/drawing/2014/main" id="{AECF7F75-5BCE-40BD-864F-FC30E1E8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56081A4D-C841-4779-9AD5-D79FC86F39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CA1C5FAB-7F25-4FE4-AE35-2A21CCA6F97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F9784F8-891D-4A64-8B3C-24E4B0A0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Left Text Placeholder">
            <a:extLst>
              <a:ext uri="{FF2B5EF4-FFF2-40B4-BE49-F238E27FC236}">
                <a16:creationId xmlns:a16="http://schemas.microsoft.com/office/drawing/2014/main" id="{883FD1F3-8EBC-4A2B-AE38-FD26980F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4" name="Right Text Placeholder">
            <a:extLst>
              <a:ext uri="{FF2B5EF4-FFF2-40B4-BE49-F238E27FC236}">
                <a16:creationId xmlns:a16="http://schemas.microsoft.com/office/drawing/2014/main" id="{70B74D96-4273-4B51-8B47-FC917DE3DF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103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8838A7C-CF7E-46D1-9126-0866CB0A7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erify footer">
            <a:extLst>
              <a:ext uri="{FF2B5EF4-FFF2-40B4-BE49-F238E27FC236}">
                <a16:creationId xmlns:a16="http://schemas.microsoft.com/office/drawing/2014/main" id="{E75DE2CB-D4FF-46BA-A3E6-B836C155B77C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Placeholder">
            <a:extLst>
              <a:ext uri="{FF2B5EF4-FFF2-40B4-BE49-F238E27FC236}">
                <a16:creationId xmlns:a16="http://schemas.microsoft.com/office/drawing/2014/main" id="{33DEF908-3D8A-4F68-8E74-19F3AC5D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2667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ctr">
            <a:normAutofit/>
          </a:bodyPr>
          <a:lstStyle>
            <a:lvl1pPr algn="ctr">
              <a:buNone/>
              <a:defRPr sz="3800" i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quote text</a:t>
            </a:r>
          </a:p>
        </p:txBody>
      </p:sp>
      <p:sp>
        <p:nvSpPr>
          <p:cNvPr id="3" name="Attribution Placeholder">
            <a:extLst>
              <a:ext uri="{FF2B5EF4-FFF2-40B4-BE49-F238E27FC236}">
                <a16:creationId xmlns:a16="http://schemas.microsoft.com/office/drawing/2014/main" id="{74538CE1-E0A6-4103-9742-664A7936CE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667000" y="4524375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ctr">
              <a:buNone/>
              <a:defRPr sz="18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attribution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A3A86A2-6840-4884-B037-0B0ABC220F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B5D36575-52AF-4EFB-BA48-28C0C6291155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F7244EC5-DBE0-4E4E-934F-0A582DA4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7AC0A22-DBDE-40F0-8952-F6705EE78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257300"/>
            <a:ext cx="10515600" cy="4552950"/>
          </a:xfrm>
          <a:prstGeom prst="rect">
            <a:avLst/>
          </a:prstGeom>
          <a:noFill/>
          <a:ln w="9525">
            <a:solidFill>
              <a:srgbClr val="DFE1E7"/>
            </a:solidFill>
            <a:prstDash val="solid"/>
          </a:ln>
        </p:spPr>
        <p:txBody>
          <a:bodyPr anchor="ctr">
            <a:normAutofit/>
          </a:bodyPr>
          <a:lstStyle>
            <a:lvl1pPr algn="ctr">
              <a:buNone/>
              <a:defRPr sz="2200">
                <a:solidFill>
                  <a:schemeClr val="tx1">
                    <a:tint val="60000"/>
                  </a:schemeClr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B562615-7B03-4913-9403-C32F2C1161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E9478C55-B794-482E-8508-58C1E88254C6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s /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3A3A1A-A9DC-4FEC-BA0E-18D544CD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9B4A7A8-AC27-4DEA-B93F-885A62F7A7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Comparison panel 1">
            <a:extLst>
              <a:ext uri="{FF2B5EF4-FFF2-40B4-BE49-F238E27FC236}">
                <a16:creationId xmlns:a16="http://schemas.microsoft.com/office/drawing/2014/main" id="{2896FAD3-11B9-4AB2-94F7-127D65269DB2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33180FA-F1C1-43F7-A022-B9CD36D6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10" name="Comparison panel 2">
            <a:extLst>
              <a:ext uri="{FF2B5EF4-FFF2-40B4-BE49-F238E27FC236}">
                <a16:creationId xmlns:a16="http://schemas.microsoft.com/office/drawing/2014/main" id="{D8DE8C12-C349-4682-B617-8B456A23B97E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4F4786-B17C-4D3E-8352-4D9DFE6567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79DFF55-2F99-4000-8F44-014A0485A239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C25E4EE-7438-4EC1-BFB7-DEFE5B82941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922EC263-AA0F-4360-93BD-39E0D0E9D85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D7F1EC9-5078-4779-A590-6E0F3B03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8D55A2F-4D29-405E-A068-DBCAD32190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72AA9DB-4A58-4BEC-9099-B411EA41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14107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7D2011CC-1508-459F-9A8B-8D6E0798ED04}"/>
              </a:ext>
            </a:extLst>
          </p:cNvPr>
          <p:cNvSpPr>
            <a:spLocks noGrp="1"/>
          </p:cNvSpPr>
          <p:nvPr/>
        </p:nvSpPr>
        <p:spPr>
          <a:xfrm>
            <a:off x="7063550" y="2115598"/>
            <a:ext cx="4398550" cy="28174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0456F7-59AD-4282-8587-69B006BCD0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63550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F68C8A2D-A045-43B3-82EE-3EC1A195300F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D483271-9E16-4A09-B48C-F5AF3041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E45E6E7-DB62-4A08-AF07-D01D5489F8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Image explanation panel">
            <a:extLst>
              <a:ext uri="{FF2B5EF4-FFF2-40B4-BE49-F238E27FC236}">
                <a16:creationId xmlns:a16="http://schemas.microsoft.com/office/drawing/2014/main" id="{3E456DC3-FC21-4B97-BC0A-D255C5A54AF2}"/>
              </a:ext>
            </a:extLst>
          </p:cNvPr>
          <p:cNvSpPr>
            <a:spLocks noGrp="1"/>
          </p:cNvSpPr>
          <p:nvPr/>
        </p:nvSpPr>
        <p:spPr>
          <a:xfrm>
            <a:off x="729901" y="2115598"/>
            <a:ext cx="4398550" cy="2817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05F30EE-2393-4322-851C-2FF75A08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901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5" name="Picture panel 2">
            <a:extLst>
              <a:ext uri="{FF2B5EF4-FFF2-40B4-BE49-F238E27FC236}">
                <a16:creationId xmlns:a16="http://schemas.microsoft.com/office/drawing/2014/main" id="{134A6470-06D9-47A2-83E1-F90E44B305FF}"/>
              </a:ext>
            </a:extLst>
          </p:cNvPr>
          <p:cNvSpPr>
            <a:spLocks noGrp="1"/>
          </p:cNvSpPr>
          <p:nvPr/>
        </p:nvSpPr>
        <p:spPr>
          <a:xfrm>
            <a:off x="6014752" y="1428750"/>
            <a:ext cx="4563142" cy="41910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722097-74C2-4E68-8747-B0D9344F5DD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014752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425136EC-85B9-46B9-9B9C-E5BAA05F5B00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C94EFF5-A12E-4E29-8E74-6912388D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B0FB011-12CB-4475-B18C-043EB5A4BA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Metric panel 1">
            <a:extLst>
              <a:ext uri="{FF2B5EF4-FFF2-40B4-BE49-F238E27FC236}">
                <a16:creationId xmlns:a16="http://schemas.microsoft.com/office/drawing/2014/main" id="{2FE943A5-C94B-4047-855D-2ED6931637A6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979CC02-91CB-4056-8043-D2FE2009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0" name="Metric panel 2">
            <a:extLst>
              <a:ext uri="{FF2B5EF4-FFF2-40B4-BE49-F238E27FC236}">
                <a16:creationId xmlns:a16="http://schemas.microsoft.com/office/drawing/2014/main" id="{472E48AC-D775-4BEF-A4A5-30E7E967A164}"/>
              </a:ext>
            </a:extLst>
          </p:cNvPr>
          <p:cNvSpPr>
            <a:spLocks noGrp="1"/>
          </p:cNvSpPr>
          <p:nvPr/>
        </p:nvSpPr>
        <p:spPr>
          <a:xfrm>
            <a:off x="44196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E0C6D1-28C9-4D2D-8B48-6542598192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3D16A00-F704-4BF0-9047-A5F34A617DC3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3352800" cy="1200150"/>
          </a:xfrm>
          <a:prstGeom prst="roundRect">
            <a:avLst>
              <a:gd name="adj" fmla="val 347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2B6FD00-BB61-4977-819E-F199FBB21F2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1" name="Evidence panel">
            <a:extLst>
              <a:ext uri="{FF2B5EF4-FFF2-40B4-BE49-F238E27FC236}">
                <a16:creationId xmlns:a16="http://schemas.microsoft.com/office/drawing/2014/main" id="{F4FFA19A-266D-4399-BA0B-167C0EB4F01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10515600" cy="2819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12" name="placeholder_6">
            <a:extLst>
              <a:ext uri="{FF2B5EF4-FFF2-40B4-BE49-F238E27FC236}">
                <a16:creationId xmlns:a16="http://schemas.microsoft.com/office/drawing/2014/main" id="{3B8937F5-3082-45F9-94A0-F497F81D9F0B}"/>
              </a:ext>
            </a:extLst>
          </p:cNvPr>
          <p:cNvSpPr>
            <a:spLocks noGrp="1"/>
          </p:cNvSpPr>
          <p:nvPr>
            <p:ph type="chart" idx="4"/>
          </p:nvPr>
        </p:nvSpPr>
        <p:spPr>
          <a:xfrm>
            <a:off x="1123950" y="3086100"/>
            <a:ext cx="9944100" cy="22479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add chart or key evidence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C78FD780-60CF-42AF-8150-5E1E06A43EF7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/ Comm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1D4B9C-A036-4ACA-BB77-42508E57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D98FF72-8A23-42C8-A134-78CCC11947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Content panel 1">
            <a:extLst>
              <a:ext uri="{FF2B5EF4-FFF2-40B4-BE49-F238E27FC236}">
                <a16:creationId xmlns:a16="http://schemas.microsoft.com/office/drawing/2014/main" id="{CC013E72-9976-4AC2-A3BF-9414B4D655F4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1818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9053639-32F6-413A-81A7-38C632E3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</p:spPr>
        <p:txBody>
          <a:bodyPr lIns="266700" tIns="247650" rIns="266700" bIns="2476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Paste code or a command here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91194A3A-7FC6-4DB9-A5CD-26B00B5860F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+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D163290-2818-43E6-A662-9A35070C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9BE75ED-38B6-4444-9C52-94309E2E3B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Code panel">
            <a:extLst>
              <a:ext uri="{FF2B5EF4-FFF2-40B4-BE49-F238E27FC236}">
                <a16:creationId xmlns:a16="http://schemas.microsoft.com/office/drawing/2014/main" id="{2267A199-8232-4A9A-964B-3842591E64EE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615315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5DDB067-D827-440A-8E83-1913EA6B0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6153150" cy="4191000"/>
          </a:xfrm>
        </p:spPr>
        <p:txBody>
          <a:bodyPr lIns="190500" tIns="171450" rIns="190500" bIns="171450" anchor="t"/>
          <a:lstStyle/>
          <a:p>
            <a:pPr algn="l">
              <a:buNone/>
              <a:defRPr sz="1275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Paste code here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5B33C448-78C7-449D-851D-03D14D615978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4133850" cy="4191000"/>
          </a:xfrm>
          <a:prstGeom prst="roundRect">
            <a:avLst>
              <a:gd name="adj" fmla="val 2062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6BC92-D01A-4B9E-B75C-7B8C303BF4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19950" y="1428750"/>
            <a:ext cx="4133850" cy="4191000"/>
          </a:xfrm>
        </p:spPr>
        <p:txBody>
          <a:bodyPr lIns="247650" tIns="209550" rIns="247650" bIns="2095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Explain what matters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D2898F6C-EC88-404B-A85A-732E57F8B14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E608FFB-3F47-4C84-A68C-F3160FE4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0" y="2381250"/>
            <a:ext cx="8572500" cy="952500"/>
          </a:xfrm>
        </p:spPr>
        <p:txBody>
          <a:bodyPr lIns="0" tIns="0" rIns="0" bIns="0" anchor="ctr"/>
          <a:lstStyle/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44ADC0E7-F402-458D-9D07-D113DA41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3524250"/>
            <a:ext cx="7429500" cy="762000"/>
          </a:xfrm>
        </p:spPr>
        <p:txBody>
          <a:bodyPr lIns="0" tIns="0" rIns="0" bIns="0" anchor="ctr"/>
          <a:lstStyle/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Contact or next step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AE97534-3B68-465D-B918-7D768D1146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fy footer">
            <a:extLst>
              <a:ext uri="{FF2B5EF4-FFF2-40B4-BE49-F238E27FC236}">
                <a16:creationId xmlns:a16="http://schemas.microsoft.com/office/drawing/2014/main" id="{8727E097-492E-4EA0-9F02-97BEE7E2D05A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4244B10-2239-4020-9B30-5EBFD810F5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F733AD4-02BC-4223-82D0-97F842FB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Table panel">
            <a:extLst>
              <a:ext uri="{FF2B5EF4-FFF2-40B4-BE49-F238E27FC236}">
                <a16:creationId xmlns:a16="http://schemas.microsoft.com/office/drawing/2014/main" id="{E584E24A-8DAF-4CD2-8A9A-3C81C7127207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Table Content Placeholder">
            <a:extLst>
              <a:ext uri="{FF2B5EF4-FFF2-40B4-BE49-F238E27FC236}">
                <a16:creationId xmlns:a16="http://schemas.microsoft.com/office/drawing/2014/main" id="{D68100DA-7C1E-4D9B-AF3E-0972E4B3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762125"/>
            <a:ext cx="9944100" cy="314325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table</a:t>
            </a:r>
          </a:p>
        </p:txBody>
      </p:sp>
      <p:sp>
        <p:nvSpPr>
          <p:cNvPr id="5" name="Table Caption Placeholder">
            <a:extLst>
              <a:ext uri="{FF2B5EF4-FFF2-40B4-BE49-F238E27FC236}">
                <a16:creationId xmlns:a16="http://schemas.microsoft.com/office/drawing/2014/main" id="{CC75B18B-3DC1-41D3-937E-08244CB7D1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23950" y="5086350"/>
            <a:ext cx="9944100" cy="28575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9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Add a concise table note or interpretation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475D5017-EA27-4F8A-A924-8E58189AD3B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6719998-640C-42FA-B65E-A15DB1508D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erify Master">
    <p:bg>
      <p:bgPr>
        <a:solidFill>
          <a:srgbClr val="E6E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7"/>
          <p:cNvPicPr>
            <a:picLocks noChangeAspect="1"/>
          </p:cNvPicPr>
          <p:nvPr/>
        </p:nvPicPr>
        <p:blipFill>
          <a:blip r:embed="rId18">
            <a:alphaModFix amt="7000"/>
          </a:blip>
          <a:stretch>
            <a:fillRect/>
          </a:stretch>
        </p:blipFill>
        <p:spPr>
          <a:xfrm>
            <a:off x="0" y="0"/>
            <a:ext cx="9008295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FABE0-195D-C941-5E85-5C3B85F5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F56EF-C63C-95C1-9E97-66C4844FB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DE2DA7B-B1E7-24C3-2A34-1154C781E2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1382375" y="193834"/>
            <a:ext cx="400050" cy="3933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rgbClr val="111111"/>
          </a:solidFill>
          <a:latin typeface="Avenir Next"/>
          <a:ea typeface="Avenir Next"/>
          <a:cs typeface="Avenir Next"/>
        </a:defRPr>
      </a:lvl1pPr>
    </p:titleStyle>
    <p:bodyStyle>
      <a:lvl1pPr marL="342900" indent="-228600" algn="l" defTabSz="914400">
        <a:lnSpc>
          <a:spcPct val="115000"/>
        </a:lnSpc>
        <a:spcBef>
          <a:spcPts val="0"/>
        </a:spcBef>
        <a:spcAft>
          <a:spcPts val="1400"/>
        </a:spcAft>
        <a:buFont typeface="Avenir Next"/>
        <a:buChar char="•"/>
        <a:defRPr sz="2800" kern="1200">
          <a:solidFill>
            <a:srgbClr val="111111"/>
          </a:solidFill>
          <a:latin typeface="Avenir Next"/>
          <a:ea typeface="Avenir Next"/>
          <a:cs typeface="Avenir Next"/>
        </a:defRPr>
      </a:lvl1pPr>
      <a:lvl2pPr marL="800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400" kern="1200">
          <a:solidFill>
            <a:srgbClr val="111111"/>
          </a:solidFill>
          <a:latin typeface="Avenir Next"/>
          <a:ea typeface="Avenir Next"/>
          <a:cs typeface="Avenir Next"/>
        </a:defRPr>
      </a:lvl2pPr>
      <a:lvl3pPr marL="1257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000" kern="1200">
          <a:solidFill>
            <a:srgbClr val="111111"/>
          </a:solidFill>
          <a:latin typeface="Avenir Next"/>
          <a:ea typeface="Avenir Next"/>
          <a:cs typeface="Avenir Next"/>
        </a:defRPr>
      </a:lvl3pPr>
      <a:lvl4pPr marL="1714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4pPr>
      <a:lvl5pPr marL="21717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5pPr>
      <a:lvl6pPr marL="26289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6pPr>
      <a:lvl7pPr marL="3086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7pPr>
      <a:lvl8pPr marL="3543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8pPr>
      <a:lvl9pPr marL="4000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1pPr>
      <a:lvl2pPr marL="457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2pPr>
      <a:lvl3pPr marL="914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pening-kicker">
            <a:extLst>
              <a:ext uri="{FF2B5EF4-FFF2-40B4-BE49-F238E27FC236}">
                <a16:creationId xmlns:a16="http://schemas.microsoft.com/office/drawing/2014/main" id="{BCFC23C2-92B8-4A74-8465-4963B26ECAFD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385D8A"/>
                </a:solidFill>
              </a:defRPr>
            </a:pPr>
            <a:r>
              <a:rPr sz="1275" b="1">
                <a:solidFill>
                  <a:srgbClr val="385D8A"/>
                </a:solidFill>
              </a:rPr>
              <a:t>STUDIENSTIFTUNG AG CYBERRAUM</a:t>
            </a:r>
          </a:p>
        </p:txBody>
      </p:sp>
      <p:sp>
        <p:nvSpPr>
          <p:cNvPr id="6" name="opening-title">
            <a:extLst>
              <a:ext uri="{FF2B5EF4-FFF2-40B4-BE49-F238E27FC236}">
                <a16:creationId xmlns:a16="http://schemas.microsoft.com/office/drawing/2014/main" id="{958D2148-DA11-42E6-B516-2ABB5B1D28FF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26324A"/>
                </a:solidFill>
              </a:defRPr>
            </a:pPr>
            <a:r>
              <a:rPr sz="4350" b="1">
                <a:solidFill>
                  <a:srgbClr val="26324A"/>
                </a:solidFill>
              </a:rPr>
              <a:t>Vom Eigenbau zur echten CAI-CLI</a:t>
            </a:r>
          </a:p>
        </p:txBody>
      </p:sp>
      <p:sp>
        <p:nvSpPr>
          <p:cNvPr id="7" name="opening-subtitle">
            <a:extLst>
              <a:ext uri="{FF2B5EF4-FFF2-40B4-BE49-F238E27FC236}">
                <a16:creationId xmlns:a16="http://schemas.microsoft.com/office/drawing/2014/main" id="{4761435C-46D7-4335-8ADC-52DCB3A800CE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0">
                <a:solidFill>
                  <a:srgbClr val="5C667A"/>
                </a:solidFill>
              </a:defRPr>
            </a:pPr>
            <a:r>
              <a:rPr sz="2025" b="0">
                <a:solidFill>
                  <a:srgbClr val="5C667A"/>
                </a:solidFill>
              </a:rPr>
              <a:t>Vorgefertigte Agenten auswählen, ausführen und vergleichen</a:t>
            </a:r>
          </a:p>
        </p:txBody>
      </p:sp>
      <p:sp>
        <p:nvSpPr>
          <p:cNvPr id="8" name="opening-rule">
            <a:extLst>
              <a:ext uri="{FF2B5EF4-FFF2-40B4-BE49-F238E27FC236}">
                <a16:creationId xmlns:a16="http://schemas.microsoft.com/office/drawing/2014/main" id="{339EBF13-F7AF-4FF3-9A67-6245EA0A07DA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0" cy="0"/>
          </a:xfrm>
          <a:prstGeom prst="line">
            <a:avLst/>
          </a:prstGeom>
          <a:noFill/>
          <a:ln w="38100">
            <a:solidFill>
              <a:srgbClr val="385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pening-question">
            <a:extLst>
              <a:ext uri="{FF2B5EF4-FFF2-40B4-BE49-F238E27FC236}">
                <a16:creationId xmlns:a16="http://schemas.microsoft.com/office/drawing/2014/main" id="{D5BE063F-2EEF-4D08-B3C5-F6712670A369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26324A"/>
                </a:solidFill>
              </a:defRPr>
            </a:pPr>
            <a:r>
              <a:rPr sz="1950" b="1">
                <a:solidFill>
                  <a:srgbClr val="26324A"/>
                </a:solidFill>
              </a:rPr>
              <a:t>Wann reicht der Eigenbau nicht mehr aus?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AB7C1EC8-36C3-43FF-9599-B45022A15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31521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2598689-54C9-18A7-3A19-ED76AA0898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746A4C03-2CDA-4864-B2D2-D97D6032124B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Cybersecurity AI (CAI) </a:t>
            </a:r>
          </a:p>
        </p:txBody>
      </p:sp>
      <p:sp>
        <p:nvSpPr>
          <p:cNvPr id="7" name="demo-step-0">
            <a:extLst>
              <a:ext uri="{FF2B5EF4-FFF2-40B4-BE49-F238E27FC236}">
                <a16:creationId xmlns:a16="http://schemas.microsoft.com/office/drawing/2014/main" id="{D28AD36B-0C4A-80C6-A1E2-C7DA05289FDA}"/>
              </a:ext>
            </a:extLst>
          </p:cNvPr>
          <p:cNvSpPr>
            <a:spLocks noGrp="1"/>
          </p:cNvSpPr>
          <p:nvPr/>
        </p:nvSpPr>
        <p:spPr>
          <a:xfrm>
            <a:off x="539212" y="1759392"/>
            <a:ext cx="3880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26324A"/>
                </a:solidFill>
              </a:defRPr>
            </a:pPr>
            <a:r>
              <a:rPr sz="1725">
                <a:solidFill>
                  <a:srgbClr val="26324A"/>
                </a:solidFill>
              </a:rPr>
              <a:t>CAI ist eine Cybersecurity-Agenten-Umgebung</a:t>
            </a:r>
            <a:endParaRPr sz="1725" b="0">
              <a:solidFill>
                <a:srgbClr val="26324A"/>
              </a:solidFill>
            </a:endParaRPr>
          </a:p>
        </p:txBody>
      </p:sp>
      <p:sp>
        <p:nvSpPr>
          <p:cNvPr id="9" name="demo-step-0">
            <a:extLst>
              <a:ext uri="{FF2B5EF4-FFF2-40B4-BE49-F238E27FC236}">
                <a16:creationId xmlns:a16="http://schemas.microsoft.com/office/drawing/2014/main" id="{A7241F7E-08B0-BFB1-8F2B-29A2860A5D2D}"/>
              </a:ext>
            </a:extLst>
          </p:cNvPr>
          <p:cNvSpPr>
            <a:spLocks noGrp="1"/>
          </p:cNvSpPr>
          <p:nvPr/>
        </p:nvSpPr>
        <p:spPr>
          <a:xfrm>
            <a:off x="539212" y="2376376"/>
            <a:ext cx="3880388" cy="12304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26324A"/>
                </a:solidFill>
              </a:defRPr>
            </a:pPr>
            <a:r>
              <a:rPr sz="1725">
                <a:solidFill>
                  <a:srgbClr val="26324A"/>
                </a:solidFill>
              </a:rPr>
              <a:t>Deckt eine Vielzahl an verschiedenen Ausführungsrollen, Werkzeuge und Abläufe ab</a:t>
            </a:r>
            <a:endParaRPr sz="1725" b="0">
              <a:solidFill>
                <a:srgbClr val="26324A"/>
              </a:solidFill>
            </a:endParaRPr>
          </a:p>
        </p:txBody>
      </p:sp>
      <p:sp>
        <p:nvSpPr>
          <p:cNvPr id="11" name="demo-step-0">
            <a:extLst>
              <a:ext uri="{FF2B5EF4-FFF2-40B4-BE49-F238E27FC236}">
                <a16:creationId xmlns:a16="http://schemas.microsoft.com/office/drawing/2014/main" id="{26B5F705-226A-41D4-8A3D-91C320928569}"/>
              </a:ext>
            </a:extLst>
          </p:cNvPr>
          <p:cNvSpPr>
            <a:spLocks noGrp="1"/>
          </p:cNvSpPr>
          <p:nvPr/>
        </p:nvSpPr>
        <p:spPr>
          <a:xfrm>
            <a:off x="539212" y="3352799"/>
            <a:ext cx="3880388" cy="12304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26324A"/>
                </a:solidFill>
              </a:defRPr>
            </a:pPr>
            <a:r>
              <a:rPr sz="1725">
                <a:solidFill>
                  <a:srgbClr val="26324A"/>
                </a:solidFill>
              </a:rPr>
              <a:t>CAI bleibt als archivierte Open-Source-Referenz verfügbar. Die Weiterentwicklung erfolgt im kommerziellen Nachfolger CSI.</a:t>
            </a:r>
            <a:endParaRPr sz="1725" b="0">
              <a:solidFill>
                <a:srgbClr val="26324A"/>
              </a:solidFill>
            </a:endParaRPr>
          </a:p>
        </p:txBody>
      </p:sp>
      <p:pic>
        <p:nvPicPr>
          <p:cNvPr id="27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1759392"/>
            <a:ext cx="7772400" cy="482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A9C269F9-4D4C-F576-B60A-89B66AAC0A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2598689-54C9-18A7-3A19-ED76AA0898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56AEAB6F-3DDC-9FD3-B017-CB7BC02B1FE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Unser Agent</a:t>
            </a:r>
          </a:p>
        </p:txBody>
      </p:sp>
      <p:sp>
        <p:nvSpPr>
          <p:cNvPr id="21" name="Sprachmodell panel">
            <a:extLst>
              <a:ext uri="{FF2B5EF4-FFF2-40B4-BE49-F238E27FC236}">
                <a16:creationId xmlns:a16="http://schemas.microsoft.com/office/drawing/2014/main" id="{8D1052B5-E658-A6BB-CA04-D6040629BBA5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5067300" cy="1676400"/>
          </a:xfrm>
          <a:prstGeom prst="roundRect">
            <a:avLst>
              <a:gd name="adj" fmla="val 6818"/>
            </a:avLst>
          </a:prstGeom>
          <a:solidFill>
            <a:srgbClr val="D4D7DE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prachmodell title">
            <a:extLst>
              <a:ext uri="{FF2B5EF4-FFF2-40B4-BE49-F238E27FC236}">
                <a16:creationId xmlns:a16="http://schemas.microsoft.com/office/drawing/2014/main" id="{5EEE7263-6BB2-3C29-651D-B697E01D26BC}"/>
              </a:ext>
            </a:extLst>
          </p:cNvPr>
          <p:cNvSpPr>
            <a:spLocks noGrp="1"/>
          </p:cNvSpPr>
          <p:nvPr/>
        </p:nvSpPr>
        <p:spPr>
          <a:xfrm>
            <a:off x="1104900" y="15430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3" name="Sprachmodell body">
            <a:extLst>
              <a:ext uri="{FF2B5EF4-FFF2-40B4-BE49-F238E27FC236}">
                <a16:creationId xmlns:a16="http://schemas.microsoft.com/office/drawing/2014/main" id="{CE488827-F22C-E030-7DE8-A54FB1B99E28}"/>
              </a:ext>
            </a:extLst>
          </p:cNvPr>
          <p:cNvSpPr>
            <a:spLocks noGrp="1"/>
          </p:cNvSpPr>
          <p:nvPr/>
        </p:nvSpPr>
        <p:spPr>
          <a:xfrm>
            <a:off x="1104900" y="21145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und sichtbares Erfolgskriterium</a:t>
            </a:r>
          </a:p>
        </p:txBody>
      </p:sp>
      <p:sp>
        <p:nvSpPr>
          <p:cNvPr id="24" name="Skript panel">
            <a:extLst>
              <a:ext uri="{FF2B5EF4-FFF2-40B4-BE49-F238E27FC236}">
                <a16:creationId xmlns:a16="http://schemas.microsoft.com/office/drawing/2014/main" id="{AD2B1F05-3090-4346-633B-0E6CAFE131A7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50673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kript title">
            <a:extLst>
              <a:ext uri="{FF2B5EF4-FFF2-40B4-BE49-F238E27FC236}">
                <a16:creationId xmlns:a16="http://schemas.microsoft.com/office/drawing/2014/main" id="{2F12360A-6641-A47A-EC4D-B88793920B6A}"/>
              </a:ext>
            </a:extLst>
          </p:cNvPr>
          <p:cNvSpPr>
            <a:spLocks noGrp="1"/>
          </p:cNvSpPr>
          <p:nvPr/>
        </p:nvSpPr>
        <p:spPr>
          <a:xfrm>
            <a:off x="6553200" y="15430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Modell</a:t>
            </a:r>
          </a:p>
        </p:txBody>
      </p:sp>
      <p:sp>
        <p:nvSpPr>
          <p:cNvPr id="26" name="Skript body">
            <a:extLst>
              <a:ext uri="{FF2B5EF4-FFF2-40B4-BE49-F238E27FC236}">
                <a16:creationId xmlns:a16="http://schemas.microsoft.com/office/drawing/2014/main" id="{9DFBAE39-1BD5-CA9F-19D7-DB7D4E4D6332}"/>
              </a:ext>
            </a:extLst>
          </p:cNvPr>
          <p:cNvSpPr>
            <a:spLocks noGrp="1"/>
          </p:cNvSpPr>
          <p:nvPr/>
        </p:nvSpPr>
        <p:spPr>
          <a:xfrm>
            <a:off x="6553200" y="21145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Wählt aus dem bisherigen Verlauf die nächste Aktion</a:t>
            </a:r>
          </a:p>
        </p:txBody>
      </p:sp>
      <p:sp>
        <p:nvSpPr>
          <p:cNvPr id="27" name="Agent panel">
            <a:extLst>
              <a:ext uri="{FF2B5EF4-FFF2-40B4-BE49-F238E27FC236}">
                <a16:creationId xmlns:a16="http://schemas.microsoft.com/office/drawing/2014/main" id="{66ED685D-6625-76A4-2E41-90EF0A93DB52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5067300" cy="1676400"/>
          </a:xfrm>
          <a:prstGeom prst="roundRect">
            <a:avLst>
              <a:gd name="adj" fmla="val 6818"/>
            </a:avLst>
          </a:prstGeom>
          <a:solidFill>
            <a:srgbClr val="778198"/>
          </a:solidFill>
          <a:ln w="0">
            <a:solidFill>
              <a:srgbClr val="7781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Agent title">
            <a:extLst>
              <a:ext uri="{FF2B5EF4-FFF2-40B4-BE49-F238E27FC236}">
                <a16:creationId xmlns:a16="http://schemas.microsoft.com/office/drawing/2014/main" id="{C79ED7A7-F0EB-FEB1-2FCA-16D9DCED8B1B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Werkzeuge</a:t>
            </a:r>
          </a:p>
        </p:txBody>
      </p:sp>
      <p:sp>
        <p:nvSpPr>
          <p:cNvPr id="29" name="Agent body">
            <a:extLst>
              <a:ext uri="{FF2B5EF4-FFF2-40B4-BE49-F238E27FC236}">
                <a16:creationId xmlns:a16="http://schemas.microsoft.com/office/drawing/2014/main" id="{A2B6EA76-F63D-48FA-5601-F8F73A6533A4}"/>
              </a:ext>
            </a:extLst>
          </p:cNvPr>
          <p:cNvSpPr>
            <a:spLocks noGrp="1"/>
          </p:cNvSpPr>
          <p:nvPr/>
        </p:nvSpPr>
        <p:spPr>
          <a:xfrm>
            <a:off x="1104900" y="39814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und JSON-POST sind die Werkzeuge</a:t>
            </a:r>
          </a:p>
        </p:txBody>
      </p:sp>
      <p:sp>
        <p:nvSpPr>
          <p:cNvPr id="30" name="Infrastruktur panel">
            <a:extLst>
              <a:ext uri="{FF2B5EF4-FFF2-40B4-BE49-F238E27FC236}">
                <a16:creationId xmlns:a16="http://schemas.microsoft.com/office/drawing/2014/main" id="{BD829338-3EAB-E1E8-6300-992938146F03}"/>
              </a:ext>
            </a:extLst>
          </p:cNvPr>
          <p:cNvSpPr>
            <a:spLocks noGrp="1"/>
          </p:cNvSpPr>
          <p:nvPr/>
        </p:nvSpPr>
        <p:spPr>
          <a:xfrm>
            <a:off x="6286500" y="3200400"/>
            <a:ext cx="5067300" cy="1676400"/>
          </a:xfrm>
          <a:prstGeom prst="roundRect">
            <a:avLst>
              <a:gd name="adj" fmla="val 6818"/>
            </a:avLst>
          </a:prstGeom>
          <a:solidFill>
            <a:srgbClr val="48536D"/>
          </a:solidFill>
          <a:ln w="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Infrastruktur title">
            <a:extLst>
              <a:ext uri="{FF2B5EF4-FFF2-40B4-BE49-F238E27FC236}">
                <a16:creationId xmlns:a16="http://schemas.microsoft.com/office/drawing/2014/main" id="{8EB50076-DEF2-77F1-B29E-C07B2644C73B}"/>
              </a:ext>
            </a:extLst>
          </p:cNvPr>
          <p:cNvSpPr>
            <a:spLocks noGrp="1"/>
          </p:cNvSpPr>
          <p:nvPr/>
        </p:nvSpPr>
        <p:spPr>
          <a:xfrm>
            <a:off x="6553200" y="34099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Schleife</a:t>
            </a:r>
          </a:p>
        </p:txBody>
      </p:sp>
      <p:sp>
        <p:nvSpPr>
          <p:cNvPr id="32" name="Infrastruktur body">
            <a:extLst>
              <a:ext uri="{FF2B5EF4-FFF2-40B4-BE49-F238E27FC236}">
                <a16:creationId xmlns:a16="http://schemas.microsoft.com/office/drawing/2014/main" id="{A3B0B2F9-2E54-4A98-3413-6F7E309278E5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Aktion, Observation und nächster Turn</a:t>
            </a:r>
          </a:p>
        </p:txBody>
      </p:sp>
    </p:spTree>
    <p:extLst>
      <p:ext uri="{BB962C8B-B14F-4D97-AF65-F5344CB8AC3E}">
        <p14:creationId xmlns:p14="http://schemas.microsoft.com/office/powerpoint/2010/main" val="44981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02359C0-8A7A-196E-DD58-8E6569619F09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3ED66526-7A78-4255-9D72-342784E92555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Entscheidungszyklus bleibt derselbe</a:t>
            </a:r>
          </a:p>
        </p:txBody>
      </p:sp>
      <p:sp>
        <p:nvSpPr>
          <p:cNvPr id="21" name="Agent runtime frame">
            <a:extLst>
              <a:ext uri="{FF2B5EF4-FFF2-40B4-BE49-F238E27FC236}">
                <a16:creationId xmlns:a16="http://schemas.microsoft.com/office/drawing/2014/main" id="{FD827DF3-5F90-4899-A680-FFD919912BD8}"/>
              </a:ext>
            </a:extLst>
          </p:cNvPr>
          <p:cNvSpPr>
            <a:spLocks noGrp="1"/>
          </p:cNvSpPr>
          <p:nvPr/>
        </p:nvSpPr>
        <p:spPr>
          <a:xfrm>
            <a:off x="838200" y="1285875"/>
            <a:ext cx="4762500" cy="409575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Agent runtime label">
            <a:extLst>
              <a:ext uri="{FF2B5EF4-FFF2-40B4-BE49-F238E27FC236}">
                <a16:creationId xmlns:a16="http://schemas.microsoft.com/office/drawing/2014/main" id="{772EF4A6-EA8B-453A-8855-46C7CEF1893E}"/>
              </a:ext>
            </a:extLst>
          </p:cNvPr>
          <p:cNvSpPr>
            <a:spLocks noGrp="1"/>
          </p:cNvSpPr>
          <p:nvPr/>
        </p:nvSpPr>
        <p:spPr>
          <a:xfrm>
            <a:off x="1028700" y="1133475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48536D"/>
          </a:solidFill>
          <a:ln w="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Agent runtime label text">
            <a:extLst>
              <a:ext uri="{FF2B5EF4-FFF2-40B4-BE49-F238E27FC236}">
                <a16:creationId xmlns:a16="http://schemas.microsoft.com/office/drawing/2014/main" id="{D8E7BE05-25C0-40B1-AC36-CACCF159782A}"/>
              </a:ext>
            </a:extLst>
          </p:cNvPr>
          <p:cNvSpPr>
            <a:spLocks noGrp="1"/>
          </p:cNvSpPr>
          <p:nvPr/>
        </p:nvSpPr>
        <p:spPr>
          <a:xfrm>
            <a:off x="1123950" y="1162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GEMEINSAMER KERN</a:t>
            </a:r>
          </a:p>
        </p:txBody>
      </p:sp>
      <p:pic>
        <p:nvPicPr>
          <p:cNvPr id="49" name="Grafik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43113" y="1562100"/>
            <a:ext cx="3352675" cy="3524250"/>
          </a:xfrm>
          <a:prstGeom prst="rect">
            <a:avLst/>
          </a:prstGeom>
        </p:spPr>
      </p:pic>
      <p:sp>
        <p:nvSpPr>
          <p:cNvPr id="25" name="Responsibilities heading">
            <a:extLst>
              <a:ext uri="{FF2B5EF4-FFF2-40B4-BE49-F238E27FC236}">
                <a16:creationId xmlns:a16="http://schemas.microsoft.com/office/drawing/2014/main" id="{873436AF-BD1F-4A52-9188-E383D96BAE7B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in Eigenbau und CAI gleich bleibt</a:t>
            </a:r>
          </a:p>
        </p:txBody>
      </p:sp>
      <p:sp>
        <p:nvSpPr>
          <p:cNvPr id="26" name="Responsibility accent 1">
            <a:extLst>
              <a:ext uri="{FF2B5EF4-FFF2-40B4-BE49-F238E27FC236}">
                <a16:creationId xmlns:a16="http://schemas.microsoft.com/office/drawing/2014/main" id="{7AE324EA-AD6B-4381-8B57-B543215BFEB1}"/>
              </a:ext>
            </a:extLst>
          </p:cNvPr>
          <p:cNvSpPr>
            <a:spLocks noGrp="1"/>
          </p:cNvSpPr>
          <p:nvPr/>
        </p:nvSpPr>
        <p:spPr>
          <a:xfrm>
            <a:off x="6000750" y="1790700"/>
            <a:ext cx="76200" cy="419100"/>
          </a:xfrm>
          <a:prstGeom prst="rect">
            <a:avLst/>
          </a:prstGeom>
          <a:solidFill>
            <a:srgbClr val="D4D7D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sponsibility 1 heading">
            <a:extLst>
              <a:ext uri="{FF2B5EF4-FFF2-40B4-BE49-F238E27FC236}">
                <a16:creationId xmlns:a16="http://schemas.microsoft.com/office/drawing/2014/main" id="{ABB554E9-5249-465A-B73B-DFE84F2DFF4C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8" name="Responsibility 1 detail">
            <a:extLst>
              <a:ext uri="{FF2B5EF4-FFF2-40B4-BE49-F238E27FC236}">
                <a16:creationId xmlns:a16="http://schemas.microsoft.com/office/drawing/2014/main" id="{C8FA0B52-97DA-4B19-A63C-EC67E6E074D2}"/>
              </a:ext>
            </a:extLst>
          </p:cNvPr>
          <p:cNvSpPr>
            <a:spLocks noGrp="1"/>
          </p:cNvSpPr>
          <p:nvPr/>
        </p:nvSpPr>
        <p:spPr>
          <a:xfrm>
            <a:off x="6286500" y="19812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Eine Aufgabe und ein überprüfbares Erfolgskriterium</a:t>
            </a:r>
          </a:p>
        </p:txBody>
      </p:sp>
      <p:sp>
        <p:nvSpPr>
          <p:cNvPr id="29" name="Responsibility divider 1">
            <a:extLst>
              <a:ext uri="{FF2B5EF4-FFF2-40B4-BE49-F238E27FC236}">
                <a16:creationId xmlns:a16="http://schemas.microsoft.com/office/drawing/2014/main" id="{B19ABE41-6E32-4C51-B8BA-BA1431F71886}"/>
              </a:ext>
            </a:extLst>
          </p:cNvPr>
          <p:cNvSpPr>
            <a:spLocks noGrp="1"/>
          </p:cNvSpPr>
          <p:nvPr/>
        </p:nvSpPr>
        <p:spPr>
          <a:xfrm>
            <a:off x="6286500" y="2362200"/>
            <a:ext cx="4762500" cy="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sponsibility accent 2">
            <a:extLst>
              <a:ext uri="{FF2B5EF4-FFF2-40B4-BE49-F238E27FC236}">
                <a16:creationId xmlns:a16="http://schemas.microsoft.com/office/drawing/2014/main" id="{64750C83-A72B-4793-9F65-B53068332142}"/>
              </a:ext>
            </a:extLst>
          </p:cNvPr>
          <p:cNvSpPr>
            <a:spLocks noGrp="1"/>
          </p:cNvSpPr>
          <p:nvPr/>
        </p:nvSpPr>
        <p:spPr>
          <a:xfrm>
            <a:off x="6000750" y="2600325"/>
            <a:ext cx="76200" cy="419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sponsibility 2 heading">
            <a:extLst>
              <a:ext uri="{FF2B5EF4-FFF2-40B4-BE49-F238E27FC236}">
                <a16:creationId xmlns:a16="http://schemas.microsoft.com/office/drawing/2014/main" id="{07C6E8C8-1471-4492-9B7B-1C4C84681602}"/>
              </a:ext>
            </a:extLst>
          </p:cNvPr>
          <p:cNvSpPr>
            <a:spLocks noGrp="1"/>
          </p:cNvSpPr>
          <p:nvPr/>
        </p:nvSpPr>
        <p:spPr>
          <a:xfrm>
            <a:off x="6286500" y="252412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Entscheidung</a:t>
            </a:r>
          </a:p>
        </p:txBody>
      </p:sp>
      <p:sp>
        <p:nvSpPr>
          <p:cNvPr id="32" name="Responsibility 2 detail">
            <a:extLst>
              <a:ext uri="{FF2B5EF4-FFF2-40B4-BE49-F238E27FC236}">
                <a16:creationId xmlns:a16="http://schemas.microsoft.com/office/drawing/2014/main" id="{64A93E4B-897F-4B5D-8F93-5E8683AA0E31}"/>
              </a:ext>
            </a:extLst>
          </p:cNvPr>
          <p:cNvSpPr>
            <a:spLocks noGrp="1"/>
          </p:cNvSpPr>
          <p:nvPr/>
        </p:nvSpPr>
        <p:spPr>
          <a:xfrm>
            <a:off x="6286500" y="27908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Das Modell wählt aus dem Verlauf den nächsten Schritt</a:t>
            </a:r>
          </a:p>
        </p:txBody>
      </p:sp>
      <p:sp>
        <p:nvSpPr>
          <p:cNvPr id="33" name="Responsibility divider 2">
            <a:extLst>
              <a:ext uri="{FF2B5EF4-FFF2-40B4-BE49-F238E27FC236}">
                <a16:creationId xmlns:a16="http://schemas.microsoft.com/office/drawing/2014/main" id="{D86817E9-F584-47F7-90F1-682B832804B6}"/>
              </a:ext>
            </a:extLst>
          </p:cNvPr>
          <p:cNvSpPr>
            <a:spLocks noGrp="1"/>
          </p:cNvSpPr>
          <p:nvPr/>
        </p:nvSpPr>
        <p:spPr>
          <a:xfrm>
            <a:off x="6286500" y="3171825"/>
            <a:ext cx="4762500" cy="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sponsibility accent 3">
            <a:extLst>
              <a:ext uri="{FF2B5EF4-FFF2-40B4-BE49-F238E27FC236}">
                <a16:creationId xmlns:a16="http://schemas.microsoft.com/office/drawing/2014/main" id="{28B9FB5D-ECED-4DDC-BC9C-4A5D972A7F08}"/>
              </a:ext>
            </a:extLst>
          </p:cNvPr>
          <p:cNvSpPr>
            <a:spLocks noGrp="1"/>
          </p:cNvSpPr>
          <p:nvPr/>
        </p:nvSpPr>
        <p:spPr>
          <a:xfrm>
            <a:off x="6000750" y="3409950"/>
            <a:ext cx="76200" cy="419100"/>
          </a:xfrm>
          <a:prstGeom prst="rect">
            <a:avLst/>
          </a:prstGeom>
          <a:solidFill>
            <a:srgbClr val="D4D7D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sponsibility 3 heading">
            <a:extLst>
              <a:ext uri="{FF2B5EF4-FFF2-40B4-BE49-F238E27FC236}">
                <a16:creationId xmlns:a16="http://schemas.microsoft.com/office/drawing/2014/main" id="{6300C4FE-1DD5-4A8E-941F-254CAD283791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Aktion</a:t>
            </a:r>
          </a:p>
        </p:txBody>
      </p:sp>
      <p:sp>
        <p:nvSpPr>
          <p:cNvPr id="36" name="Responsibility 3 detail">
            <a:extLst>
              <a:ext uri="{FF2B5EF4-FFF2-40B4-BE49-F238E27FC236}">
                <a16:creationId xmlns:a16="http://schemas.microsoft.com/office/drawing/2014/main" id="{5E41297E-8751-40A4-A6BA-9394DDE488B5}"/>
              </a:ext>
            </a:extLst>
          </p:cNvPr>
          <p:cNvSpPr>
            <a:spLocks noGrp="1"/>
          </p:cNvSpPr>
          <p:nvPr/>
        </p:nvSpPr>
        <p:spPr>
          <a:xfrm>
            <a:off x="6286500" y="36004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 Werkzeug wirkt auf die Zielumgebung ein</a:t>
            </a:r>
          </a:p>
        </p:txBody>
      </p:sp>
      <p:sp>
        <p:nvSpPr>
          <p:cNvPr id="37" name="Responsibility divider 3">
            <a:extLst>
              <a:ext uri="{FF2B5EF4-FFF2-40B4-BE49-F238E27FC236}">
                <a16:creationId xmlns:a16="http://schemas.microsoft.com/office/drawing/2014/main" id="{965CF37D-D831-4B93-A94A-5AA5E94C124F}"/>
              </a:ext>
            </a:extLst>
          </p:cNvPr>
          <p:cNvSpPr>
            <a:spLocks noGrp="1"/>
          </p:cNvSpPr>
          <p:nvPr/>
        </p:nvSpPr>
        <p:spPr>
          <a:xfrm>
            <a:off x="6286500" y="3981450"/>
            <a:ext cx="4762500" cy="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sponsibility accent 4">
            <a:extLst>
              <a:ext uri="{FF2B5EF4-FFF2-40B4-BE49-F238E27FC236}">
                <a16:creationId xmlns:a16="http://schemas.microsoft.com/office/drawing/2014/main" id="{DED9208A-7CA9-44DC-8A2B-FF9A5366314C}"/>
              </a:ext>
            </a:extLst>
          </p:cNvPr>
          <p:cNvSpPr>
            <a:spLocks noGrp="1"/>
          </p:cNvSpPr>
          <p:nvPr/>
        </p:nvSpPr>
        <p:spPr>
          <a:xfrm>
            <a:off x="6000750" y="4219575"/>
            <a:ext cx="76200" cy="419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ponsibility 4 heading">
            <a:extLst>
              <a:ext uri="{FF2B5EF4-FFF2-40B4-BE49-F238E27FC236}">
                <a16:creationId xmlns:a16="http://schemas.microsoft.com/office/drawing/2014/main" id="{72A1CBED-84C4-4FCF-90F9-1696B76443B2}"/>
              </a:ext>
            </a:extLst>
          </p:cNvPr>
          <p:cNvSpPr>
            <a:spLocks noGrp="1"/>
          </p:cNvSpPr>
          <p:nvPr/>
        </p:nvSpPr>
        <p:spPr>
          <a:xfrm>
            <a:off x="6286500" y="414337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Rückkopplung</a:t>
            </a:r>
          </a:p>
        </p:txBody>
      </p:sp>
      <p:sp>
        <p:nvSpPr>
          <p:cNvPr id="40" name="Responsibility 4 detail">
            <a:extLst>
              <a:ext uri="{FF2B5EF4-FFF2-40B4-BE49-F238E27FC236}">
                <a16:creationId xmlns:a16="http://schemas.microsoft.com/office/drawing/2014/main" id="{FAF2255D-E7BF-4CD9-9E28-6E4D97C94D67}"/>
              </a:ext>
            </a:extLst>
          </p:cNvPr>
          <p:cNvSpPr>
            <a:spLocks noGrp="1"/>
          </p:cNvSpPr>
          <p:nvPr/>
        </p:nvSpPr>
        <p:spPr>
          <a:xfrm>
            <a:off x="6286500" y="44100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Die Observation wird Teil des nächsten Modellaufrufs</a:t>
            </a:r>
          </a:p>
        </p:txBody>
      </p:sp>
      <p:sp>
        <p:nvSpPr>
          <p:cNvPr id="42" name="Source footer note">
            <a:extLst>
              <a:ext uri="{FF2B5EF4-FFF2-40B4-BE49-F238E27FC236}">
                <a16:creationId xmlns:a16="http://schemas.microsoft.com/office/drawing/2014/main" id="{C6565152-D5BF-43FC-847E-61FBF33521C7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CAI ersetzt den Zyklus nicht. Es erweitert die verschiedenen Schritte.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FD6AB9A-5F9E-5F59-51AB-3C8734130965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0445C2F9-D60C-44EB-B851-130687169335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CAI macht die Konfiguration explizit</a:t>
            </a:r>
          </a:p>
        </p:txBody>
      </p:sp>
      <p:graphicFrame>
        <p:nvGraphicFramePr>
          <p:cNvPr id="27" name="Tabelle 25"/>
          <p:cNvGraphicFramePr/>
          <p:nvPr/>
        </p:nvGraphicFramePr>
        <p:xfrm>
          <a:off x="838200" y="1352550"/>
          <a:ext cx="10515600" cy="39433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Ebene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Eigenbau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CAI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Was ändert sich?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Start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python slot3_agent.py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cai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echte CLI mit History, Toolanzeige, etc.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eigener System-Prompt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Wählbares Agentenprofil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Spezifische Rollen und Instruktionen für verschiedene Anwendungsfälle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Werkzeuge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GET + JSON-POST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Vielseitig und profilbezogen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Zum Beispiel frei wählbare Linux-Befehle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Laufzeit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eigene Schleife + JSONL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Turns, Verlauf, Handoffs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Framework steuert den Lauf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ource footer note">
            <a:extLst>
              <a:ext uri="{FF2B5EF4-FFF2-40B4-BE49-F238E27FC236}">
                <a16:creationId xmlns:a16="http://schemas.microsoft.com/office/drawing/2014/main" id="{BCC00DB7-2895-4F0E-AE26-72AAA7BD10D0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Gleich bleibt Modell → Werkzeug → Observation. Anders sind Rolle, Aktionsraum und Laufzeit.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E5B3003-2C54-13C6-9832-7637201064D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4BDAC910-5309-4B45-A2D0-9BB9B83AF4E8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CAI lässt sich mit unterschiedlicher Agentenlogik starten</a:t>
            </a:r>
          </a:p>
        </p:txBody>
      </p:sp>
      <p:sp>
        <p:nvSpPr>
          <p:cNvPr id="24" name="Stage 1 panel">
            <a:extLst>
              <a:ext uri="{FF2B5EF4-FFF2-40B4-BE49-F238E27FC236}">
                <a16:creationId xmlns:a16="http://schemas.microsoft.com/office/drawing/2014/main" id="{94749AB4-B2AC-487D-807B-6927043C5F35}"/>
              </a:ext>
            </a:extLst>
          </p:cNvPr>
          <p:cNvSpPr>
            <a:spLocks noGrp="1"/>
          </p:cNvSpPr>
          <p:nvPr/>
        </p:nvSpPr>
        <p:spPr>
          <a:xfrm>
            <a:off x="838200" y="1381125"/>
            <a:ext cx="2381250" cy="3714750"/>
          </a:xfrm>
          <a:prstGeom prst="roundRect">
            <a:avLst>
              <a:gd name="adj" fmla="val 4000"/>
            </a:avLst>
          </a:prstGeom>
          <a:solidFill>
            <a:srgbClr val="D4D7DE"/>
          </a:solidFill>
          <a:ln w="0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tage 1 label">
            <a:extLst>
              <a:ext uri="{FF2B5EF4-FFF2-40B4-BE49-F238E27FC236}">
                <a16:creationId xmlns:a16="http://schemas.microsoft.com/office/drawing/2014/main" id="{148B8FE4-7C04-4026-9B64-94876A2BEBE7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SPEZIALIST</a:t>
            </a:r>
          </a:p>
        </p:txBody>
      </p:sp>
      <p:sp>
        <p:nvSpPr>
          <p:cNvPr id="26" name="Stage 1 heading">
            <a:extLst>
              <a:ext uri="{FF2B5EF4-FFF2-40B4-BE49-F238E27FC236}">
                <a16:creationId xmlns:a16="http://schemas.microsoft.com/office/drawing/2014/main" id="{794BA543-F65F-49FA-8159-1A2DB50C23A9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festes Profil</a:t>
            </a:r>
          </a:p>
          <a:p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direkt starten</a:t>
            </a:r>
          </a:p>
        </p:txBody>
      </p:sp>
      <p:sp>
        <p:nvSpPr>
          <p:cNvPr id="27" name="Stage 1 body">
            <a:extLst>
              <a:ext uri="{FF2B5EF4-FFF2-40B4-BE49-F238E27FC236}">
                <a16:creationId xmlns:a16="http://schemas.microsoft.com/office/drawing/2014/main" id="{F2A883CE-A166-4433-ACF7-6192D07BACD7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CAI_AGENT_TYPE setzt</a:t>
            </a:r>
          </a:p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das Profil; alle Turns</a:t>
            </a:r>
          </a:p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bleiben bei diesem Agenten.</a:t>
            </a:r>
          </a:p>
        </p:txBody>
      </p:sp>
      <p:sp>
        <p:nvSpPr>
          <p:cNvPr id="28" name="Stage 2 panel">
            <a:extLst>
              <a:ext uri="{FF2B5EF4-FFF2-40B4-BE49-F238E27FC236}">
                <a16:creationId xmlns:a16="http://schemas.microsoft.com/office/drawing/2014/main" id="{0E2108F3-1594-4472-9DCD-357C65B00051}"/>
              </a:ext>
            </a:extLst>
          </p:cNvPr>
          <p:cNvSpPr>
            <a:spLocks noGrp="1"/>
          </p:cNvSpPr>
          <p:nvPr/>
        </p:nvSpPr>
        <p:spPr>
          <a:xfrm>
            <a:off x="3505200" y="1381125"/>
            <a:ext cx="2381250" cy="3714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tage 2 label">
            <a:extLst>
              <a:ext uri="{FF2B5EF4-FFF2-40B4-BE49-F238E27FC236}">
                <a16:creationId xmlns:a16="http://schemas.microsoft.com/office/drawing/2014/main" id="{C1F88FCE-9007-466F-89F3-9B55F3120EE8}"/>
              </a:ext>
            </a:extLst>
          </p:cNvPr>
          <p:cNvSpPr>
            <a:spLocks noGrp="1"/>
          </p:cNvSpPr>
          <p:nvPr/>
        </p:nvSpPr>
        <p:spPr>
          <a:xfrm>
            <a:off x="3695700" y="16002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CLI-WECHSEL</a:t>
            </a:r>
          </a:p>
        </p:txBody>
      </p:sp>
      <p:sp>
        <p:nvSpPr>
          <p:cNvPr id="30" name="Stage 2 heading">
            <a:extLst>
              <a:ext uri="{FF2B5EF4-FFF2-40B4-BE49-F238E27FC236}">
                <a16:creationId xmlns:a16="http://schemas.microsoft.com/office/drawing/2014/main" id="{C9A522E6-F1C2-4D5C-B371-9FDCF5653284}"/>
              </a:ext>
            </a:extLst>
          </p:cNvPr>
          <p:cNvSpPr>
            <a:spLocks noGrp="1"/>
          </p:cNvSpPr>
          <p:nvPr/>
        </p:nvSpPr>
        <p:spPr>
          <a:xfrm>
            <a:off x="3695700" y="21907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Profil prüfen</a:t>
            </a:r>
          </a:p>
          <a:p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und manuell wechseln</a:t>
            </a:r>
          </a:p>
        </p:txBody>
      </p:sp>
      <p:sp>
        <p:nvSpPr>
          <p:cNvPr id="31" name="Stage 2 body">
            <a:extLst>
              <a:ext uri="{FF2B5EF4-FFF2-40B4-BE49-F238E27FC236}">
                <a16:creationId xmlns:a16="http://schemas.microsoft.com/office/drawing/2014/main" id="{CAF230EF-29C6-45F9-8CD6-47A86DE6C72E}"/>
              </a:ext>
            </a:extLst>
          </p:cNvPr>
          <p:cNvSpPr>
            <a:spLocks noGrp="1"/>
          </p:cNvSpPr>
          <p:nvPr/>
        </p:nvSpPr>
        <p:spPr>
          <a:xfrm>
            <a:off x="3676650" y="37147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Mensch prüft</a:t>
            </a:r>
          </a:p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/agent info und wechselt</a:t>
            </a:r>
          </a:p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den aktiven Agenten</a:t>
            </a:r>
          </a:p>
          <a:p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per /agent.</a:t>
            </a:r>
          </a:p>
        </p:txBody>
      </p:sp>
      <p:sp>
        <p:nvSpPr>
          <p:cNvPr id="32" name="Stage 3 panel">
            <a:extLst>
              <a:ext uri="{FF2B5EF4-FFF2-40B4-BE49-F238E27FC236}">
                <a16:creationId xmlns:a16="http://schemas.microsoft.com/office/drawing/2014/main" id="{2590CF0A-44B8-46DF-9D3F-08B95B639F13}"/>
              </a:ext>
            </a:extLst>
          </p:cNvPr>
          <p:cNvSpPr>
            <a:spLocks noGrp="1"/>
          </p:cNvSpPr>
          <p:nvPr/>
        </p:nvSpPr>
        <p:spPr>
          <a:xfrm>
            <a:off x="6172200" y="1381125"/>
            <a:ext cx="2381250" cy="3714750"/>
          </a:xfrm>
          <a:prstGeom prst="roundRect">
            <a:avLst>
              <a:gd name="adj" fmla="val 4000"/>
            </a:avLst>
          </a:prstGeom>
          <a:solidFill>
            <a:srgbClr val="48536D"/>
          </a:solidFill>
          <a:ln w="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tage 3 label">
            <a:extLst>
              <a:ext uri="{FF2B5EF4-FFF2-40B4-BE49-F238E27FC236}">
                <a16:creationId xmlns:a16="http://schemas.microsoft.com/office/drawing/2014/main" id="{AEB1B37F-9FB9-4476-9971-0427162C885B}"/>
              </a:ext>
            </a:extLst>
          </p:cNvPr>
          <p:cNvSpPr>
            <a:spLocks noGrp="1"/>
          </p:cNvSpPr>
          <p:nvPr/>
        </p:nvSpPr>
        <p:spPr>
          <a:xfrm>
            <a:off x="6362700" y="16002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HANDOFF</a:t>
            </a:r>
          </a:p>
        </p:txBody>
      </p:sp>
      <p:sp>
        <p:nvSpPr>
          <p:cNvPr id="34" name="Stage 3 heading">
            <a:extLst>
              <a:ext uri="{FF2B5EF4-FFF2-40B4-BE49-F238E27FC236}">
                <a16:creationId xmlns:a16="http://schemas.microsoft.com/office/drawing/2014/main" id="{5EE0B36A-1A77-45F4-8AED-F2FC61B8A451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 an Spezialisten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übergeben</a:t>
            </a:r>
            <a:endParaRPr sz="1650" b="1">
              <a:solidFill>
                <a:srgbClr val="FFFFFF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5" name="Stage 3 body">
            <a:extLst>
              <a:ext uri="{FF2B5EF4-FFF2-40B4-BE49-F238E27FC236}">
                <a16:creationId xmlns:a16="http://schemas.microsoft.com/office/drawing/2014/main" id="{5AD7FD7A-D961-4717-A742-C59B213121B8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selection_agent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klassifiziert das Ziel und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übergibt Kontext sowie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Kontrolle per Handoff.</a:t>
            </a:r>
          </a:p>
        </p:txBody>
      </p:sp>
      <p:sp>
        <p:nvSpPr>
          <p:cNvPr id="36" name="Stage 4 panel">
            <a:extLst>
              <a:ext uri="{FF2B5EF4-FFF2-40B4-BE49-F238E27FC236}">
                <a16:creationId xmlns:a16="http://schemas.microsoft.com/office/drawing/2014/main" id="{82D50311-BA53-4D4C-BC83-0418B8AE134B}"/>
              </a:ext>
            </a:extLst>
          </p:cNvPr>
          <p:cNvSpPr>
            <a:spLocks noGrp="1"/>
          </p:cNvSpPr>
          <p:nvPr/>
        </p:nvSpPr>
        <p:spPr>
          <a:xfrm>
            <a:off x="8839200" y="1381125"/>
            <a:ext cx="2381250" cy="3714750"/>
          </a:xfrm>
          <a:prstGeom prst="roundRect">
            <a:avLst>
              <a:gd name="adj" fmla="val 4000"/>
            </a:avLst>
          </a:prstGeom>
          <a:solidFill>
            <a:srgbClr val="778198"/>
          </a:solidFill>
          <a:ln w="0">
            <a:solidFill>
              <a:srgbClr val="7781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tage 4 label">
            <a:extLst>
              <a:ext uri="{FF2B5EF4-FFF2-40B4-BE49-F238E27FC236}">
                <a16:creationId xmlns:a16="http://schemas.microsoft.com/office/drawing/2014/main" id="{4BC86113-8B18-486F-B400-89AF8B18BD3A}"/>
              </a:ext>
            </a:extLst>
          </p:cNvPr>
          <p:cNvSpPr>
            <a:spLocks noGrp="1"/>
          </p:cNvSpPr>
          <p:nvPr/>
        </p:nvSpPr>
        <p:spPr>
          <a:xfrm>
            <a:off x="9029700" y="16002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ORCHESTRIERUNG</a:t>
            </a:r>
          </a:p>
        </p:txBody>
      </p:sp>
      <p:sp>
        <p:nvSpPr>
          <p:cNvPr id="38" name="Stage 4 heading">
            <a:extLst>
              <a:ext uri="{FF2B5EF4-FFF2-40B4-BE49-F238E27FC236}">
                <a16:creationId xmlns:a16="http://schemas.microsoft.com/office/drawing/2014/main" id="{7913E30A-1DCF-4C3D-B591-0BD6E4D98F28}"/>
              </a:ext>
            </a:extLst>
          </p:cNvPr>
          <p:cNvSpPr>
            <a:spLocks noGrp="1"/>
          </p:cNvSpPr>
          <p:nvPr/>
        </p:nvSpPr>
        <p:spPr>
          <a:xfrm>
            <a:off x="9029700" y="21907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mehrere Spezialisten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koordinieren</a:t>
            </a:r>
          </a:p>
        </p:txBody>
      </p:sp>
      <p:sp>
        <p:nvSpPr>
          <p:cNvPr id="39" name="Stage 4 body">
            <a:extLst>
              <a:ext uri="{FF2B5EF4-FFF2-40B4-BE49-F238E27FC236}">
                <a16:creationId xmlns:a16="http://schemas.microsoft.com/office/drawing/2014/main" id="{050BA9C1-3F19-4BE9-9CF6-F337C409FEFF}"/>
              </a:ext>
            </a:extLst>
          </p:cNvPr>
          <p:cNvSpPr>
            <a:spLocks noGrp="1"/>
          </p:cNvSpPr>
          <p:nvPr/>
        </p:nvSpPr>
        <p:spPr>
          <a:xfrm>
            <a:off x="9010650" y="37147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orchestration_agent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zerlegt das Ziel, startet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Spezialisten sequenziell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oder parallel und bündelt</a:t>
            </a:r>
          </a:p>
          <a:p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Ergebnisse.</a:t>
            </a:r>
          </a:p>
        </p:txBody>
      </p:sp>
      <p:sp>
        <p:nvSpPr>
          <p:cNvPr id="41" name="Source footer note">
            <a:extLst>
              <a:ext uri="{FF2B5EF4-FFF2-40B4-BE49-F238E27FC236}">
                <a16:creationId xmlns:a16="http://schemas.microsoft.com/office/drawing/2014/main" id="{7E2CC331-2947-4095-B5B3-F17A394F8DA4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Unterschiedlich ist, wer auswählt, ob Kontrolle übergeben wird und wie viele Agenten am Ziel arbeiten.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C630A04-5A25-9E0C-9436-126091DB86B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BAFC4A8A-7CEA-41AF-94AA-86EF54BD60F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Hands-on: CAI starten und Agentenprofil wählen</a:t>
            </a:r>
          </a:p>
        </p:txBody>
      </p:sp>
      <p:sp>
        <p:nvSpPr>
          <p:cNvPr id="21" name="Script line 1">
            <a:extLst>
              <a:ext uri="{FF2B5EF4-FFF2-40B4-BE49-F238E27FC236}">
                <a16:creationId xmlns:a16="http://schemas.microsoft.com/office/drawing/2014/main" id="{EECC9806-0E69-4DCC-BB16-A65556F8D913}"/>
              </a:ext>
            </a:extLst>
          </p:cNvPr>
          <p:cNvSpPr>
            <a:spLocks noGrp="1"/>
          </p:cNvSpPr>
          <p:nvPr/>
        </p:nvSpPr>
        <p:spPr>
          <a:xfrm>
            <a:off x="1104900" y="1981200"/>
            <a:ext cx="0" cy="57150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cript number 1">
            <a:extLst>
              <a:ext uri="{FF2B5EF4-FFF2-40B4-BE49-F238E27FC236}">
                <a16:creationId xmlns:a16="http://schemas.microsoft.com/office/drawing/2014/main" id="{3AD97D60-4886-4FF5-BD83-DD036FA5BF06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3" name="Script step 1">
            <a:extLst>
              <a:ext uri="{FF2B5EF4-FFF2-40B4-BE49-F238E27FC236}">
                <a16:creationId xmlns:a16="http://schemas.microsoft.com/office/drawing/2014/main" id="{30CD47FD-9F21-445D-B119-58A90791819E}"/>
              </a:ext>
            </a:extLst>
          </p:cNvPr>
          <p:cNvSpPr>
            <a:spLocks noGrp="1"/>
          </p:cNvSpPr>
          <p:nvPr/>
        </p:nvSpPr>
        <p:spPr>
          <a:xfrm>
            <a:off x="1447800" y="15240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Vorbereiten: Workshoplaufzeit aus Git abrufen</a:t>
            </a:r>
          </a:p>
        </p:txBody>
      </p:sp>
      <p:sp>
        <p:nvSpPr>
          <p:cNvPr id="24" name="Script line 2">
            <a:extLst>
              <a:ext uri="{FF2B5EF4-FFF2-40B4-BE49-F238E27FC236}">
                <a16:creationId xmlns:a16="http://schemas.microsoft.com/office/drawing/2014/main" id="{E15CCB09-B038-4797-9255-397A0B7DCC0B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0" cy="57150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cript number 2">
            <a:extLst>
              <a:ext uri="{FF2B5EF4-FFF2-40B4-BE49-F238E27FC236}">
                <a16:creationId xmlns:a16="http://schemas.microsoft.com/office/drawing/2014/main" id="{DC4D68AC-4054-4DB7-AB7A-69DC89E30DCF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6" name="Script step 2">
            <a:extLst>
              <a:ext uri="{FF2B5EF4-FFF2-40B4-BE49-F238E27FC236}">
                <a16:creationId xmlns:a16="http://schemas.microsoft.com/office/drawing/2014/main" id="{A701CE7B-EBEC-4126-B155-0FC4D4123A2F}"/>
              </a:ext>
            </a:extLst>
          </p:cNvPr>
          <p:cNvSpPr>
            <a:spLocks noGrp="1"/>
          </p:cNvSpPr>
          <p:nvPr/>
        </p:nvSpPr>
        <p:spPr>
          <a:xfrm>
            <a:off x="1447800" y="24003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Starten: docker compose … run --rm cai</a:t>
            </a:r>
          </a:p>
        </p:txBody>
      </p:sp>
      <p:sp>
        <p:nvSpPr>
          <p:cNvPr id="27" name="Script line 3">
            <a:extLst>
              <a:ext uri="{FF2B5EF4-FFF2-40B4-BE49-F238E27FC236}">
                <a16:creationId xmlns:a16="http://schemas.microsoft.com/office/drawing/2014/main" id="{29BB7931-E7F5-4C19-A264-ACB04378097E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0" cy="57150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cript number 3">
            <a:extLst>
              <a:ext uri="{FF2B5EF4-FFF2-40B4-BE49-F238E27FC236}">
                <a16:creationId xmlns:a16="http://schemas.microsoft.com/office/drawing/2014/main" id="{A7082444-3AD4-472C-A1C0-4BC04EAD3232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9" name="Script step 3">
            <a:extLst>
              <a:ext uri="{FF2B5EF4-FFF2-40B4-BE49-F238E27FC236}">
                <a16:creationId xmlns:a16="http://schemas.microsoft.com/office/drawing/2014/main" id="{AD674813-9A6D-4A05-AEEA-AE046F68DC27}"/>
              </a:ext>
            </a:extLst>
          </p:cNvPr>
          <p:cNvSpPr>
            <a:spLocks noGrp="1"/>
          </p:cNvSpPr>
          <p:nvPr/>
        </p:nvSpPr>
        <p:spPr>
          <a:xfrm>
            <a:off x="1447800" y="32766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Profile gezielt überfliegen:</a:t>
            </a:r>
          </a:p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Rolle</a:t>
            </a:r>
          </a:p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Einsatzzweck und Werkzeuge vergleichen</a:t>
            </a:r>
          </a:p>
        </p:txBody>
      </p:sp>
      <p:sp>
        <p:nvSpPr>
          <p:cNvPr id="30" name="Script number 4">
            <a:extLst>
              <a:ext uri="{FF2B5EF4-FFF2-40B4-BE49-F238E27FC236}">
                <a16:creationId xmlns:a16="http://schemas.microsoft.com/office/drawing/2014/main" id="{22D3599B-FE96-4D73-945F-CEF4EFEDFAD5}"/>
              </a:ext>
            </a:extLst>
          </p:cNvPr>
          <p:cNvSpPr>
            <a:spLocks noGrp="1"/>
          </p:cNvSpPr>
          <p:nvPr/>
        </p:nvSpPr>
        <p:spPr>
          <a:xfrm>
            <a:off x="838200" y="41529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1" name="Script step 4">
            <a:extLst>
              <a:ext uri="{FF2B5EF4-FFF2-40B4-BE49-F238E27FC236}">
                <a16:creationId xmlns:a16="http://schemas.microsoft.com/office/drawing/2014/main" id="{865D4D69-AC8D-4111-A015-376E28EFEF42}"/>
              </a:ext>
            </a:extLst>
          </p:cNvPr>
          <p:cNvSpPr>
            <a:spLocks noGrp="1"/>
          </p:cNvSpPr>
          <p:nvPr/>
        </p:nvSpPr>
        <p:spPr>
          <a:xfrm>
            <a:off x="1447800" y="41529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Wählen: /agent select one_tool_agent</a:t>
            </a:r>
          </a:p>
        </p:txBody>
      </p:sp>
      <p:sp>
        <p:nvSpPr>
          <p:cNvPr id="32" name="Strength panel">
            <a:extLst>
              <a:ext uri="{FF2B5EF4-FFF2-40B4-BE49-F238E27FC236}">
                <a16:creationId xmlns:a16="http://schemas.microsoft.com/office/drawing/2014/main" id="{A1AA0BE4-50BE-4A30-88E3-6427926B18F5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trength heading">
            <a:extLst>
              <a:ext uri="{FF2B5EF4-FFF2-40B4-BE49-F238E27FC236}">
                <a16:creationId xmlns:a16="http://schemas.microsoft.com/office/drawing/2014/main" id="{FC007438-F939-4E5E-A0F6-1C331C0F2B92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Dann ausführen</a:t>
            </a:r>
          </a:p>
        </p:txBody>
      </p:sp>
      <p:sp>
        <p:nvSpPr>
          <p:cNvPr id="34" name="Strength body">
            <a:extLst>
              <a:ext uri="{FF2B5EF4-FFF2-40B4-BE49-F238E27FC236}">
                <a16:creationId xmlns:a16="http://schemas.microsoft.com/office/drawing/2014/main" id="{08445316-BC79-4A0B-B7D8-0F345F1E8F7D}"/>
              </a:ext>
            </a:extLst>
          </p:cNvPr>
          <p:cNvSpPr>
            <a:spLocks noGrp="1"/>
          </p:cNvSpPr>
          <p:nvPr/>
        </p:nvSpPr>
        <p:spPr>
          <a:xfrm>
            <a:off x="6477000" y="20669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Login Admin mit Ziel-URL und sichtbarem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Erfolgsbeleg bearbeiten.</a:t>
            </a:r>
          </a:p>
        </p:txBody>
      </p:sp>
      <p:sp>
        <p:nvSpPr>
          <p:cNvPr id="35" name="Limit panel">
            <a:extLst>
              <a:ext uri="{FF2B5EF4-FFF2-40B4-BE49-F238E27FC236}">
                <a16:creationId xmlns:a16="http://schemas.microsoft.com/office/drawing/2014/main" id="{E0D263A8-2AD8-406B-8C6A-F231CA56E770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Limit heading">
            <a:extLst>
              <a:ext uri="{FF2B5EF4-FFF2-40B4-BE49-F238E27FC236}">
                <a16:creationId xmlns:a16="http://schemas.microsoft.com/office/drawing/2014/main" id="{E952CAEE-5DD9-4D17-A4AA-3781379CA390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Beobachtet</a:t>
            </a:r>
          </a:p>
        </p:txBody>
      </p:sp>
      <p:sp>
        <p:nvSpPr>
          <p:cNvPr id="37" name="Limit body">
            <a:extLst>
              <a:ext uri="{FF2B5EF4-FFF2-40B4-BE49-F238E27FC236}">
                <a16:creationId xmlns:a16="http://schemas.microsoft.com/office/drawing/2014/main" id="{ADDDAB00-25AE-475F-BAA3-A7B7E64A44FA}"/>
              </a:ext>
            </a:extLst>
          </p:cNvPr>
          <p:cNvSpPr>
            <a:spLocks noGrp="1"/>
          </p:cNvSpPr>
          <p:nvPr/>
        </p:nvSpPr>
        <p:spPr>
          <a:xfrm>
            <a:off x="6477000" y="38195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Agentenrolle, Werkzeuge, Turns und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Rückmeldungen dem ReAct-Kern zuordnen.</a:t>
            </a:r>
          </a:p>
        </p:txBody>
      </p:sp>
      <p:sp>
        <p:nvSpPr>
          <p:cNvPr id="39" name="Source footer note">
            <a:extLst>
              <a:ext uri="{FF2B5EF4-FFF2-40B4-BE49-F238E27FC236}">
                <a16:creationId xmlns:a16="http://schemas.microsoft.com/office/drawing/2014/main" id="{56B50BD9-A192-47D5-AC41-8485530AE070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Erst defensiv abgrenzen, dann feste CTF-Aufgabe und offene Schwachstellensuche unterscheiden.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3D7D1C8-AE23-AA48-DF65-C742588DBE4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7318AAF2-15FE-4A93-80AC-3CDB78F0E369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Agentenwahl: erst Richtung, dann Spezialisierung</a:t>
            </a:r>
          </a:p>
        </p:txBody>
      </p:sp>
      <p:sp>
        <p:nvSpPr>
          <p:cNvPr id="21" name="Goal label">
            <a:extLst>
              <a:ext uri="{FF2B5EF4-FFF2-40B4-BE49-F238E27FC236}">
                <a16:creationId xmlns:a16="http://schemas.microsoft.com/office/drawing/2014/main" id="{D9CCFCDC-6C37-46BF-96F5-658DECC0E5CB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876300" cy="323850"/>
          </a:xfrm>
          <a:prstGeom prst="roundRect">
            <a:avLst>
              <a:gd name="adj" fmla="val 50000"/>
            </a:avLst>
          </a:prstGeom>
          <a:solidFill>
            <a:srgbClr val="48536D"/>
          </a:solidFill>
          <a:ln w="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Goal label text">
            <a:extLst>
              <a:ext uri="{FF2B5EF4-FFF2-40B4-BE49-F238E27FC236}">
                <a16:creationId xmlns:a16="http://schemas.microsoft.com/office/drawing/2014/main" id="{6C065F79-556B-4426-A939-DD4D3CBD4690}"/>
              </a:ext>
            </a:extLst>
          </p:cNvPr>
          <p:cNvSpPr>
            <a:spLocks noGrp="1"/>
          </p:cNvSpPr>
          <p:nvPr/>
        </p:nvSpPr>
        <p:spPr>
          <a:xfrm>
            <a:off x="933450" y="11430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PROFIL</a:t>
            </a:r>
          </a:p>
        </p:txBody>
      </p:sp>
      <p:sp>
        <p:nvSpPr>
          <p:cNvPr id="23" name="Run goal">
            <a:extLst>
              <a:ext uri="{FF2B5EF4-FFF2-40B4-BE49-F238E27FC236}">
                <a16:creationId xmlns:a16="http://schemas.microsoft.com/office/drawing/2014/main" id="{033ED0D3-3972-46E8-A764-B902CF65C179}"/>
              </a:ext>
            </a:extLst>
          </p:cNvPr>
          <p:cNvSpPr>
            <a:spLocks noGrp="1"/>
          </p:cNvSpPr>
          <p:nvPr/>
        </p:nvSpPr>
        <p:spPr>
          <a:xfrm>
            <a:off x="1943100" y="1047750"/>
            <a:ext cx="941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Rolle, Instruktionen, Werkzeuge und Übergaben für einen Einsatzzweck. Das Modell bleibt gleich.</a:t>
            </a:r>
          </a:p>
        </p:txBody>
      </p:sp>
      <p:sp>
        <p:nvSpPr>
          <p:cNvPr id="29" name="Run card 1">
            <a:extLst>
              <a:ext uri="{FF2B5EF4-FFF2-40B4-BE49-F238E27FC236}">
                <a16:creationId xmlns:a16="http://schemas.microsoft.com/office/drawing/2014/main" id="{1CF5429B-AD3D-4819-96F0-EE4EB01EF894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1524000" cy="3238500"/>
          </a:xfrm>
          <a:prstGeom prst="roundRect">
            <a:avLst>
              <a:gd name="adj" fmla="val 5000"/>
            </a:avLst>
          </a:prstGeom>
          <a:solidFill>
            <a:srgbClr val="D4D7DE"/>
          </a:solidFill>
          <a:ln w="0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un card 1 symbol">
            <a:extLst>
              <a:ext uri="{FF2B5EF4-FFF2-40B4-BE49-F238E27FC236}">
                <a16:creationId xmlns:a16="http://schemas.microsoft.com/office/drawing/2014/main" id="{E3DD53C6-5E6F-4EA5-944A-8B12900E7077}"/>
              </a:ext>
            </a:extLst>
          </p:cNvPr>
          <p:cNvSpPr>
            <a:spLocks noGrp="1"/>
          </p:cNvSpPr>
          <p:nvPr/>
        </p:nvSpPr>
        <p:spPr>
          <a:xfrm>
            <a:off x="1009650" y="198120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1" name="Run card 1 type">
            <a:extLst>
              <a:ext uri="{FF2B5EF4-FFF2-40B4-BE49-F238E27FC236}">
                <a16:creationId xmlns:a16="http://schemas.microsoft.com/office/drawing/2014/main" id="{B42C6AA0-A07C-48AF-B126-7EFAA874EC9E}"/>
              </a:ext>
            </a:extLst>
          </p:cNvPr>
          <p:cNvSpPr>
            <a:spLocks noGrp="1"/>
          </p:cNvSpPr>
          <p:nvPr/>
        </p:nvSpPr>
        <p:spPr>
          <a:xfrm>
            <a:off x="952500" y="2419350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bug_bounter_</a:t>
            </a:r>
          </a:p>
          <a:p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</a:t>
            </a:r>
          </a:p>
        </p:txBody>
      </p:sp>
      <p:sp>
        <p:nvSpPr>
          <p:cNvPr id="32" name="Run card 1 body">
            <a:extLst>
              <a:ext uri="{FF2B5EF4-FFF2-40B4-BE49-F238E27FC236}">
                <a16:creationId xmlns:a16="http://schemas.microsoft.com/office/drawing/2014/main" id="{2ADB819A-6281-4C20-BC3D-CB13F00530A0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1295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BUG BOUNTY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Offene Web-/API-Suche mit Reproduktion und Dokumentation.</a:t>
            </a:r>
          </a:p>
        </p:txBody>
      </p:sp>
      <p:sp>
        <p:nvSpPr>
          <p:cNvPr id="33" name="Run card 2">
            <a:extLst>
              <a:ext uri="{FF2B5EF4-FFF2-40B4-BE49-F238E27FC236}">
                <a16:creationId xmlns:a16="http://schemas.microsoft.com/office/drawing/2014/main" id="{37FC3766-52BC-4525-A43D-68AC1E6A1AC3}"/>
              </a:ext>
            </a:extLst>
          </p:cNvPr>
          <p:cNvSpPr>
            <a:spLocks noGrp="1"/>
          </p:cNvSpPr>
          <p:nvPr/>
        </p:nvSpPr>
        <p:spPr>
          <a:xfrm>
            <a:off x="2571750" y="1809750"/>
            <a:ext cx="1524000" cy="3238500"/>
          </a:xfrm>
          <a:prstGeom prst="roundRect">
            <a:avLst>
              <a:gd name="adj" fmla="val 5000"/>
            </a:avLst>
          </a:prstGeom>
          <a:solidFill>
            <a:srgbClr val="778198"/>
          </a:solidFill>
          <a:ln w="0">
            <a:solidFill>
              <a:srgbClr val="7781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un card 2 symbol">
            <a:extLst>
              <a:ext uri="{FF2B5EF4-FFF2-40B4-BE49-F238E27FC236}">
                <a16:creationId xmlns:a16="http://schemas.microsoft.com/office/drawing/2014/main" id="{7BD0E8AA-57DC-4CCC-983A-547B615C9633}"/>
              </a:ext>
            </a:extLst>
          </p:cNvPr>
          <p:cNvSpPr>
            <a:spLocks noGrp="1"/>
          </p:cNvSpPr>
          <p:nvPr/>
        </p:nvSpPr>
        <p:spPr>
          <a:xfrm>
            <a:off x="2743200" y="198120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5" name="Run card 2 type">
            <a:extLst>
              <a:ext uri="{FF2B5EF4-FFF2-40B4-BE49-F238E27FC236}">
                <a16:creationId xmlns:a16="http://schemas.microsoft.com/office/drawing/2014/main" id="{D013B161-7EE7-49C9-96C0-1C5E7B39A380}"/>
              </a:ext>
            </a:extLst>
          </p:cNvPr>
          <p:cNvSpPr>
            <a:spLocks noGrp="1"/>
          </p:cNvSpPr>
          <p:nvPr/>
        </p:nvSpPr>
        <p:spPr>
          <a:xfrm>
            <a:off x="2686050" y="2419350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redteam_agent</a:t>
            </a:r>
          </a:p>
        </p:txBody>
      </p:sp>
      <p:sp>
        <p:nvSpPr>
          <p:cNvPr id="36" name="Run card 2 body">
            <a:extLst>
              <a:ext uri="{FF2B5EF4-FFF2-40B4-BE49-F238E27FC236}">
                <a16:creationId xmlns:a16="http://schemas.microsoft.com/office/drawing/2014/main" id="{40FDD9A5-2884-4979-B850-933D4C4B1412}"/>
              </a:ext>
            </a:extLst>
          </p:cNvPr>
          <p:cNvSpPr>
            <a:spLocks noGrp="1"/>
          </p:cNvSpPr>
          <p:nvPr/>
        </p:nvSpPr>
        <p:spPr>
          <a:xfrm>
            <a:off x="2686050" y="3009900"/>
            <a:ext cx="1295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PENTEST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Plant breite Tests von Aufklärung bis Ausnutzung.</a:t>
            </a:r>
          </a:p>
        </p:txBody>
      </p:sp>
      <p:sp>
        <p:nvSpPr>
          <p:cNvPr id="37" name="Run card 3">
            <a:extLst>
              <a:ext uri="{FF2B5EF4-FFF2-40B4-BE49-F238E27FC236}">
                <a16:creationId xmlns:a16="http://schemas.microsoft.com/office/drawing/2014/main" id="{F6965F7B-4E0F-42F7-B18F-42AACA123669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1524000" cy="3238500"/>
          </a:xfrm>
          <a:prstGeom prst="roundRect">
            <a:avLst>
              <a:gd name="adj" fmla="val 5000"/>
            </a:avLst>
          </a:prstGeom>
          <a:solidFill>
            <a:srgbClr val="48536D"/>
          </a:solidFill>
          <a:ln w="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un card 3 symbol">
            <a:extLst>
              <a:ext uri="{FF2B5EF4-FFF2-40B4-BE49-F238E27FC236}">
                <a16:creationId xmlns:a16="http://schemas.microsoft.com/office/drawing/2014/main" id="{090C42CC-944E-4207-9C34-1A2E7FA7B39B}"/>
              </a:ext>
            </a:extLst>
          </p:cNvPr>
          <p:cNvSpPr>
            <a:spLocks noGrp="1"/>
          </p:cNvSpPr>
          <p:nvPr/>
        </p:nvSpPr>
        <p:spPr>
          <a:xfrm>
            <a:off x="4476750" y="198120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9" name="Run card 3 type">
            <a:extLst>
              <a:ext uri="{FF2B5EF4-FFF2-40B4-BE49-F238E27FC236}">
                <a16:creationId xmlns:a16="http://schemas.microsoft.com/office/drawing/2014/main" id="{977B3C50-79CA-4D08-8A9C-D072225D5A09}"/>
              </a:ext>
            </a:extLst>
          </p:cNvPr>
          <p:cNvSpPr>
            <a:spLocks noGrp="1"/>
          </p:cNvSpPr>
          <p:nvPr/>
        </p:nvSpPr>
        <p:spPr>
          <a:xfrm>
            <a:off x="4419600" y="2419350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blueteam_agent</a:t>
            </a:r>
          </a:p>
        </p:txBody>
      </p:sp>
      <p:sp>
        <p:nvSpPr>
          <p:cNvPr id="40" name="Run card 3 body">
            <a:extLst>
              <a:ext uri="{FF2B5EF4-FFF2-40B4-BE49-F238E27FC236}">
                <a16:creationId xmlns:a16="http://schemas.microsoft.com/office/drawing/2014/main" id="{8649252F-3E5F-4047-A216-9381FB0E4AF7}"/>
              </a:ext>
            </a:extLst>
          </p:cNvPr>
          <p:cNvSpPr>
            <a:spLocks noGrp="1"/>
          </p:cNvSpPr>
          <p:nvPr/>
        </p:nvSpPr>
        <p:spPr>
          <a:xfrm>
            <a:off x="4419600" y="3009900"/>
            <a:ext cx="1295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DEFENSIVE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Analysiert Traffic und Logs. Leitet Abwehr ab.</a:t>
            </a:r>
          </a:p>
        </p:txBody>
      </p:sp>
      <p:sp>
        <p:nvSpPr>
          <p:cNvPr id="41" name="Run card 4">
            <a:extLst>
              <a:ext uri="{FF2B5EF4-FFF2-40B4-BE49-F238E27FC236}">
                <a16:creationId xmlns:a16="http://schemas.microsoft.com/office/drawing/2014/main" id="{C630A263-73E6-463E-902D-4C2A8BB29666}"/>
              </a:ext>
            </a:extLst>
          </p:cNvPr>
          <p:cNvSpPr>
            <a:spLocks noGrp="1"/>
          </p:cNvSpPr>
          <p:nvPr/>
        </p:nvSpPr>
        <p:spPr>
          <a:xfrm>
            <a:off x="6038850" y="1809750"/>
            <a:ext cx="1524000" cy="323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un card 4 symbol">
            <a:extLst>
              <a:ext uri="{FF2B5EF4-FFF2-40B4-BE49-F238E27FC236}">
                <a16:creationId xmlns:a16="http://schemas.microsoft.com/office/drawing/2014/main" id="{798CBBD7-E7DD-4BDC-A9BE-A38E3327F363}"/>
              </a:ext>
            </a:extLst>
          </p:cNvPr>
          <p:cNvSpPr>
            <a:spLocks noGrp="1"/>
          </p:cNvSpPr>
          <p:nvPr/>
        </p:nvSpPr>
        <p:spPr>
          <a:xfrm>
            <a:off x="6210300" y="198120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3" name="Run card 4 type">
            <a:extLst>
              <a:ext uri="{FF2B5EF4-FFF2-40B4-BE49-F238E27FC236}">
                <a16:creationId xmlns:a16="http://schemas.microsoft.com/office/drawing/2014/main" id="{DDF1EB97-4A50-4779-9F00-8FBAA4CFC6B3}"/>
              </a:ext>
            </a:extLst>
          </p:cNvPr>
          <p:cNvSpPr>
            <a:spLocks noGrp="1"/>
          </p:cNvSpPr>
          <p:nvPr/>
        </p:nvSpPr>
        <p:spPr>
          <a:xfrm>
            <a:off x="6153150" y="2419350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dfir_agent</a:t>
            </a:r>
          </a:p>
        </p:txBody>
      </p:sp>
      <p:sp>
        <p:nvSpPr>
          <p:cNvPr id="44" name="Run card 4 body">
            <a:extLst>
              <a:ext uri="{FF2B5EF4-FFF2-40B4-BE49-F238E27FC236}">
                <a16:creationId xmlns:a16="http://schemas.microsoft.com/office/drawing/2014/main" id="{21FFEC1C-B52E-430D-9109-F0A19794168A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1295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FORENSIK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Prüft Artefakte, Speicher und Zeitlinien nach Vorfällen.</a:t>
            </a:r>
          </a:p>
        </p:txBody>
      </p:sp>
      <p:sp>
        <p:nvSpPr>
          <p:cNvPr id="45" name="Run card 5">
            <a:extLst>
              <a:ext uri="{FF2B5EF4-FFF2-40B4-BE49-F238E27FC236}">
                <a16:creationId xmlns:a16="http://schemas.microsoft.com/office/drawing/2014/main" id="{D5C41E42-2C5D-4891-85AC-5ABD3B555B92}"/>
              </a:ext>
            </a:extLst>
          </p:cNvPr>
          <p:cNvSpPr>
            <a:spLocks noGrp="1"/>
          </p:cNvSpPr>
          <p:nvPr/>
        </p:nvSpPr>
        <p:spPr>
          <a:xfrm>
            <a:off x="7772400" y="1809750"/>
            <a:ext cx="1524000" cy="3238500"/>
          </a:xfrm>
          <a:prstGeom prst="roundRect">
            <a:avLst>
              <a:gd name="adj" fmla="val 5000"/>
            </a:avLst>
          </a:prstGeom>
          <a:solidFill>
            <a:srgbClr val="778198"/>
          </a:solidFill>
          <a:ln w="0">
            <a:solidFill>
              <a:srgbClr val="7781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un card 5 symbol">
            <a:extLst>
              <a:ext uri="{FF2B5EF4-FFF2-40B4-BE49-F238E27FC236}">
                <a16:creationId xmlns:a16="http://schemas.microsoft.com/office/drawing/2014/main" id="{CC246E6C-2924-4CE4-8820-7DF0A5576808}"/>
              </a:ext>
            </a:extLst>
          </p:cNvPr>
          <p:cNvSpPr>
            <a:spLocks noGrp="1"/>
          </p:cNvSpPr>
          <p:nvPr/>
        </p:nvSpPr>
        <p:spPr>
          <a:xfrm>
            <a:off x="7943850" y="198120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47" name="Run card 5 type">
            <a:extLst>
              <a:ext uri="{FF2B5EF4-FFF2-40B4-BE49-F238E27FC236}">
                <a16:creationId xmlns:a16="http://schemas.microsoft.com/office/drawing/2014/main" id="{48109DCA-B212-4CCB-ABED-9FB7771E5316}"/>
              </a:ext>
            </a:extLst>
          </p:cNvPr>
          <p:cNvSpPr>
            <a:spLocks noGrp="1"/>
          </p:cNvSpPr>
          <p:nvPr/>
        </p:nvSpPr>
        <p:spPr>
          <a:xfrm>
            <a:off x="7886700" y="2419350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network_security_anal…</a:t>
            </a:r>
          </a:p>
        </p:txBody>
      </p:sp>
      <p:sp>
        <p:nvSpPr>
          <p:cNvPr id="48" name="Run card 5 body">
            <a:extLst>
              <a:ext uri="{FF2B5EF4-FFF2-40B4-BE49-F238E27FC236}">
                <a16:creationId xmlns:a16="http://schemas.microsoft.com/office/drawing/2014/main" id="{A6B1B779-426F-43BE-91AA-D8C4718BC1ED}"/>
              </a:ext>
            </a:extLst>
          </p:cNvPr>
          <p:cNvSpPr>
            <a:spLocks noGrp="1"/>
          </p:cNvSpPr>
          <p:nvPr/>
        </p:nvSpPr>
        <p:spPr>
          <a:xfrm>
            <a:off x="7886700" y="3009900"/>
            <a:ext cx="1295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NETWORK TESTING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Capturen, Monitoren, und Analysieren von Netzwerkverkehr</a:t>
            </a:r>
          </a:p>
        </p:txBody>
      </p:sp>
      <p:sp>
        <p:nvSpPr>
          <p:cNvPr id="49" name="Run card 6">
            <a:extLst>
              <a:ext uri="{FF2B5EF4-FFF2-40B4-BE49-F238E27FC236}">
                <a16:creationId xmlns:a16="http://schemas.microsoft.com/office/drawing/2014/main" id="{01914CB0-897F-44E3-BC40-2B941E36962C}"/>
              </a:ext>
            </a:extLst>
          </p:cNvPr>
          <p:cNvSpPr>
            <a:spLocks noGrp="1"/>
          </p:cNvSpPr>
          <p:nvPr/>
        </p:nvSpPr>
        <p:spPr>
          <a:xfrm>
            <a:off x="9505950" y="1809750"/>
            <a:ext cx="1524000" cy="3238500"/>
          </a:xfrm>
          <a:prstGeom prst="roundRect">
            <a:avLst>
              <a:gd name="adj" fmla="val 5000"/>
            </a:avLst>
          </a:prstGeom>
          <a:solidFill>
            <a:srgbClr val="48536D"/>
          </a:solidFill>
          <a:ln w="0">
            <a:solidFill>
              <a:srgbClr val="485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un card 6 symbol">
            <a:extLst>
              <a:ext uri="{FF2B5EF4-FFF2-40B4-BE49-F238E27FC236}">
                <a16:creationId xmlns:a16="http://schemas.microsoft.com/office/drawing/2014/main" id="{23092852-E41B-46C8-884A-7019E917E4FD}"/>
              </a:ext>
            </a:extLst>
          </p:cNvPr>
          <p:cNvSpPr>
            <a:spLocks noGrp="1"/>
          </p:cNvSpPr>
          <p:nvPr/>
        </p:nvSpPr>
        <p:spPr>
          <a:xfrm>
            <a:off x="9677400" y="198120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1" name="Run card 6 type">
            <a:extLst>
              <a:ext uri="{FF2B5EF4-FFF2-40B4-BE49-F238E27FC236}">
                <a16:creationId xmlns:a16="http://schemas.microsoft.com/office/drawing/2014/main" id="{34F62E93-B637-4B59-A087-733D00740B3B}"/>
              </a:ext>
            </a:extLst>
          </p:cNvPr>
          <p:cNvSpPr>
            <a:spLocks noGrp="1"/>
          </p:cNvSpPr>
          <p:nvPr/>
        </p:nvSpPr>
        <p:spPr>
          <a:xfrm>
            <a:off x="9620250" y="2419350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one_tool_agent</a:t>
            </a:r>
          </a:p>
        </p:txBody>
      </p:sp>
      <p:sp>
        <p:nvSpPr>
          <p:cNvPr id="52" name="Run card 6 body">
            <a:extLst>
              <a:ext uri="{FF2B5EF4-FFF2-40B4-BE49-F238E27FC236}">
                <a16:creationId xmlns:a16="http://schemas.microsoft.com/office/drawing/2014/main" id="{D2C57E8B-B4FB-45C4-AAD0-441C65AE543C}"/>
              </a:ext>
            </a:extLst>
          </p:cNvPr>
          <p:cNvSpPr>
            <a:spLocks noGrp="1"/>
          </p:cNvSpPr>
          <p:nvPr/>
        </p:nvSpPr>
        <p:spPr>
          <a:xfrm>
            <a:off x="9620250" y="3009900"/>
            <a:ext cx="1295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CTF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Festes Challenge-Ziel mit allgemeinen Linux-Befehlen.</a:t>
            </a:r>
            <a:endParaRPr sz="1125">
              <a:solidFill>
                <a:srgbClr val="FFFFFF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4" name="Source footer note">
            <a:extLst>
              <a:ext uri="{FF2B5EF4-FFF2-40B4-BE49-F238E27FC236}">
                <a16:creationId xmlns:a16="http://schemas.microsoft.com/office/drawing/2014/main" id="{3C18CF91-9782-4A18-9B91-9BAE8937CB80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Für feste CTF-Ziele genügt der kleinste ausreichende Werkzeugraum.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BAFC4A8A-7CEA-41AF-94AA-86EF54BD60F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Musterlösung Aufgabe 1: Richtung und Einsatztyp</a:t>
            </a:r>
          </a:p>
        </p:txBody>
      </p:sp>
      <p:sp>
        <p:nvSpPr>
          <p:cNvPr id="32" name="Strength panel">
            <a:extLst>
              <a:ext uri="{FF2B5EF4-FFF2-40B4-BE49-F238E27FC236}">
                <a16:creationId xmlns:a16="http://schemas.microsoft.com/office/drawing/2014/main" id="{A1AA0BE4-50BE-4A30-88E3-6427926B18F5}"/>
              </a:ext>
            </a:extLst>
          </p:cNvPr>
          <p:cNvSpPr>
            <a:spLocks noGrp="1"/>
          </p:cNvSpPr>
          <p:nvPr/>
        </p:nvSpPr>
        <p:spPr>
          <a:xfrm>
            <a:off x="3514725" y="15430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trength heading">
            <a:extLst>
              <a:ext uri="{FF2B5EF4-FFF2-40B4-BE49-F238E27FC236}">
                <a16:creationId xmlns:a16="http://schemas.microsoft.com/office/drawing/2014/main" id="{FC007438-F939-4E5E-A0F6-1C331C0F2B92}"/>
              </a:ext>
            </a:extLst>
          </p:cNvPr>
          <p:cNvSpPr>
            <a:spLocks noGrp="1"/>
          </p:cNvSpPr>
          <p:nvPr/>
        </p:nvSpPr>
        <p:spPr>
          <a:xfrm>
            <a:off x="3800475" y="17335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1. Richtung</a:t>
            </a:r>
          </a:p>
        </p:txBody>
      </p:sp>
      <p:sp>
        <p:nvSpPr>
          <p:cNvPr id="34" name="Strength body">
            <a:extLst>
              <a:ext uri="{FF2B5EF4-FFF2-40B4-BE49-F238E27FC236}">
                <a16:creationId xmlns:a16="http://schemas.microsoft.com/office/drawing/2014/main" id="{08445316-BC79-4A0B-B7D8-0F345F1E8F7D}"/>
              </a:ext>
            </a:extLst>
          </p:cNvPr>
          <p:cNvSpPr>
            <a:spLocks noGrp="1"/>
          </p:cNvSpPr>
          <p:nvPr/>
        </p:nvSpPr>
        <p:spPr>
          <a:xfrm>
            <a:off x="3800475" y="21812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00">
                <a:latin typeface="Avenir Next"/>
                <a:ea typeface="Avenir Next"/>
                <a:cs typeface="Avenir Next"/>
              </a:rPr>
              <a:t>blueteam_agent ist defensiv.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00">
                <a:latin typeface="Avenir Next"/>
                <a:ea typeface="Avenir Next"/>
                <a:cs typeface="Avenir Next"/>
              </a:rPr>
              <a:t>Der Workshoplauf untersucht eine freigegebene Webanwendung offensiv.</a:t>
            </a:r>
          </a:p>
        </p:txBody>
      </p:sp>
      <p:sp>
        <p:nvSpPr>
          <p:cNvPr id="35" name="Limit panel">
            <a:extLst>
              <a:ext uri="{FF2B5EF4-FFF2-40B4-BE49-F238E27FC236}">
                <a16:creationId xmlns:a16="http://schemas.microsoft.com/office/drawing/2014/main" id="{E0D263A8-2AD8-406B-8C6A-F231CA56E770}"/>
              </a:ext>
            </a:extLst>
          </p:cNvPr>
          <p:cNvSpPr>
            <a:spLocks noGrp="1"/>
          </p:cNvSpPr>
          <p:nvPr/>
        </p:nvSpPr>
        <p:spPr>
          <a:xfrm>
            <a:off x="3514725" y="32956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Limit heading">
            <a:extLst>
              <a:ext uri="{FF2B5EF4-FFF2-40B4-BE49-F238E27FC236}">
                <a16:creationId xmlns:a16="http://schemas.microsoft.com/office/drawing/2014/main" id="{E952CAEE-5DD9-4D17-A4AA-3781379CA390}"/>
              </a:ext>
            </a:extLst>
          </p:cNvPr>
          <p:cNvSpPr>
            <a:spLocks noGrp="1"/>
          </p:cNvSpPr>
          <p:nvPr/>
        </p:nvSpPr>
        <p:spPr>
          <a:xfrm>
            <a:off x="3800475" y="34861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2. Einsatztyp</a:t>
            </a:r>
          </a:p>
        </p:txBody>
      </p:sp>
      <p:sp>
        <p:nvSpPr>
          <p:cNvPr id="37" name="Limit body">
            <a:extLst>
              <a:ext uri="{FF2B5EF4-FFF2-40B4-BE49-F238E27FC236}">
                <a16:creationId xmlns:a16="http://schemas.microsoft.com/office/drawing/2014/main" id="{ADDDAB00-25AE-475F-BAA3-A7B7E64A44FA}"/>
              </a:ext>
            </a:extLst>
          </p:cNvPr>
          <p:cNvSpPr>
            <a:spLocks noGrp="1"/>
          </p:cNvSpPr>
          <p:nvPr/>
        </p:nvSpPr>
        <p:spPr>
          <a:xfrm>
            <a:off x="3800475" y="39338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r>
              <a:rPr sz="16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bug_bounter_agent: offene Web-/API-Suche.</a:t>
            </a:r>
          </a:p>
          <a:p>
            <a:r>
              <a:rPr sz="16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one_tool_agent: festes CTF-Ziel mit sichtbarem Erfolg.</a:t>
            </a:r>
          </a:p>
        </p:txBody>
      </p:sp>
      <p:sp>
        <p:nvSpPr>
          <p:cNvPr id="39" name="Source footer note">
            <a:extLst>
              <a:ext uri="{FF2B5EF4-FFF2-40B4-BE49-F238E27FC236}">
                <a16:creationId xmlns:a16="http://schemas.microsoft.com/office/drawing/2014/main" id="{56B50BD9-A192-47D5-AC41-8485530AE070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Belege: fest umrissene Challenge und überprüfbares Erfolgskriterium.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BAFC4A8A-7CEA-41AF-94AA-86EF54BD60F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Musterlösung Aufgabe 1: Profilinformationen</a:t>
            </a:r>
          </a:p>
        </p:txBody>
      </p:sp>
      <p:sp>
        <p:nvSpPr>
          <p:cNvPr id="32" name="Strength panel">
            <a:extLst>
              <a:ext uri="{FF2B5EF4-FFF2-40B4-BE49-F238E27FC236}">
                <a16:creationId xmlns:a16="http://schemas.microsoft.com/office/drawing/2014/main" id="{A1AA0BE4-50BE-4A30-88E3-6427926B18F5}"/>
              </a:ext>
            </a:extLst>
          </p:cNvPr>
          <p:cNvSpPr>
            <a:spLocks noGrp="1"/>
          </p:cNvSpPr>
          <p:nvPr/>
        </p:nvSpPr>
        <p:spPr>
          <a:xfrm>
            <a:off x="3514725" y="15430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trength heading">
            <a:extLst>
              <a:ext uri="{FF2B5EF4-FFF2-40B4-BE49-F238E27FC236}">
                <a16:creationId xmlns:a16="http://schemas.microsoft.com/office/drawing/2014/main" id="{FC007438-F939-4E5E-A0F6-1C331C0F2B92}"/>
              </a:ext>
            </a:extLst>
          </p:cNvPr>
          <p:cNvSpPr>
            <a:spLocks noGrp="1"/>
          </p:cNvSpPr>
          <p:nvPr/>
        </p:nvSpPr>
        <p:spPr>
          <a:xfrm>
            <a:off x="3800475" y="17335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3a. Instruktion</a:t>
            </a:r>
          </a:p>
        </p:txBody>
      </p:sp>
      <p:sp>
        <p:nvSpPr>
          <p:cNvPr id="34" name="Strength body">
            <a:extLst>
              <a:ext uri="{FF2B5EF4-FFF2-40B4-BE49-F238E27FC236}">
                <a16:creationId xmlns:a16="http://schemas.microsoft.com/office/drawing/2014/main" id="{08445316-BC79-4A0B-B7D8-0F345F1E8F7D}"/>
              </a:ext>
            </a:extLst>
          </p:cNvPr>
          <p:cNvSpPr>
            <a:spLocks noGrp="1"/>
          </p:cNvSpPr>
          <p:nvPr/>
        </p:nvSpPr>
        <p:spPr>
          <a:xfrm>
            <a:off x="3800475" y="21812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00">
                <a:latin typeface="Avenir Next"/>
                <a:ea typeface="Avenir Next"/>
                <a:cs typeface="Avenir Next"/>
              </a:rPr>
              <a:t>Security-Challenges mit allgemeinen Linux-Befehlen lösen;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00">
                <a:latin typeface="Avenir Next"/>
                <a:ea typeface="Avenir Next"/>
                <a:cs typeface="Avenir Next"/>
              </a:rPr>
              <a:t>Fokus auf Cybersecurity und Exploitation.</a:t>
            </a:r>
          </a:p>
        </p:txBody>
      </p:sp>
      <p:sp>
        <p:nvSpPr>
          <p:cNvPr id="35" name="Limit panel">
            <a:extLst>
              <a:ext uri="{FF2B5EF4-FFF2-40B4-BE49-F238E27FC236}">
                <a16:creationId xmlns:a16="http://schemas.microsoft.com/office/drawing/2014/main" id="{E0D263A8-2AD8-406B-8C6A-F231CA56E770}"/>
              </a:ext>
            </a:extLst>
          </p:cNvPr>
          <p:cNvSpPr>
            <a:spLocks noGrp="1"/>
          </p:cNvSpPr>
          <p:nvPr/>
        </p:nvSpPr>
        <p:spPr>
          <a:xfrm>
            <a:off x="3514725" y="32956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Limit heading">
            <a:extLst>
              <a:ext uri="{FF2B5EF4-FFF2-40B4-BE49-F238E27FC236}">
                <a16:creationId xmlns:a16="http://schemas.microsoft.com/office/drawing/2014/main" id="{E952CAEE-5DD9-4D17-A4AA-3781379CA390}"/>
              </a:ext>
            </a:extLst>
          </p:cNvPr>
          <p:cNvSpPr>
            <a:spLocks noGrp="1"/>
          </p:cNvSpPr>
          <p:nvPr/>
        </p:nvSpPr>
        <p:spPr>
          <a:xfrm>
            <a:off x="3800475" y="34861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3b. Werkzeug</a:t>
            </a:r>
          </a:p>
        </p:txBody>
      </p:sp>
      <p:sp>
        <p:nvSpPr>
          <p:cNvPr id="37" name="Limit body">
            <a:extLst>
              <a:ext uri="{FF2B5EF4-FFF2-40B4-BE49-F238E27FC236}">
                <a16:creationId xmlns:a16="http://schemas.microsoft.com/office/drawing/2014/main" id="{ADDDAB00-25AE-475F-BAA3-A7B7E64A44FA}"/>
              </a:ext>
            </a:extLst>
          </p:cNvPr>
          <p:cNvSpPr>
            <a:spLocks noGrp="1"/>
          </p:cNvSpPr>
          <p:nvPr/>
        </p:nvSpPr>
        <p:spPr>
          <a:xfrm>
            <a:off x="3800475" y="39338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r>
              <a:rPr sz="16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generic_linux_command:</a:t>
            </a:r>
          </a:p>
          <a:p>
            <a:r>
              <a:rPr sz="16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frei formulierbare Linux-Befehle in der isolierten Workshopumgebung.</a:t>
            </a:r>
          </a:p>
        </p:txBody>
      </p:sp>
      <p:sp>
        <p:nvSpPr>
          <p:cNvPr id="39" name="Source footer note">
            <a:extLst>
              <a:ext uri="{FF2B5EF4-FFF2-40B4-BE49-F238E27FC236}">
                <a16:creationId xmlns:a16="http://schemas.microsoft.com/office/drawing/2014/main" id="{56B50BD9-A192-47D5-AC41-8485530AE070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 Wahl belegt Profilpassung und ausreichenden Werkzeugraum, nicht garantierten Erfolg.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0394428-F1DC-E5F6-DB0C-7DE31F3D8A2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BAFC4A8A-7CEA-41AF-94AA-86EF54BD60F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2, 3 u. 4: Login Admin, dann Product Tampering</a:t>
            </a:r>
          </a:p>
        </p:txBody>
      </p:sp>
      <p:sp>
        <p:nvSpPr>
          <p:cNvPr id="21" name="Script line 1">
            <a:extLst>
              <a:ext uri="{FF2B5EF4-FFF2-40B4-BE49-F238E27FC236}">
                <a16:creationId xmlns:a16="http://schemas.microsoft.com/office/drawing/2014/main" id="{EECC9806-0E69-4DCC-BB16-A65556F8D913}"/>
              </a:ext>
            </a:extLst>
          </p:cNvPr>
          <p:cNvSpPr>
            <a:spLocks noGrp="1"/>
          </p:cNvSpPr>
          <p:nvPr/>
        </p:nvSpPr>
        <p:spPr>
          <a:xfrm>
            <a:off x="1104900" y="1981200"/>
            <a:ext cx="0" cy="57150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cript number 1">
            <a:extLst>
              <a:ext uri="{FF2B5EF4-FFF2-40B4-BE49-F238E27FC236}">
                <a16:creationId xmlns:a16="http://schemas.microsoft.com/office/drawing/2014/main" id="{3AD97D60-4886-4FF5-BD83-DD036FA5BF06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3" name="Script step 1">
            <a:extLst>
              <a:ext uri="{FF2B5EF4-FFF2-40B4-BE49-F238E27FC236}">
                <a16:creationId xmlns:a16="http://schemas.microsoft.com/office/drawing/2014/main" id="{30CD47FD-9F21-445D-B119-58A90791819E}"/>
              </a:ext>
            </a:extLst>
          </p:cNvPr>
          <p:cNvSpPr>
            <a:spLocks noGrp="1"/>
          </p:cNvSpPr>
          <p:nvPr/>
        </p:nvSpPr>
        <p:spPr>
          <a:xfrm>
            <a:off x="1447800" y="15240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CTF agent auf Login Admin ausführen</a:t>
            </a:r>
          </a:p>
        </p:txBody>
      </p:sp>
      <p:sp>
        <p:nvSpPr>
          <p:cNvPr id="24" name="Script line 2">
            <a:extLst>
              <a:ext uri="{FF2B5EF4-FFF2-40B4-BE49-F238E27FC236}">
                <a16:creationId xmlns:a16="http://schemas.microsoft.com/office/drawing/2014/main" id="{E15CCB09-B038-4797-9255-397A0B7DCC0B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0" cy="57150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cript number 2">
            <a:extLst>
              <a:ext uri="{FF2B5EF4-FFF2-40B4-BE49-F238E27FC236}">
                <a16:creationId xmlns:a16="http://schemas.microsoft.com/office/drawing/2014/main" id="{DC4D68AC-4054-4DB7-AB7A-69DC89E30DCF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6" name="Script step 2">
            <a:extLst>
              <a:ext uri="{FF2B5EF4-FFF2-40B4-BE49-F238E27FC236}">
                <a16:creationId xmlns:a16="http://schemas.microsoft.com/office/drawing/2014/main" id="{A701CE7B-EBEC-4126-B155-0FC4D4123A2F}"/>
              </a:ext>
            </a:extLst>
          </p:cNvPr>
          <p:cNvSpPr>
            <a:spLocks noGrp="1"/>
          </p:cNvSpPr>
          <p:nvPr/>
        </p:nvSpPr>
        <p:spPr>
          <a:xfrm>
            <a:off x="1447800" y="24003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Product Tampering mit Eigenbau testen</a:t>
            </a:r>
          </a:p>
        </p:txBody>
      </p:sp>
      <p:sp>
        <p:nvSpPr>
          <p:cNvPr id="27" name="Script line 3">
            <a:extLst>
              <a:ext uri="{FF2B5EF4-FFF2-40B4-BE49-F238E27FC236}">
                <a16:creationId xmlns:a16="http://schemas.microsoft.com/office/drawing/2014/main" id="{29BB7931-E7F5-4C19-A264-ACB04378097E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0" cy="57150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cript number 3">
            <a:extLst>
              <a:ext uri="{FF2B5EF4-FFF2-40B4-BE49-F238E27FC236}">
                <a16:creationId xmlns:a16="http://schemas.microsoft.com/office/drawing/2014/main" id="{A7082444-3AD4-472C-A1C0-4BC04EAD3232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9" name="Script step 3">
            <a:extLst>
              <a:ext uri="{FF2B5EF4-FFF2-40B4-BE49-F238E27FC236}">
                <a16:creationId xmlns:a16="http://schemas.microsoft.com/office/drawing/2014/main" id="{AD674813-9A6D-4A05-AEEA-AE046F68DC27}"/>
              </a:ext>
            </a:extLst>
          </p:cNvPr>
          <p:cNvSpPr>
            <a:spLocks noGrp="1"/>
          </p:cNvSpPr>
          <p:nvPr/>
        </p:nvSpPr>
        <p:spPr>
          <a:xfrm>
            <a:off x="1447800" y="32766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Fehlende Aktion finden</a:t>
            </a:r>
          </a:p>
        </p:txBody>
      </p:sp>
      <p:sp>
        <p:nvSpPr>
          <p:cNvPr id="30" name="Script number 4">
            <a:extLst>
              <a:ext uri="{FF2B5EF4-FFF2-40B4-BE49-F238E27FC236}">
                <a16:creationId xmlns:a16="http://schemas.microsoft.com/office/drawing/2014/main" id="{22D3599B-FE96-4D73-945F-CEF4EFEDFAD5}"/>
              </a:ext>
            </a:extLst>
          </p:cNvPr>
          <p:cNvSpPr>
            <a:spLocks noGrp="1"/>
          </p:cNvSpPr>
          <p:nvPr/>
        </p:nvSpPr>
        <p:spPr>
          <a:xfrm>
            <a:off x="838200" y="415290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1" name="Script step 4">
            <a:extLst>
              <a:ext uri="{FF2B5EF4-FFF2-40B4-BE49-F238E27FC236}">
                <a16:creationId xmlns:a16="http://schemas.microsoft.com/office/drawing/2014/main" id="{865D4D69-AC8D-4111-A015-376E28EFEF42}"/>
              </a:ext>
            </a:extLst>
          </p:cNvPr>
          <p:cNvSpPr>
            <a:spLocks noGrp="1"/>
          </p:cNvSpPr>
          <p:nvPr/>
        </p:nvSpPr>
        <p:spPr>
          <a:xfrm>
            <a:off x="1447800" y="41529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Reset: gleiche Aufgabe mit CTF agent</a:t>
            </a:r>
          </a:p>
        </p:txBody>
      </p:sp>
      <p:sp>
        <p:nvSpPr>
          <p:cNvPr id="32" name="Strength panel">
            <a:extLst>
              <a:ext uri="{FF2B5EF4-FFF2-40B4-BE49-F238E27FC236}">
                <a16:creationId xmlns:a16="http://schemas.microsoft.com/office/drawing/2014/main" id="{A1AA0BE4-50BE-4A30-88E3-6427926B18F5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trength heading">
            <a:extLst>
              <a:ext uri="{FF2B5EF4-FFF2-40B4-BE49-F238E27FC236}">
                <a16:creationId xmlns:a16="http://schemas.microsoft.com/office/drawing/2014/main" id="{FC007438-F939-4E5E-A0F6-1C331C0F2B92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CTF: Login Admin</a:t>
            </a:r>
          </a:p>
        </p:txBody>
      </p:sp>
      <p:sp>
        <p:nvSpPr>
          <p:cNvPr id="34" name="Strength body">
            <a:extLst>
              <a:ext uri="{FF2B5EF4-FFF2-40B4-BE49-F238E27FC236}">
                <a16:creationId xmlns:a16="http://schemas.microsoft.com/office/drawing/2014/main" id="{08445316-BC79-4A0B-B7D8-0F345F1E8F7D}"/>
              </a:ext>
            </a:extLst>
          </p:cNvPr>
          <p:cNvSpPr>
            <a:spLocks noGrp="1"/>
          </p:cNvSpPr>
          <p:nvPr/>
        </p:nvSpPr>
        <p:spPr>
          <a:xfrm>
            <a:off x="6477000" y="20669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Ohne echtes Passwort als Admin anmelden.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Beenden erst bei sichtbarem Konto- und Login-Beleg.</a:t>
            </a:r>
          </a:p>
        </p:txBody>
      </p:sp>
      <p:sp>
        <p:nvSpPr>
          <p:cNvPr id="35" name="Limit panel">
            <a:extLst>
              <a:ext uri="{FF2B5EF4-FFF2-40B4-BE49-F238E27FC236}">
                <a16:creationId xmlns:a16="http://schemas.microsoft.com/office/drawing/2014/main" id="{E0D263A8-2AD8-406B-8C6A-F231CA56E770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5162550" cy="1466850"/>
          </a:xfrm>
          <a:prstGeom prst="roundRect">
            <a:avLst>
              <a:gd name="adj" fmla="val 7792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Limit heading">
            <a:extLst>
              <a:ext uri="{FF2B5EF4-FFF2-40B4-BE49-F238E27FC236}">
                <a16:creationId xmlns:a16="http://schemas.microsoft.com/office/drawing/2014/main" id="{E952CAEE-5DD9-4D17-A4AA-3781379CA390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Product Tampering</a:t>
            </a:r>
          </a:p>
        </p:txBody>
      </p:sp>
      <p:sp>
        <p:nvSpPr>
          <p:cNvPr id="37" name="Limit body">
            <a:extLst>
              <a:ext uri="{FF2B5EF4-FFF2-40B4-BE49-F238E27FC236}">
                <a16:creationId xmlns:a16="http://schemas.microsoft.com/office/drawing/2014/main" id="{ADDDAB00-25AE-475F-BAA3-A7B7E64A44FA}"/>
              </a:ext>
            </a:extLst>
          </p:cNvPr>
          <p:cNvSpPr>
            <a:spLocks noGrp="1"/>
          </p:cNvSpPr>
          <p:nvPr/>
        </p:nvSpPr>
        <p:spPr>
          <a:xfrm>
            <a:off x="6477000" y="38195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O-Saft: Den „More...“-Link auf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https://owasp.slack.com ändern;</a:t>
            </a:r>
          </a:p>
          <a:p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übrige Produktdaten unverändert.</a:t>
            </a:r>
          </a:p>
        </p:txBody>
      </p:sp>
      <p:sp>
        <p:nvSpPr>
          <p:cNvPr id="39" name="Source footer note">
            <a:extLst>
              <a:ext uri="{FF2B5EF4-FFF2-40B4-BE49-F238E27FC236}">
                <a16:creationId xmlns:a16="http://schemas.microsoft.com/office/drawing/2014/main" id="{56B50BD9-A192-47D5-AC41-8485530AE070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Nur freigegebene Instanz; Änderung durch HTTP-Antwort und Scoreboard belegen.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DB16885-0D3F-A391-B669-3211DB3B26E8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Closing eyebrow">
            <a:extLst>
              <a:ext uri="{FF2B5EF4-FFF2-40B4-BE49-F238E27FC236}">
                <a16:creationId xmlns:a16="http://schemas.microsoft.com/office/drawing/2014/main" id="{9248FB85-C22C-4645-82B7-6DE7519B224A}"/>
              </a:ext>
            </a:extLst>
          </p:cNvPr>
          <p:cNvSpPr>
            <a:spLocks noGrp="1"/>
          </p:cNvSpPr>
          <p:nvPr/>
        </p:nvSpPr>
        <p:spPr>
          <a:xfrm>
            <a:off x="838200" y="4000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AUSWERTUNG</a:t>
            </a:r>
          </a:p>
        </p:txBody>
      </p:sp>
      <p:sp>
        <p:nvSpPr>
          <p:cNvPr id="21" name="Closing title">
            <a:extLst>
              <a:ext uri="{FF2B5EF4-FFF2-40B4-BE49-F238E27FC236}">
                <a16:creationId xmlns:a16="http://schemas.microsoft.com/office/drawing/2014/main" id="{9E7A95D9-EE2A-4225-8724-E1BABF28C42A}"/>
              </a:ext>
            </a:extLst>
          </p:cNvPr>
          <p:cNvSpPr>
            <a:spLocks noGrp="1"/>
          </p:cNvSpPr>
          <p:nvPr/>
        </p:nvSpPr>
        <p:spPr>
          <a:xfrm>
            <a:off x="838200" y="1381125"/>
            <a:ext cx="5143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Erfolg allein erklärt</a:t>
            </a:r>
          </a:p>
          <a:p>
            <a:pPr>
              <a:buNone/>
              <a:def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den Unterschied nicht</a:t>
            </a:r>
          </a:p>
        </p:txBody>
      </p:sp>
      <p:sp>
        <p:nvSpPr>
          <p:cNvPr id="22" name="Closing number 1">
            <a:extLst>
              <a:ext uri="{FF2B5EF4-FFF2-40B4-BE49-F238E27FC236}">
                <a16:creationId xmlns:a16="http://schemas.microsoft.com/office/drawing/2014/main" id="{411BB1B6-78CB-4992-8833-84C1528F2967}"/>
              </a:ext>
            </a:extLst>
          </p:cNvPr>
          <p:cNvSpPr>
            <a:spLocks noGrp="1"/>
          </p:cNvSpPr>
          <p:nvPr/>
        </p:nvSpPr>
        <p:spPr>
          <a:xfrm>
            <a:off x="6858000" y="11430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3" name="Closing question 1">
            <a:extLst>
              <a:ext uri="{FF2B5EF4-FFF2-40B4-BE49-F238E27FC236}">
                <a16:creationId xmlns:a16="http://schemas.microsoft.com/office/drawing/2014/main" id="{EE5CEB02-D297-428C-8EC5-9C7F332414B8}"/>
              </a:ext>
            </a:extLst>
          </p:cNvPr>
          <p:cNvSpPr>
            <a:spLocks noGrp="1"/>
          </p:cNvSpPr>
          <p:nvPr/>
        </p:nvSpPr>
        <p:spPr>
          <a:xfrm>
            <a:off x="7486650" y="11430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blieb im ReAct-Ablauf gleich?</a:t>
            </a:r>
          </a:p>
        </p:txBody>
      </p:sp>
      <p:sp>
        <p:nvSpPr>
          <p:cNvPr id="24" name="Closing number 2">
            <a:extLst>
              <a:ext uri="{FF2B5EF4-FFF2-40B4-BE49-F238E27FC236}">
                <a16:creationId xmlns:a16="http://schemas.microsoft.com/office/drawing/2014/main" id="{48FC42BC-705A-40F1-8AC3-3D76674E32CF}"/>
              </a:ext>
            </a:extLst>
          </p:cNvPr>
          <p:cNvSpPr>
            <a:spLocks noGrp="1"/>
          </p:cNvSpPr>
          <p:nvPr/>
        </p:nvSpPr>
        <p:spPr>
          <a:xfrm>
            <a:off x="6858000" y="20193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5" name="Closing question 2">
            <a:extLst>
              <a:ext uri="{FF2B5EF4-FFF2-40B4-BE49-F238E27FC236}">
                <a16:creationId xmlns:a16="http://schemas.microsoft.com/office/drawing/2014/main" id="{DBC775DA-0580-4DCB-8D25-94419D6D8C4D}"/>
              </a:ext>
            </a:extLst>
          </p:cNvPr>
          <p:cNvSpPr>
            <a:spLocks noGrp="1"/>
          </p:cNvSpPr>
          <p:nvPr/>
        </p:nvSpPr>
        <p:spPr>
          <a:xfrm>
            <a:off x="7486650" y="20193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Warum one_tool_agent</a:t>
            </a:r>
          </a:p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statt bug_bounter_agent?</a:t>
            </a:r>
          </a:p>
        </p:txBody>
      </p:sp>
      <p:sp>
        <p:nvSpPr>
          <p:cNvPr id="26" name="Closing number 3">
            <a:extLst>
              <a:ext uri="{FF2B5EF4-FFF2-40B4-BE49-F238E27FC236}">
                <a16:creationId xmlns:a16="http://schemas.microsoft.com/office/drawing/2014/main" id="{8A1400D5-FD07-4329-BDE3-18FF3D2F940D}"/>
              </a:ext>
            </a:extLst>
          </p:cNvPr>
          <p:cNvSpPr>
            <a:spLocks noGrp="1"/>
          </p:cNvSpPr>
          <p:nvPr/>
        </p:nvSpPr>
        <p:spPr>
          <a:xfrm>
            <a:off x="6858000" y="28956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7" name="Closing question 3">
            <a:extLst>
              <a:ext uri="{FF2B5EF4-FFF2-40B4-BE49-F238E27FC236}">
                <a16:creationId xmlns:a16="http://schemas.microsoft.com/office/drawing/2014/main" id="{D17F03D4-2446-4F51-85EC-E76678623F4F}"/>
              </a:ext>
            </a:extLst>
          </p:cNvPr>
          <p:cNvSpPr>
            <a:spLocks noGrp="1"/>
          </p:cNvSpPr>
          <p:nvPr/>
        </p:nvSpPr>
        <p:spPr>
          <a:xfrm>
            <a:off x="7486650" y="28956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Welches Werkzeug ermöglichte</a:t>
            </a:r>
          </a:p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den zusätzlichen Schritt?</a:t>
            </a:r>
          </a:p>
        </p:txBody>
      </p:sp>
      <p:sp>
        <p:nvSpPr>
          <p:cNvPr id="28" name="Closing number 4">
            <a:extLst>
              <a:ext uri="{FF2B5EF4-FFF2-40B4-BE49-F238E27FC236}">
                <a16:creationId xmlns:a16="http://schemas.microsoft.com/office/drawing/2014/main" id="{39510CA9-B4DF-4F4A-8D78-F93ECD9DE1A1}"/>
              </a:ext>
            </a:extLst>
          </p:cNvPr>
          <p:cNvSpPr>
            <a:spLocks noGrp="1"/>
          </p:cNvSpPr>
          <p:nvPr/>
        </p:nvSpPr>
        <p:spPr>
          <a:xfrm>
            <a:off x="6858000" y="37719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Closing question 4">
            <a:extLst>
              <a:ext uri="{FF2B5EF4-FFF2-40B4-BE49-F238E27FC236}">
                <a16:creationId xmlns:a16="http://schemas.microsoft.com/office/drawing/2014/main" id="{25D7A81C-AE80-4E05-BDAE-0C8C4FE386AD}"/>
              </a:ext>
            </a:extLst>
          </p:cNvPr>
          <p:cNvSpPr>
            <a:spLocks noGrp="1"/>
          </p:cNvSpPr>
          <p:nvPr/>
        </p:nvSpPr>
        <p:spPr>
          <a:xfrm>
            <a:off x="7486650" y="37719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Welche Rolle spielten Modell,</a:t>
            </a:r>
          </a:p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Agent, Laufzeit und Mensch?</a:t>
            </a:r>
          </a:p>
        </p:txBody>
      </p:sp>
      <p:sp>
        <p:nvSpPr>
          <p:cNvPr id="30" name="Closing divider">
            <a:extLst>
              <a:ext uri="{FF2B5EF4-FFF2-40B4-BE49-F238E27FC236}">
                <a16:creationId xmlns:a16="http://schemas.microsoft.com/office/drawing/2014/main" id="{A448062C-BBB1-4750-8FB4-37B8A26BC605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10515600" cy="0"/>
          </a:xfrm>
          <a:prstGeom prst="line">
            <a:avLst/>
          </a:prstGeom>
          <a:noFill/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Closing synthesis">
            <a:extLst>
              <a:ext uri="{FF2B5EF4-FFF2-40B4-BE49-F238E27FC236}">
                <a16:creationId xmlns:a16="http://schemas.microsoft.com/office/drawing/2014/main" id="{3250260C-3C43-42D5-BB9F-2C6688613C9C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1051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CAI-Leistung entsteht aus Modell, gewähltem Agenten, Werkzeugen und Laufzeit.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duct Tampering: manuelle Musterlösung">
            <a:extLst>
              <a:ext uri="{FF2B5EF4-FFF2-40B4-BE49-F238E27FC236}">
                <a16:creationId xmlns:a16="http://schemas.microsoft.com/office/drawing/2014/main" id="{3EB24071-48AB-4F83-8F27-54E4F2EF57E5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Product Tampering: manuelle Musterlösung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6B1FC968-D642-4207-92DF-1E1ED3454579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Die gewünschte Änderung">
            <a:extLst>
              <a:ext uri="{FF2B5EF4-FFF2-40B4-BE49-F238E27FC236}">
                <a16:creationId xmlns:a16="http://schemas.microsoft.com/office/drawing/2014/main" id="{8315AF6E-404F-4B82-83FF-900461C420B0}"/>
              </a:ext>
            </a:extLst>
          </p:cNvPr>
          <p:cNvSpPr>
            <a:spLocks noGrp="1"/>
          </p:cNvSpPr>
          <p:nvPr/>
        </p:nvSpPr>
        <p:spPr>
          <a:xfrm>
            <a:off x="933450" y="14859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gewünschte Änderung</a:t>
            </a:r>
          </a:p>
        </p:txBody>
      </p:sp>
      <p:sp>
        <p:nvSpPr>
          <p:cNvPr id="4" name="Beim Produkt „OWASP SSL Advanced&#10;Forensic Tool (O-">
            <a:extLst>
              <a:ext uri="{FF2B5EF4-FFF2-40B4-BE49-F238E27FC236}">
                <a16:creationId xmlns:a16="http://schemas.microsoft.com/office/drawing/2014/main" id="{BF4DA922-64E3-4A0A-A580-C3FEE8C34C6D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5667375" cy="152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Beim Produkt „OWASP SSL Advanced</a:t>
            </a:r>
          </a:p>
          <a:p>
            <a:pPr>
              <a:def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Forensic Tool (O-Saft)“ soll der</a:t>
            </a:r>
          </a:p>
          <a:p>
            <a:pPr>
              <a:def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vorhandene „More...“-Link auf</a:t>
            </a:r>
          </a:p>
          <a:p>
            <a:pPr>
              <a:def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https://owasp.slack.com zeigen.</a:t>
            </a:r>
          </a:p>
        </p:txBody>
      </p:sp>
      <p:sp>
        <p:nvSpPr>
          <p:cNvPr id="5" name="Die manuelle Vorgehensweise">
            <a:extLst>
              <a:ext uri="{FF2B5EF4-FFF2-40B4-BE49-F238E27FC236}">
                <a16:creationId xmlns:a16="http://schemas.microsoft.com/office/drawing/2014/main" id="{DFCB26DA-E710-459A-BA80-7B4418B0BD1C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manuelle Vorgehensweise</a:t>
            </a:r>
          </a:p>
        </p:txBody>
      </p:sp>
      <p:sp>
        <p:nvSpPr>
          <p:cNvPr id="6" name="Produktanfragen untersuchen, Ressource&#10;lesen, Link">
            <a:extLst>
              <a:ext uri="{FF2B5EF4-FFF2-40B4-BE49-F238E27FC236}">
                <a16:creationId xmlns:a16="http://schemas.microsoft.com/office/drawing/2014/main" id="{B20B62A5-F820-435E-B60D-F3BEC9E919A4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56197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Produktanfragen untersuchen, Ressource</a:t>
            </a:r>
          </a:p>
          <a:p>
            <a:pPr>
              <a:defRPr sz="172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lesen, Linkziel ändern und das gespeicherte</a:t>
            </a:r>
          </a:p>
          <a:p>
            <a:pPr>
              <a:defRPr sz="172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Ergebnis unabhängig prüfen.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0" y="1381125"/>
            <a:ext cx="4191000" cy="3981450"/>
          </a:xfrm>
          <a:prstGeom prst="rect">
            <a:avLst/>
          </a:prstGeom>
        </p:spPr>
      </p:pic>
      <p:sp>
        <p:nvSpPr>
          <p:cNvPr id="8" name="Die Änderung erfolgt über die API der lokalen Work">
            <a:extLst>
              <a:ext uri="{FF2B5EF4-FFF2-40B4-BE49-F238E27FC236}">
                <a16:creationId xmlns:a16="http://schemas.microsoft.com/office/drawing/2014/main" id="{A982E31C-2A2E-4DE0-91AA-B6A1C2FEEB97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 Änderung erfolgt über die API der lokalen Workshopinstanz.</a:t>
            </a:r>
          </a:p>
        </p:txBody>
      </p:sp>
    </p:spTree>
    <p:extLst>
      <p:ext uri="{BB962C8B-B14F-4D97-AF65-F5344CB8AC3E}">
        <p14:creationId xmlns:p14="http://schemas.microsoft.com/office/powerpoint/2010/main" val="158676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. Produktanfragen im Browser finden">
            <a:extLst>
              <a:ext uri="{FF2B5EF4-FFF2-40B4-BE49-F238E27FC236}">
                <a16:creationId xmlns:a16="http://schemas.microsoft.com/office/drawing/2014/main" id="{11180A0C-8186-414F-8E74-C217AC09295B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1. Produktanfragen im Browser finden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033079E1-E024-4987-AD0C-B34B8CAD5FDD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Im Tab http://127.0.0.1:3000">
            <a:extLst>
              <a:ext uri="{FF2B5EF4-FFF2-40B4-BE49-F238E27FC236}">
                <a16:creationId xmlns:a16="http://schemas.microsoft.com/office/drawing/2014/main" id="{3790C7B7-9683-4E4A-91E5-F61230B23E57}"/>
              </a:ext>
            </a:extLst>
          </p:cNvPr>
          <p:cNvSpPr>
            <a:spLocks noGrp="1"/>
          </p:cNvSpPr>
          <p:nvPr/>
        </p:nvSpPr>
        <p:spPr>
          <a:xfrm>
            <a:off x="933450" y="1438275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Im</a:t>
            </a:r>
            <a:r>
              <a:rPr sz="1725" b="1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Tab http://127.0.0.1:3000</a:t>
            </a:r>
          </a:p>
        </p:txBody>
      </p:sp>
      <p:sp>
        <p:nvSpPr>
          <p:cNvPr id="4" name="1. Entwicklertools öffnen.&#10;2. „Network / Netzwerk“">
            <a:extLst>
              <a:ext uri="{FF2B5EF4-FFF2-40B4-BE49-F238E27FC236}">
                <a16:creationId xmlns:a16="http://schemas.microsoft.com/office/drawing/2014/main" id="{8AE60402-3A6D-4DE9-AAB6-0570D8554037}"/>
              </a:ext>
            </a:extLst>
          </p:cNvPr>
          <p:cNvSpPr>
            <a:spLocks noGrp="1"/>
          </p:cNvSpPr>
          <p:nvPr/>
        </p:nvSpPr>
        <p:spPr>
          <a:xfrm>
            <a:off x="933450" y="1866900"/>
            <a:ext cx="5476875" cy="2095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1.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Entwicklertools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öffnen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.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2. „Network /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Netzwerk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“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wählen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.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3. Auf „Fetch/XHR“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filtern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.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4. Nach „</a:t>
            </a:r>
            <a:r>
              <a:rPr lang="de-DE" sz="1875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search?q</a:t>
            </a:r>
            <a:r>
              <a:rPr lang="de-DE" sz="1875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=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“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suchen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.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5. Den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Suchrequest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öffnen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.</a:t>
            </a:r>
            <a:endParaRPr lang="de-DE" sz="1875" b="0" dirty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lang="de-DE" sz="1875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6. In Response nach „O-Saft“ suchen</a:t>
            </a:r>
            <a:endParaRPr sz="1875" b="0" dirty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" name="„Headers“ zeigt den Request">
            <a:extLst>
              <a:ext uri="{FF2B5EF4-FFF2-40B4-BE49-F238E27FC236}">
                <a16:creationId xmlns:a16="http://schemas.microsoft.com/office/drawing/2014/main" id="{3D484B82-1567-46D3-9645-1DBFEB97685C}"/>
              </a:ext>
            </a:extLst>
          </p:cNvPr>
          <p:cNvSpPr>
            <a:spLocks noGrp="1"/>
          </p:cNvSpPr>
          <p:nvPr/>
        </p:nvSpPr>
        <p:spPr>
          <a:xfrm>
            <a:off x="6667500" y="1438275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„Headers“ zeigt den Request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7A7D2690-9488-4374-9262-DB07C9BFF944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4667250" cy="723900"/>
          </a:xfrm>
          <a:prstGeom prst="roundRect">
            <a:avLst>
              <a:gd name="adj" fmla="val 18421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" name="GET /rest/products/search?q=O-Saft">
            <a:extLst>
              <a:ext uri="{FF2B5EF4-FFF2-40B4-BE49-F238E27FC236}">
                <a16:creationId xmlns:a16="http://schemas.microsoft.com/office/drawing/2014/main" id="{DA6D0DC7-A484-4D54-A829-9229E74E82A2}"/>
              </a:ext>
            </a:extLst>
          </p:cNvPr>
          <p:cNvSpPr>
            <a:spLocks noGrp="1"/>
          </p:cNvSpPr>
          <p:nvPr/>
        </p:nvSpPr>
        <p:spPr>
          <a:xfrm>
            <a:off x="6877050" y="2057400"/>
            <a:ext cx="42481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GET /rest/products/</a:t>
            </a:r>
            <a:r>
              <a:rPr sz="1425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search?q</a:t>
            </a:r>
            <a:r>
              <a:rPr sz="14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=O-Saft</a:t>
            </a:r>
          </a:p>
        </p:txBody>
      </p:sp>
      <p:sp>
        <p:nvSpPr>
          <p:cNvPr id="8" name="„Preview / Response“ zeigt das Produkt">
            <a:extLst>
              <a:ext uri="{FF2B5EF4-FFF2-40B4-BE49-F238E27FC236}">
                <a16:creationId xmlns:a16="http://schemas.microsoft.com/office/drawing/2014/main" id="{0CD94246-1763-48FB-8FB9-6C475FA547F2}"/>
              </a:ext>
            </a:extLst>
          </p:cNvPr>
          <p:cNvSpPr>
            <a:spLocks noGrp="1"/>
          </p:cNvSpPr>
          <p:nvPr/>
        </p:nvSpPr>
        <p:spPr>
          <a:xfrm>
            <a:off x="6667500" y="289560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„Preview / Response“ zeigt das Produkt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70E31999-52D8-4094-811C-F842836F0DDB}"/>
              </a:ext>
            </a:extLst>
          </p:cNvPr>
          <p:cNvSpPr>
            <a:spLocks noGrp="1"/>
          </p:cNvSpPr>
          <p:nvPr/>
        </p:nvSpPr>
        <p:spPr>
          <a:xfrm>
            <a:off x="6667500" y="3314700"/>
            <a:ext cx="4667250" cy="1495425"/>
          </a:xfrm>
          <a:prstGeom prst="roundRect">
            <a:avLst>
              <a:gd name="adj" fmla="val 8917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0" name="id: 9&#10;name: &quot;OWASP SSL Advanced&#10;       Forensic To">
            <a:extLst>
              <a:ext uri="{FF2B5EF4-FFF2-40B4-BE49-F238E27FC236}">
                <a16:creationId xmlns:a16="http://schemas.microsoft.com/office/drawing/2014/main" id="{C2423355-0BCA-418F-B94B-88DED5E2FD70}"/>
              </a:ext>
            </a:extLst>
          </p:cNvPr>
          <p:cNvSpPr>
            <a:spLocks noGrp="1"/>
          </p:cNvSpPr>
          <p:nvPr/>
        </p:nvSpPr>
        <p:spPr>
          <a:xfrm>
            <a:off x="6877050" y="3505200"/>
            <a:ext cx="4248150" cy="1114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id: 9</a:t>
            </a:r>
          </a:p>
          <a:p>
            <a:pPr>
              <a:def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name: "OWASP SSL Advanced</a:t>
            </a:r>
          </a:p>
          <a:p>
            <a:pPr>
              <a:def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     Forensic Tool (O-Saft)"</a:t>
            </a:r>
          </a:p>
          <a:p>
            <a:pPr>
              <a:def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description: "...More...&lt;/a&gt;"</a:t>
            </a:r>
          </a:p>
        </p:txBody>
      </p:sp>
      <p:sp>
        <p:nvSpPr>
          <p:cNvPr id="11" name="Die Suche liefert die Produkt-ID. Den Pfad zum Änd">
            <a:extLst>
              <a:ext uri="{FF2B5EF4-FFF2-40B4-BE49-F238E27FC236}">
                <a16:creationId xmlns:a16="http://schemas.microsoft.com/office/drawing/2014/main" id="{C3A63E64-D760-4E74-8C54-F558138EFD0E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 Suche liefert die Produkt-ID. Den Pfad zum Ändern untersuchen wir als Nächstes.</a:t>
            </a:r>
          </a:p>
        </p:txBody>
      </p:sp>
    </p:spTree>
    <p:extLst>
      <p:ext uri="{BB962C8B-B14F-4D97-AF65-F5344CB8AC3E}">
        <p14:creationId xmlns:p14="http://schemas.microsoft.com/office/powerpoint/2010/main" val="2060392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. Den API-Endpunkt im Frontend nachvollziehen">
            <a:extLst>
              <a:ext uri="{FF2B5EF4-FFF2-40B4-BE49-F238E27FC236}">
                <a16:creationId xmlns:a16="http://schemas.microsoft.com/office/drawing/2014/main" id="{9F606F7C-46A6-421B-A2BC-70BEC5574154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2. Den API-Endpunkt im Frontend nachvollziehen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894AC76A-63BF-42ED-9AB1-7455FA19D40B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Unter „Sources / Quellen“ nach dem beobachteten Pf">
            <a:extLst>
              <a:ext uri="{FF2B5EF4-FFF2-40B4-BE49-F238E27FC236}">
                <a16:creationId xmlns:a16="http://schemas.microsoft.com/office/drawing/2014/main" id="{DE560BA4-996A-4840-8369-DE4A40CCDB65}"/>
              </a:ext>
            </a:extLst>
          </p:cNvPr>
          <p:cNvSpPr>
            <a:spLocks noGrp="1"/>
          </p:cNvSpPr>
          <p:nvPr/>
        </p:nvSpPr>
        <p:spPr>
          <a:xfrm>
            <a:off x="933450" y="1362075"/>
            <a:ext cx="10382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Unter „Sources /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Quellen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“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nach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dem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beobachteten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Pfad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„products/search“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suchen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. In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main.js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stehen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daneben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die </a:t>
            </a:r>
            <a:r>
              <a:rPr sz="1875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Definitionen</a:t>
            </a:r>
            <a:r>
              <a:rPr sz="1875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von host und put(...).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59AD63F-BFBE-4712-9C5A-569B3F5A4648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7000875" cy="2352675"/>
          </a:xfrm>
          <a:prstGeom prst="roundRect">
            <a:avLst>
              <a:gd name="adj" fmla="val 5668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" name="host = this.hostServer + &quot;/api/Products&quot;;&#10;&#10;put(e, ">
            <a:extLst>
              <a:ext uri="{FF2B5EF4-FFF2-40B4-BE49-F238E27FC236}">
                <a16:creationId xmlns:a16="http://schemas.microsoft.com/office/drawing/2014/main" id="{0C5EDF14-6BEA-4126-901C-B1958C936A6A}"/>
              </a:ext>
            </a:extLst>
          </p:cNvPr>
          <p:cNvSpPr>
            <a:spLocks noGrp="1"/>
          </p:cNvSpPr>
          <p:nvPr/>
        </p:nvSpPr>
        <p:spPr>
          <a:xfrm>
            <a:off x="1143000" y="2562225"/>
            <a:ext cx="6581775" cy="1971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host = this.hostServer + "/api/Products";</a:t>
            </a:r>
          </a:p>
          <a:p>
            <a:endParaRPr sz="1650" b="0">
              <a:solidFill>
                <a:srgbClr val="26324A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put(e, i) {</a:t>
            </a:r>
          </a:p>
          <a:p>
            <a:pPr>
              <a:def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return this.http.put(`${this.host}/${e}`, i)</a:t>
            </a:r>
          </a:p>
          <a:p>
            <a:pPr>
              <a:def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// Nachverarbeitung ausgelassen</a:t>
            </a:r>
          </a:p>
          <a:p>
            <a:pPr>
              <a:def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}</a:t>
            </a:r>
          </a:p>
        </p:txBody>
      </p:sp>
      <p:sp>
        <p:nvSpPr>
          <p:cNvPr id="6" name="So entsteht die Anfrage">
            <a:extLst>
              <a:ext uri="{FF2B5EF4-FFF2-40B4-BE49-F238E27FC236}">
                <a16:creationId xmlns:a16="http://schemas.microsoft.com/office/drawing/2014/main" id="{DEDA6172-E8E6-4FDB-9853-2ECB174503DB}"/>
              </a:ext>
            </a:extLst>
          </p:cNvPr>
          <p:cNvSpPr>
            <a:spLocks noGrp="1"/>
          </p:cNvSpPr>
          <p:nvPr/>
        </p:nvSpPr>
        <p:spPr>
          <a:xfrm>
            <a:off x="8334375" y="2400300"/>
            <a:ext cx="30956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So entsteht die Anfrage</a:t>
            </a:r>
          </a:p>
        </p:txBody>
      </p:sp>
      <p:sp>
        <p:nvSpPr>
          <p:cNvPr id="7" name="host: Basis-URL + API-Pfad&#10;e: Produkt-ID aus der A">
            <a:extLst>
              <a:ext uri="{FF2B5EF4-FFF2-40B4-BE49-F238E27FC236}">
                <a16:creationId xmlns:a16="http://schemas.microsoft.com/office/drawing/2014/main" id="{33DAC345-5AD9-4371-8A0B-A2864425B371}"/>
              </a:ext>
            </a:extLst>
          </p:cNvPr>
          <p:cNvSpPr>
            <a:spLocks noGrp="1"/>
          </p:cNvSpPr>
          <p:nvPr/>
        </p:nvSpPr>
        <p:spPr>
          <a:xfrm>
            <a:off x="8334375" y="2838450"/>
            <a:ext cx="3095625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host: Basis-URL + API-</a:t>
            </a: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Pfad</a:t>
            </a:r>
            <a:endParaRPr sz="1500" b="0" dirty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5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e: </a:t>
            </a: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Produkt</a:t>
            </a: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-ID </a:t>
            </a: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aus</a:t>
            </a: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der </a:t>
            </a: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Antwort</a:t>
            </a:r>
            <a:endParaRPr sz="1500" b="0" dirty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5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i</a:t>
            </a: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: </a:t>
            </a: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geänderte</a:t>
            </a: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Produktdaten</a:t>
            </a:r>
            <a:endParaRPr sz="1500" b="0" dirty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endParaRPr sz="1500" b="0" dirty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5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dirty="0" err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http.put</a:t>
            </a:r>
            <a:r>
              <a:rPr sz="1500" b="0" dirty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: HTTP-Methode PUT</a:t>
            </a:r>
          </a:p>
        </p:txBody>
      </p:sp>
      <p:sp>
        <p:nvSpPr>
          <p:cNvPr id="8" name="Für die gefundene ID 9 ergibt sich PUT /api/Produc">
            <a:extLst>
              <a:ext uri="{FF2B5EF4-FFF2-40B4-BE49-F238E27FC236}">
                <a16:creationId xmlns:a16="http://schemas.microsoft.com/office/drawing/2014/main" id="{3BC7B2DF-1645-4DC7-9CA7-AACFE816C2B2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Für die gefundene ID 9 ergibt sich PUT /api/Products/9.</a:t>
            </a:r>
          </a:p>
        </p:txBody>
      </p:sp>
    </p:spTree>
    <p:extLst>
      <p:ext uri="{BB962C8B-B14F-4D97-AF65-F5344CB8AC3E}">
        <p14:creationId xmlns:p14="http://schemas.microsoft.com/office/powerpoint/2010/main" val="84162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3. Das Produkt lesen und den Ausgangszustand siche">
            <a:extLst>
              <a:ext uri="{FF2B5EF4-FFF2-40B4-BE49-F238E27FC236}">
                <a16:creationId xmlns:a16="http://schemas.microsoft.com/office/drawing/2014/main" id="{1C06986A-19DD-4C64-A45D-96C53FDF1C95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3. Das </a:t>
            </a:r>
            <a:r>
              <a:rPr sz="2850" b="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Produkt</a:t>
            </a:r>
            <a:r>
              <a:rPr sz="2850" b="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lesen</a:t>
            </a:r>
            <a:r>
              <a:rPr sz="2850" b="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und den </a:t>
            </a:r>
            <a:r>
              <a:rPr sz="2850" b="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Ausgangszustand</a:t>
            </a:r>
            <a:r>
              <a:rPr sz="2850" b="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sichern</a:t>
            </a:r>
            <a:endParaRPr sz="2850" b="0" dirty="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0E225E23-EC1D-4F09-8A86-5A6A2C852A22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In „Console / Konsole“ des lokalen Shops, die Blöc">
            <a:extLst>
              <a:ext uri="{FF2B5EF4-FFF2-40B4-BE49-F238E27FC236}">
                <a16:creationId xmlns:a16="http://schemas.microsoft.com/office/drawing/2014/main" id="{D560028E-A68B-4982-A0B7-090FFA662AF2}"/>
              </a:ext>
            </a:extLst>
          </p:cNvPr>
          <p:cNvSpPr>
            <a:spLocks noGrp="1"/>
          </p:cNvSpPr>
          <p:nvPr/>
        </p:nvSpPr>
        <p:spPr>
          <a:xfrm>
            <a:off x="933450" y="1343025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In „Console / Konsole“ des lokalen Shops, die Blöcke der Reihe nach ausführen: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8DC5180-1236-424B-A28C-0AA42EB4C19B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10382250" cy="2714625"/>
          </a:xfrm>
          <a:prstGeom prst="roundRect">
            <a:avLst>
              <a:gd name="adj" fmla="val 4912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" name="const list = await (await fetch(&quot;/api/Products&quot;)).">
            <a:extLst>
              <a:ext uri="{FF2B5EF4-FFF2-40B4-BE49-F238E27FC236}">
                <a16:creationId xmlns:a16="http://schemas.microsoft.com/office/drawing/2014/main" id="{7A51B8EF-0E02-4BC8-873E-733DF7BCE9B7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9963150" cy="2333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list = await (await fetch("/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api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/Products")).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json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();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product =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list.data.find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(p =&gt;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p.name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=== "OWASP SSL Advanced Forensic Tool (O-Saft)"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);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endpoint = `/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api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/Products/${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product.id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}`;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before = (await (await fetch(endpoint)).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json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()).data;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console.log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(endpoint, before);</a:t>
            </a:r>
          </a:p>
        </p:txBody>
      </p:sp>
      <p:sp>
        <p:nvSpPr>
          <p:cNvPr id="6" name="Name, ID und description kontrollieren. before ble">
            <a:extLst>
              <a:ext uri="{FF2B5EF4-FFF2-40B4-BE49-F238E27FC236}">
                <a16:creationId xmlns:a16="http://schemas.microsoft.com/office/drawing/2014/main" id="{DD20CA97-60FE-4CF1-97B5-E2B946F7D427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Name, ID und description kontrollieren. before bleibt für den späteren Vergleich erhalten.</a:t>
            </a:r>
          </a:p>
        </p:txBody>
      </p:sp>
    </p:spTree>
    <p:extLst>
      <p:ext uri="{BB962C8B-B14F-4D97-AF65-F5344CB8AC3E}">
        <p14:creationId xmlns:p14="http://schemas.microsoft.com/office/powerpoint/2010/main" val="122554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. Nur das Ziel des vorhandenen Links ändern">
            <a:extLst>
              <a:ext uri="{FF2B5EF4-FFF2-40B4-BE49-F238E27FC236}">
                <a16:creationId xmlns:a16="http://schemas.microsoft.com/office/drawing/2014/main" id="{13769064-AAB1-46E6-BF5C-B43A16616769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4. Nur das Ziel des vorhandenen Links ändern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EC9A931C-EBCC-48E0-A475-B602C94165BB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Den bisherigen href-Wert aus before.description üb">
            <a:extLst>
              <a:ext uri="{FF2B5EF4-FFF2-40B4-BE49-F238E27FC236}">
                <a16:creationId xmlns:a16="http://schemas.microsoft.com/office/drawing/2014/main" id="{F8F40A2C-BFB4-4FB7-83C9-50DF38E3EBF7}"/>
              </a:ext>
            </a:extLst>
          </p:cNvPr>
          <p:cNvSpPr>
            <a:spLocks noGrp="1"/>
          </p:cNvSpPr>
          <p:nvPr/>
        </p:nvSpPr>
        <p:spPr>
          <a:xfrm>
            <a:off x="933450" y="1343025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Den bisherigen href-Wert aus before.description übernehmen: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7852D5E-5F58-4D52-9356-7C27215A3915}"/>
              </a:ext>
            </a:extLst>
          </p:cNvPr>
          <p:cNvSpPr>
            <a:spLocks noGrp="1"/>
          </p:cNvSpPr>
          <p:nvPr/>
        </p:nvSpPr>
        <p:spPr>
          <a:xfrm>
            <a:off x="933450" y="2047875"/>
            <a:ext cx="10382250" cy="2943225"/>
          </a:xfrm>
          <a:prstGeom prst="roundRect">
            <a:avLst>
              <a:gd name="adj" fmla="val 4531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" name="const oldHref = &quot;https://www.owasp.org/index.php/O">
            <a:extLst>
              <a:ext uri="{FF2B5EF4-FFF2-40B4-BE49-F238E27FC236}">
                <a16:creationId xmlns:a16="http://schemas.microsoft.com/office/drawing/2014/main" id="{2D0FE666-618E-4390-A6B3-A471BE4F697F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9963150" cy="2562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oldHref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= "https://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www.owasp.org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/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index.php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/O-Saft";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newHref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= "https://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owasp.slack.com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";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description =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before.description.replace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`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href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="${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oldHref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}"`, `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href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="${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newHref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}"`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);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if (description ===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before.description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) {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throw new Error("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Alten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Link nicht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gefunden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");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}</a:t>
            </a:r>
          </a:p>
        </p:txBody>
      </p:sp>
      <p:sp>
        <p:nvSpPr>
          <p:cNvPr id="6" name="Beschreibung, „More...“ und target bleiben erhalte">
            <a:extLst>
              <a:ext uri="{FF2B5EF4-FFF2-40B4-BE49-F238E27FC236}">
                <a16:creationId xmlns:a16="http://schemas.microsoft.com/office/drawing/2014/main" id="{6F8A03C8-9201-4D3C-B91C-64EAFD9B7A3F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Beschreibung, „More...“ und target bleiben erhalten. Nur href erhält eine neue URL.</a:t>
            </a:r>
          </a:p>
        </p:txBody>
      </p:sp>
    </p:spTree>
    <p:extLst>
      <p:ext uri="{BB962C8B-B14F-4D97-AF65-F5344CB8AC3E}">
        <p14:creationId xmlns:p14="http://schemas.microsoft.com/office/powerpoint/2010/main" val="895819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5. Die bestehende Produktressource mit PUT ändern">
            <a:extLst>
              <a:ext uri="{FF2B5EF4-FFF2-40B4-BE49-F238E27FC236}">
                <a16:creationId xmlns:a16="http://schemas.microsoft.com/office/drawing/2014/main" id="{90A16E62-00E4-45D0-99F6-D6780E9F1CA3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5. Die bestehende Produktressource mit PUT ändern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688F8394-4D1A-4FA1-8F36-10E70EBECE5D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B537A72B-C839-49A0-9E65-2FFF1E888AB6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10382250" cy="2695575"/>
          </a:xfrm>
          <a:prstGeom prst="roundRect">
            <a:avLst>
              <a:gd name="adj" fmla="val 4947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4" name="const response = await fetch(endpoint, {&#10;  method:">
            <a:extLst>
              <a:ext uri="{FF2B5EF4-FFF2-40B4-BE49-F238E27FC236}">
                <a16:creationId xmlns:a16="http://schemas.microsoft.com/office/drawing/2014/main" id="{CDBCFE55-16ED-42B1-A2E5-85A23ACE0165}"/>
              </a:ext>
            </a:extLst>
          </p:cNvPr>
          <p:cNvSpPr>
            <a:spLocks noGrp="1"/>
          </p:cNvSpPr>
          <p:nvPr/>
        </p:nvSpPr>
        <p:spPr>
          <a:xfrm>
            <a:off x="1143000" y="1752600"/>
            <a:ext cx="9963150" cy="2314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response = await fetch(endpoint, {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method: "PUT",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credentials: "omit",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headers: {"Content-Type": "application/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json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"},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body: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JSON.stringify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({description})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});</a:t>
            </a:r>
          </a:p>
          <a:p>
            <a:pPr>
              <a:defRPr sz="1800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console.log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response.status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, await </a:t>
            </a:r>
            <a:r>
              <a:rPr sz="1800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response.json</a:t>
            </a:r>
            <a:r>
              <a:rPr sz="1800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());</a:t>
            </a:r>
          </a:p>
        </p:txBody>
      </p:sp>
      <p:sp>
        <p:nvSpPr>
          <p:cNvPr id="5" name="PUT adressiert das vorhandene Produkt. Der JSON-Bo">
            <a:extLst>
              <a:ext uri="{FF2B5EF4-FFF2-40B4-BE49-F238E27FC236}">
                <a16:creationId xmlns:a16="http://schemas.microsoft.com/office/drawing/2014/main" id="{B4892B27-6863-4B8A-9428-DB9A01153ACE}"/>
              </a:ext>
            </a:extLst>
          </p:cNvPr>
          <p:cNvSpPr>
            <a:spLocks noGrp="1"/>
          </p:cNvSpPr>
          <p:nvPr/>
        </p:nvSpPr>
        <p:spPr>
          <a:xfrm>
            <a:off x="933450" y="45148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PUT adressiert das vorhandene Produkt. Der JSON-Body enthält die vollständige</a:t>
            </a:r>
          </a:p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neue description. Diese Übungs-API lässt die übrigen Produktfelder unverändert.</a:t>
            </a:r>
          </a:p>
        </p:txBody>
      </p:sp>
      <p:sp>
        <p:nvSpPr>
          <p:cNvPr id="6" name="Der Endpunkt akzeptiert die Änderung ohne Anmeldun">
            <a:extLst>
              <a:ext uri="{FF2B5EF4-FFF2-40B4-BE49-F238E27FC236}">
                <a16:creationId xmlns:a16="http://schemas.microsoft.com/office/drawing/2014/main" id="{7126E4E1-B6C5-47DC-8922-2B93F5292959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Der Endpunkt akzeptiert die Änderung ohne Anmeldung. Darin liegt die Schwachstelle.</a:t>
            </a:r>
          </a:p>
        </p:txBody>
      </p:sp>
    </p:spTree>
    <p:extLst>
      <p:ext uri="{BB962C8B-B14F-4D97-AF65-F5344CB8AC3E}">
        <p14:creationId xmlns:p14="http://schemas.microsoft.com/office/powerpoint/2010/main" val="290152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6. Die gespeicherte Änderung und den Erfolg prüfen">
            <a:extLst>
              <a:ext uri="{FF2B5EF4-FFF2-40B4-BE49-F238E27FC236}">
                <a16:creationId xmlns:a16="http://schemas.microsoft.com/office/drawing/2014/main" id="{08CB28E7-9735-451B-8275-4F59D0D29DFE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6. Die gespeicherte Änderung und den Erfolg prüfen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ADB2CCBE-9D9F-45C1-953C-8D3936E83F87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  <p:sp>
        <p:nvSpPr>
          <p:cNvPr id="3" name="Frischer GET: steht der richtige Inhalt in der Res">
            <a:extLst>
              <a:ext uri="{FF2B5EF4-FFF2-40B4-BE49-F238E27FC236}">
                <a16:creationId xmlns:a16="http://schemas.microsoft.com/office/drawing/2014/main" id="{D511A343-DB24-4A34-B47C-05C4CFABE13A}"/>
              </a:ext>
            </a:extLst>
          </p:cNvPr>
          <p:cNvSpPr>
            <a:spLocks noGrp="1"/>
          </p:cNvSpPr>
          <p:nvPr/>
        </p:nvSpPr>
        <p:spPr>
          <a:xfrm>
            <a:off x="933450" y="140017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Frischer GET: steht der richtige Inhalt in der Ressource?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C48863A9-A044-4479-B2BC-96D00F1FEE5C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10382250" cy="161925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9525">
            <a:solidFill>
              <a:srgbClr val="D4D7DE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" name="const after = (await (await fetch(&#10;  endpoint, {ca">
            <a:extLst>
              <a:ext uri="{FF2B5EF4-FFF2-40B4-BE49-F238E27FC236}">
                <a16:creationId xmlns:a16="http://schemas.microsoft.com/office/drawing/2014/main" id="{1970B62E-1CB6-4E0C-875A-BC689AAD15D3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9963150" cy="1238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const after = (await (await fetch(</a:t>
            </a:r>
          </a:p>
          <a:p>
            <a:pPr>
              <a:defRPr sz="17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 endpoint, {cache: "no-store"}</a:t>
            </a:r>
          </a:p>
          <a:p>
            <a:pPr>
              <a:defRPr sz="17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)).</a:t>
            </a:r>
            <a:r>
              <a:rPr sz="1725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json</a:t>
            </a:r>
            <a:r>
              <a:rPr sz="17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()).data;</a:t>
            </a:r>
          </a:p>
          <a:p>
            <a:pPr>
              <a:defRPr sz="1725" b="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console.log</a:t>
            </a:r>
            <a:r>
              <a:rPr sz="17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(</a:t>
            </a:r>
            <a:r>
              <a:rPr sz="1725" b="0" dirty="0" err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after.description</a:t>
            </a:r>
            <a:r>
              <a:rPr sz="1725" b="0" dirty="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=== description, before, after);</a:t>
            </a:r>
          </a:p>
        </p:txBody>
      </p:sp>
    </p:spTree>
    <p:extLst>
      <p:ext uri="{BB962C8B-B14F-4D97-AF65-F5344CB8AC3E}">
        <p14:creationId xmlns:p14="http://schemas.microsoft.com/office/powerpoint/2010/main" val="277270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inordnung: Zugriffskontrolle und Werkzeuggrenze">
            <a:extLst>
              <a:ext uri="{FF2B5EF4-FFF2-40B4-BE49-F238E27FC236}">
                <a16:creationId xmlns:a16="http://schemas.microsoft.com/office/drawing/2014/main" id="{0B6A5DCB-F91D-4E1A-AFA9-CC91F330A0BA}"/>
              </a:ext>
            </a:extLst>
          </p:cNvPr>
          <p:cNvSpPr>
            <a:spLocks noGrp="1"/>
          </p:cNvSpPr>
          <p:nvPr/>
        </p:nvSpPr>
        <p:spPr>
          <a:xfrm>
            <a:off x="933450" y="47625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Einordnung: Zugriffskontrolle und Werkzeuggrenze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B1753FE3-B6CB-4F5B-8F19-7BAD839F6154}"/>
              </a:ext>
            </a:extLst>
          </p:cNvPr>
          <p:cNvSpPr>
            <a:spLocks noGrp="1"/>
          </p:cNvSpPr>
          <p:nvPr/>
        </p:nvSpPr>
        <p:spPr>
          <a:xfrm>
            <a:off x="10744200" y="6248400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3" name="Die Sicherheitslücke">
            <a:extLst>
              <a:ext uri="{FF2B5EF4-FFF2-40B4-BE49-F238E27FC236}">
                <a16:creationId xmlns:a16="http://schemas.microsoft.com/office/drawing/2014/main" id="{AA92465A-188A-4902-B9A5-C2923F65E6E5}"/>
              </a:ext>
            </a:extLst>
          </p:cNvPr>
          <p:cNvSpPr>
            <a:spLocks noGrp="1"/>
          </p:cNvSpPr>
          <p:nvPr/>
        </p:nvSpPr>
        <p:spPr>
          <a:xfrm>
            <a:off x="933450" y="15144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Sicherheitslücke</a:t>
            </a:r>
          </a:p>
        </p:txBody>
      </p:sp>
      <p:sp>
        <p:nvSpPr>
          <p:cNvPr id="4" name="Der Server erlaubt eine Produktänderung&#10;ohne passe">
            <a:extLst>
              <a:ext uri="{FF2B5EF4-FFF2-40B4-BE49-F238E27FC236}">
                <a16:creationId xmlns:a16="http://schemas.microsoft.com/office/drawing/2014/main" id="{8EFED69B-C128-4237-9827-9A7587CD029F}"/>
              </a:ext>
            </a:extLst>
          </p:cNvPr>
          <p:cNvSpPr>
            <a:spLocks noGrp="1"/>
          </p:cNvSpPr>
          <p:nvPr/>
        </p:nvSpPr>
        <p:spPr>
          <a:xfrm>
            <a:off x="933450" y="1981200"/>
            <a:ext cx="4953000" cy="228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Der Server erlaubt eine Produktänderung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ohne passende Berechtigungsprüfung.</a:t>
            </a:r>
          </a:p>
          <a:p>
            <a:endParaRPr sz="1875" b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Ein sichtbarer API-Pfad ist normal.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Die Berechtigung muss der Server</a:t>
            </a:r>
          </a:p>
          <a:p>
            <a:pPr>
              <a:def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für jede Änderung prüfen.</a:t>
            </a:r>
          </a:p>
        </p:txBody>
      </p:sp>
      <p:sp>
        <p:nvSpPr>
          <p:cNvPr id="5" name="Der Bezug zum Agentenvergleich">
            <a:extLst>
              <a:ext uri="{FF2B5EF4-FFF2-40B4-BE49-F238E27FC236}">
                <a16:creationId xmlns:a16="http://schemas.microsoft.com/office/drawing/2014/main" id="{89C5BD71-372B-4E57-B6C0-39605DB272A5}"/>
              </a:ext>
            </a:extLst>
          </p:cNvPr>
          <p:cNvSpPr>
            <a:spLocks noGrp="1"/>
          </p:cNvSpPr>
          <p:nvPr/>
        </p:nvSpPr>
        <p:spPr>
          <a:xfrm>
            <a:off x="6715125" y="15144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Bezug zum Agentenvergleich</a:t>
            </a:r>
          </a:p>
        </p:txBody>
      </p:sp>
      <p:sp>
        <p:nvSpPr>
          <p:cNvPr id="6" name="Mensch: wählt und prüft jeden Schritt.&#10;&#10;Eigenbau: ">
            <a:extLst>
              <a:ext uri="{FF2B5EF4-FFF2-40B4-BE49-F238E27FC236}">
                <a16:creationId xmlns:a16="http://schemas.microsoft.com/office/drawing/2014/main" id="{91FC24EE-B2CA-47DA-9783-B3266D76B6DE}"/>
              </a:ext>
            </a:extLst>
          </p:cNvPr>
          <p:cNvSpPr>
            <a:spLocks noGrp="1"/>
          </p:cNvSpPr>
          <p:nvPr/>
        </p:nvSpPr>
        <p:spPr>
          <a:xfrm>
            <a:off x="6715125" y="1981200"/>
            <a:ext cx="4619625" cy="2428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Mensch: wählt und prüft jeden Schritt.</a:t>
            </a:r>
          </a:p>
          <a:p>
            <a:endParaRPr sz="1800" b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Eigenbau: kann lesen, hat aber kein PUT.</a:t>
            </a:r>
          </a:p>
          <a:p>
            <a:endParaRPr sz="1800" b="0">
              <a:solidFill>
                <a:srgbClr val="48536D"/>
              </a:solidFill>
              <a:latin typeface="Avenir Next"/>
              <a:ea typeface="Avenir Next"/>
              <a:cs typeface="Avenir Next"/>
            </a:endParaRPr>
          </a:p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CAI: kann PUT über ein Linux-Werkzeug</a:t>
            </a:r>
          </a:p>
          <a:p>
            <a:pPr>
              <a:def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ausführen, etwa mit curl.</a:t>
            </a:r>
          </a:p>
        </p:txBody>
      </p:sp>
      <p:sp>
        <p:nvSpPr>
          <p:cNvPr id="7" name="Entscheidend sind der ausführbare HTTP-Aufruf und ">
            <a:extLst>
              <a:ext uri="{FF2B5EF4-FFF2-40B4-BE49-F238E27FC236}">
                <a16:creationId xmlns:a16="http://schemas.microsoft.com/office/drawing/2014/main" id="{368F681D-3360-401E-BE7A-18957D39487F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Entscheidend sind der ausführbare HTTP-Aufruf und ein unabhängiger Erfolgsbeleg.</a:t>
            </a:r>
          </a:p>
        </p:txBody>
      </p:sp>
    </p:spTree>
    <p:extLst>
      <p:ext uri="{BB962C8B-B14F-4D97-AF65-F5344CB8AC3E}">
        <p14:creationId xmlns:p14="http://schemas.microsoft.com/office/powerpoint/2010/main" val="572872263"/>
      </p:ext>
    </p:extLst>
  </p:cSld>
  <p:clrMapOvr>
    <a:masterClrMapping/>
  </p:clrMapOvr>
</p:sld>
</file>

<file path=ppt/theme/theme1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3450</Words>
  <Application>Microsoft Macintosh PowerPoint</Application>
  <DocSecurity>0</DocSecurity>
  <PresentationFormat>Breitbild</PresentationFormat>
  <Paragraphs>368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3" baseType="lpstr">
      <vt:lpstr>Aptos Mono</vt:lpstr>
      <vt:lpstr>Avenir Next</vt:lpstr>
      <vt:lpstr>Serify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Markus Bayer</cp:lastModifiedBy>
  <cp:revision>5</cp:revision>
  <dcterms:created xsi:type="dcterms:W3CDTF">2026-09-04T12:52:47Z</dcterms:created>
  <dcterms:modified xsi:type="dcterms:W3CDTF">2026-09-21T15:50:16Z</dcterms:modified>
</cp:coreProperties>
</file>