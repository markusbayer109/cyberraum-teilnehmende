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672b4f6ec74740" /><Relationship Type="http://schemas.openxmlformats.org/officeDocument/2006/relationships/extended-properties" Target="/docProps/app.xml" Id="R3234d20964554cc5" /><Relationship Type="http://schemas.openxmlformats.org/officeDocument/2006/relationships/officeDocument" Target="/ppt/presentation.xml" Id="R62e5359eec9c4e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acfd9aa0d94579"/>
  </p:sldMasterIdLst>
  <p:notesMasterIdLst>
    <p:notesMasterId xmlns:r="http://schemas.openxmlformats.org/officeDocument/2006/relationships" r:id="R53a8107327a4433d"/>
  </p:notesMasterIdLst>
  <p:sldIdLst>
    <p:sldId xmlns:r="http://schemas.openxmlformats.org/officeDocument/2006/relationships" id="256" r:id="Rfa2304cd250d43bb"/>
    <p:sldId xmlns:r="http://schemas.openxmlformats.org/officeDocument/2006/relationships" id="257" r:id="R6256dba8a6f54209"/>
    <p:sldId xmlns:r="http://schemas.openxmlformats.org/officeDocument/2006/relationships" id="258" r:id="R6f3bf75c95d44a73"/>
    <p:sldId xmlns:r="http://schemas.openxmlformats.org/officeDocument/2006/relationships" id="259" r:id="Rc7a6e593747d493a"/>
    <p:sldId xmlns:r="http://schemas.openxmlformats.org/officeDocument/2006/relationships" id="260" r:id="Rab564c198e4645fa"/>
    <p:sldId xmlns:r="http://schemas.openxmlformats.org/officeDocument/2006/relationships" id="261" r:id="Rd5943e96f41948b8"/>
    <p:sldId xmlns:r="http://schemas.openxmlformats.org/officeDocument/2006/relationships" id="262" r:id="R1792829656304081"/>
    <p:sldId xmlns:r="http://schemas.openxmlformats.org/officeDocument/2006/relationships" id="263" r:id="R14892a9327b44914"/>
    <p:sldId xmlns:r="http://schemas.openxmlformats.org/officeDocument/2006/relationships" id="264" r:id="Rac8e32db82014d3f"/>
    <p:sldId xmlns:r="http://schemas.openxmlformats.org/officeDocument/2006/relationships" id="265" r:id="R9ba0dd9c82cd4d99"/>
    <p:sldId xmlns:r="http://schemas.openxmlformats.org/officeDocument/2006/relationships" id="266" r:id="R5f64ea5f459941d8"/>
    <p:sldId xmlns:r="http://schemas.openxmlformats.org/officeDocument/2006/relationships" id="267" r:id="Rb4bde2505cc8488c"/>
    <p:sldId xmlns:r="http://schemas.openxmlformats.org/officeDocument/2006/relationships" id="268" r:id="R0258f2a3bea04585"/>
    <p:sldId xmlns:r="http://schemas.openxmlformats.org/officeDocument/2006/relationships" id="269" r:id="Re16eddd3d72a4e87"/>
    <p:sldId xmlns:r="http://schemas.openxmlformats.org/officeDocument/2006/relationships" id="270" r:id="Rc4b6c538864e4f12"/>
    <p:sldId xmlns:r="http://schemas.openxmlformats.org/officeDocument/2006/relationships" id="271" r:id="Rc184984a3bb14f4f"/>
    <p:sldId xmlns:r="http://schemas.openxmlformats.org/officeDocument/2006/relationships" id="272" r:id="Ra71161b4637e4b2f"/>
    <p:sldId xmlns:r="http://schemas.openxmlformats.org/officeDocument/2006/relationships" id="273" r:id="R92ae1b21d9f84eaa"/>
    <p:sldId xmlns:r="http://schemas.openxmlformats.org/officeDocument/2006/relationships" id="274" r:id="Rc1fa636153064fbb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ACF41658-5F32-F0E1-7446-2A602223BA7A}" name="Markus Bayer" initials="MB" userId="280c9097fed83638" providerId="Windows Live"/>
  <p188:author id="{92394061-3665-6D24-A577-C223EBB3DCE8}" name="Philipp Kühn" initials="PK" userId="e3a6e9f4ee670765" providerId="Windows Live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5779fd579f4937" /><Relationship Type="http://schemas.openxmlformats.org/officeDocument/2006/relationships/slideMaster" Target="/ppt/slideMasters/slideMaster1.xml" Id="R82acfd9aa0d94579" /><Relationship Type="http://schemas.openxmlformats.org/officeDocument/2006/relationships/notesMaster" Target="/ppt/notesMasters/notesMaster1.xml" Id="R53a8107327a4433d" /><Relationship Type="http://schemas.openxmlformats.org/officeDocument/2006/relationships/presProps" Target="/ppt/presProps.xml" Id="R0fc3fda91fbb4d11" /><Relationship Type="http://schemas.openxmlformats.org/officeDocument/2006/relationships/viewProps" Target="/ppt/viewProps.xml" Id="R6ff9c2c2403145d6" /><Relationship Type="http://schemas.openxmlformats.org/officeDocument/2006/relationships/tableStyles" Target="/ppt/tableStyles.xml" Id="Rbe9119c005514113" /><Relationship Type="http://schemas.microsoft.com/office/2018/10/relationships/authors" Target="/ppt/authors.xml" Id="R791adc1f2cce48cb" /><Relationship Type="http://schemas.openxmlformats.org/officeDocument/2006/relationships/slide" Target="/ppt/slides/slide1.xml" Id="Rfa2304cd250d43bb" /><Relationship Type="http://schemas.openxmlformats.org/officeDocument/2006/relationships/slide" Target="/ppt/slides/slide2.xml" Id="R6256dba8a6f54209" /><Relationship Type="http://schemas.openxmlformats.org/officeDocument/2006/relationships/slide" Target="/ppt/slides/slide3.xml" Id="R6f3bf75c95d44a73" /><Relationship Type="http://schemas.openxmlformats.org/officeDocument/2006/relationships/slide" Target="/ppt/slides/slide4.xml" Id="Rc7a6e593747d493a" /><Relationship Type="http://schemas.openxmlformats.org/officeDocument/2006/relationships/slide" Target="/ppt/slides/slide5.xml" Id="Rab564c198e4645fa" /><Relationship Type="http://schemas.openxmlformats.org/officeDocument/2006/relationships/slide" Target="/ppt/slides/slide6.xml" Id="Rd5943e96f41948b8" /><Relationship Type="http://schemas.openxmlformats.org/officeDocument/2006/relationships/slide" Target="/ppt/slides/slide7.xml" Id="R1792829656304081" /><Relationship Type="http://schemas.openxmlformats.org/officeDocument/2006/relationships/slide" Target="/ppt/slides/slide8.xml" Id="R14892a9327b44914" /><Relationship Type="http://schemas.openxmlformats.org/officeDocument/2006/relationships/slide" Target="/ppt/slides/slide9.xml" Id="Rac8e32db82014d3f" /><Relationship Type="http://schemas.openxmlformats.org/officeDocument/2006/relationships/slide" Target="/ppt/slides/slide10.xml" Id="R9ba0dd9c82cd4d99" /><Relationship Type="http://schemas.openxmlformats.org/officeDocument/2006/relationships/slide" Target="/ppt/slides/slide11.xml" Id="R5f64ea5f459941d8" /><Relationship Type="http://schemas.openxmlformats.org/officeDocument/2006/relationships/slide" Target="/ppt/slides/slide12.xml" Id="Rb4bde2505cc8488c" /><Relationship Type="http://schemas.openxmlformats.org/officeDocument/2006/relationships/slide" Target="/ppt/slides/slide13.xml" Id="R0258f2a3bea04585" /><Relationship Type="http://schemas.openxmlformats.org/officeDocument/2006/relationships/slide" Target="/ppt/slides/slide14.xml" Id="Re16eddd3d72a4e87" /><Relationship Type="http://schemas.openxmlformats.org/officeDocument/2006/relationships/slide" Target="/ppt/slides/slide15.xml" Id="Rc4b6c538864e4f12" /><Relationship Type="http://schemas.openxmlformats.org/officeDocument/2006/relationships/slide" Target="/ppt/slides/slide16.xml" Id="Rc184984a3bb14f4f" /><Relationship Type="http://schemas.openxmlformats.org/officeDocument/2006/relationships/slide" Target="/ppt/slides/slide17.xml" Id="Ra71161b4637e4b2f" /><Relationship Type="http://schemas.openxmlformats.org/officeDocument/2006/relationships/slide" Target="/ppt/slides/slide18.xml" Id="R92ae1b21d9f84eaa" /><Relationship Type="http://schemas.openxmlformats.org/officeDocument/2006/relationships/slide" Target="/ppt/slides/slide19.xml" Id="Rc1fa636153064f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b03196344c47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erify">
  <a:themeElements>
    <a:clrScheme name="Serify">
      <a:dk1>
        <a:srgbClr val="111111"/>
      </a:dk1>
      <a:lt1>
        <a:srgbClr val="FFFFFF"/>
      </a:lt1>
      <a:dk2>
        <a:srgbClr val="48536D"/>
      </a:dk2>
      <a:lt2>
        <a:srgbClr val="F5F6F8"/>
      </a:lt2>
      <a:accent1>
        <a:srgbClr val="48536D"/>
      </a:accent1>
      <a:accent2>
        <a:srgbClr val="778198"/>
      </a:accent2>
      <a:accent3>
        <a:srgbClr val="A6ADBC"/>
      </a:accent3>
      <a:accent4>
        <a:srgbClr val="D4D7DE"/>
      </a:accent4>
      <a:accent5>
        <a:srgbClr val="767676"/>
      </a:accent5>
      <a:accent6>
        <a:srgbClr val="B34A3A"/>
      </a:accent6>
      <a:hlink>
        <a:srgbClr val="48536D"/>
      </a:hlink>
      <a:folHlink>
        <a:srgbClr val="767676"/>
      </a:folHlink>
    </a:clrScheme>
    <a:fontScheme name="Serify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erif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04ede1f1ba4797" /><Relationship Type="http://schemas.openxmlformats.org/officeDocument/2006/relationships/notesMaster" Target="/ppt/notesMasters/notesMaster1.xml" Id="Rbfbfa0ef704740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083958592c43d1" /><Relationship Type="http://schemas.openxmlformats.org/officeDocument/2006/relationships/notesMaster" Target="/ppt/notesMasters/notesMaster1.xml" Id="Rbbda2def5d7a49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4a718a891b4b28" /><Relationship Type="http://schemas.openxmlformats.org/officeDocument/2006/relationships/notesMaster" Target="/ppt/notesMasters/notesMaster1.xml" Id="Rf3d5043ca04649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63c542e9aa45bd" /><Relationship Type="http://schemas.openxmlformats.org/officeDocument/2006/relationships/notesMaster" Target="/ppt/notesMasters/notesMaster1.xml" Id="R5514bbfa1dd94f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ee32de1ecd4a7e" /><Relationship Type="http://schemas.openxmlformats.org/officeDocument/2006/relationships/notesMaster" Target="/ppt/notesMasters/notesMaster1.xml" Id="Rc95a181e235544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c95dfe9d1a493f" /><Relationship Type="http://schemas.openxmlformats.org/officeDocument/2006/relationships/notesMaster" Target="/ppt/notesMasters/notesMaster1.xml" Id="R0085aa7ae15c40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8f52d90ccb4a38" /><Relationship Type="http://schemas.openxmlformats.org/officeDocument/2006/relationships/notesMaster" Target="/ppt/notesMasters/notesMaster1.xml" Id="R0fd99276a0044f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ca5cc49542403b" /><Relationship Type="http://schemas.openxmlformats.org/officeDocument/2006/relationships/notesMaster" Target="/ppt/notesMasters/notesMaster1.xml" Id="R22188cfeadc043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ad051e37334ba3" /><Relationship Type="http://schemas.openxmlformats.org/officeDocument/2006/relationships/notesMaster" Target="/ppt/notesMasters/notesMaster1.xml" Id="Ra34d370bc0b247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666df617b54a96" /><Relationship Type="http://schemas.openxmlformats.org/officeDocument/2006/relationships/notesMaster" Target="/ppt/notesMasters/notesMaster1.xml" Id="Rf766c64e990947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2a8a8afea2443b" /><Relationship Type="http://schemas.openxmlformats.org/officeDocument/2006/relationships/notesMaster" Target="/ppt/notesMasters/notesMaster1.xml" Id="R822618381bac49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93afd0d3c745c3" /><Relationship Type="http://schemas.openxmlformats.org/officeDocument/2006/relationships/notesMaster" Target="/ppt/notesMasters/notesMaster1.xml" Id="Rca621ff7d2294d5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8cfc5a24c847cc" /><Relationship Type="http://schemas.openxmlformats.org/officeDocument/2006/relationships/notesMaster" Target="/ppt/notesMasters/notesMaster1.xml" Id="R549ccbaa9da54d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931bad6e8a4222" /><Relationship Type="http://schemas.openxmlformats.org/officeDocument/2006/relationships/notesMaster" Target="/ppt/notesMasters/notesMaster1.xml" Id="R7c2515584eba41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4880e629ebd4d1f" /><Relationship Type="http://schemas.openxmlformats.org/officeDocument/2006/relationships/notesMaster" Target="/ppt/notesMasters/notesMaster1.xml" Id="Ra770911e535148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f9b07806e184ae5" /><Relationship Type="http://schemas.openxmlformats.org/officeDocument/2006/relationships/notesMaster" Target="/ppt/notesMasters/notesMaster1.xml" Id="R425e78b97ea54c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168938fcae94ad9" /><Relationship Type="http://schemas.openxmlformats.org/officeDocument/2006/relationships/notesMaster" Target="/ppt/notesMasters/notesMaster1.xml" Id="Re8fee3fceb4d4f3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bd5164aeb0d466a" /><Relationship Type="http://schemas.openxmlformats.org/officeDocument/2006/relationships/notesMaster" Target="/ppt/notesMasters/notesMaster1.xml" Id="Ra7f58765195e40d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04ba84fdc7b4a6f" /><Relationship Type="http://schemas.openxmlformats.org/officeDocument/2006/relationships/notesMaster" Target="/ppt/notesMasters/notesMaster1.xml" Id="R5b722ffd54154b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6166d18a249d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9a85b033fd49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806e87b23340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8f6f96d01b45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4f7bc24ed147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e3d86cf7d94fe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01025ec2a483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9938cacc504e0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2ffa6a38d04f5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427b9b262b426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45b4cbfb5746e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ec423a9ec3454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74fa487f7942d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fb62f3ab3f4c5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e9947bc224f6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b258b7a8e543f3" /></Relationships>
</file>

<file path=ppt/slideLayouts/slideLayout1.xml><?xml version="1.0" encoding="utf-8"?>
<p:sldLayout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221C24-7A6A-B681-74AA-29429CAEEE6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809750" y="3257550"/>
            <a:ext cx="8572500" cy="904875"/>
          </a:xfr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algn="ctr">
              <a:buNone/>
              <a:defRPr sz="5400"/>
            </a:lvl1pPr>
          </a:lstStyle>
          <a:p xmlns:a="http://schemas.openxmlformats.org/drawingml/2006/main">
            <a:pPr>
              <a:buNone/>
              <a:def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5B13457-E88A-729E-2343-D334E10D5B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81250" y="4210050"/>
            <a:ext cx="7429500" cy="742950"/>
          </a:xfr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  <a:def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Click to edit Master subtitle style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9862E78-18EB-4EFA-9D08-E089151459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F24BCE-BE82-6FF5-5C7E-8EDA3736FC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1950"/>
            <a:ext cx="9525000" cy="6858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C67F435-C354-B390-F51A-EB54B00EA7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428750"/>
            <a:ext cx="10515600" cy="4191000"/>
          </a:xfrm>
        </p:spPr>
        <p:txBody>
          <a:bodyPr xmlns:a="http://schemas.openxmlformats.org/drawingml/2006/main" lIns="190500" tIns="171450" rIns="190500" bIns="171450" anchor="t"/>
          <a:lstStyle xmlns:a="http://schemas.openxmlformats.org/drawingml/2006/main"/>
          <a:p xmlns:a="http://schemas.openxmlformats.org/drawingml/2006/main"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  <a:p xmlns:a="http://schemas.openxmlformats.org/drawingml/2006/main">
            <a:pPr lvl="1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Second level</a:t>
            </a:r>
          </a:p>
          <a:p xmlns:a="http://schemas.openxmlformats.org/drawingml/2006/main">
            <a:pPr lvl="2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Third level</a:t>
            </a:r>
          </a:p>
          <a:p xmlns:a="http://schemas.openxmlformats.org/drawingml/2006/main">
            <a:pPr lvl="3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Fourth level</a:t>
            </a:r>
          </a:p>
          <a:p xmlns:a="http://schemas.openxmlformats.org/drawingml/2006/main">
            <a:pPr lvl="4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Fifth level</a:t>
            </a:r>
          </a:p>
        </p:txBody>
      </p:sp>
      <p:sp>
        <p:nvSpPr>
          <p:cNvPr id="1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AB83843-CEE0-6E6B-2B30-5A3D986687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87F30370-3D1D-4ECA-8F08-20085C0D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633A0C85-713D-2CA1-7DA5-36A9FA2AB341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714500" y="2286000"/>
            <a:ext cx="8763000" cy="2095500"/>
          </a:xfr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algn="ctr">
              <a:buNone/>
              <a:defRPr sz="4400"/>
            </a:lvl1pPr>
          </a:lstStyle>
          <a:p xmlns:a="http://schemas.openxmlformats.org/drawingml/2006/main">
            <a:pPr lvl="0" algn="ctr">
              <a:buNone/>
              <a:defRPr sz="33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3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</p:txBody>
      </p:sp>
      <p:sp>
        <p:nvSpPr>
          <p:cNvPr id="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DA0653D-F337-4F6D-B1FC-533A69E1B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">
            <a:extLst xmlns:a="http://schemas.openxmlformats.org/drawingml/2006/main">
              <a:ext uri="{FF2B5EF4-FFF2-40B4-BE49-F238E27FC236}">
                <a16:creationId xmlns:a16="http://schemas.microsoft.com/office/drawing/2014/main" id="{C35D15A9-2976-48CB-81B8-836D30CE6E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1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lIns="0" tIns="0" rIns="0" bIns="0" anchor="ctr">
            <a:normAutofit/>
          </a:bodyPr>
          <a:lstStyle xmlns:a="http://schemas.openxmlformats.org/drawingml/2006/main">
            <a:lvl1pPr algn="l">
              <a:buNone/>
              <a:defRPr sz="44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Body Placeholder">
            <a:extLst xmlns:a="http://schemas.openxmlformats.org/drawingml/2006/main">
              <a:ext uri="{FF2B5EF4-FFF2-40B4-BE49-F238E27FC236}">
                <a16:creationId xmlns:a16="http://schemas.microsoft.com/office/drawing/2014/main" id="{AECF7F75-5BCE-40BD-864F-FC30E1E88B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428750"/>
            <a:ext cx="105156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  <p:txBody>
          <a:bodyPr xmlns:a="http://schemas.openxmlformats.org/drawingml/2006/main" vert="horz" lIns="190500" tIns="171450" rIns="190500" bIns="171450" anchor="t">
            <a:normAutofit/>
          </a:bodyPr>
          <a:lstStyle xmlns:a="http://schemas.openxmlformats.org/drawingml/2006/main">
            <a:lvl1pPr algn="l">
              <a:buChar char="•"/>
              <a:defRPr sz="26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</p:txBody>
      </p:sp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6081A4D-C841-4779-9AD5-D79FC86F39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6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CA1C5FAB-7F25-4FE4-AE35-2A21CCA6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>
  <p:cSld name="Two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">
            <a:extLst xmlns:a="http://schemas.openxmlformats.org/drawingml/2006/main">
              <a:ext uri="{FF2B5EF4-FFF2-40B4-BE49-F238E27FC236}">
                <a16:creationId xmlns:a16="http://schemas.microsoft.com/office/drawing/2014/main" id="{4F9784F8-891D-4A64-8B3C-24E4B0A005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1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lIns="0" tIns="0" rIns="0" bIns="0" anchor="ctr">
            <a:normAutofit/>
          </a:bodyPr>
          <a:lstStyle xmlns:a="http://schemas.openxmlformats.org/drawingml/2006/main">
            <a:lvl1pPr algn="l">
              <a:buNone/>
              <a:defRPr sz="44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Left Text Placeholder">
            <a:extLst xmlns:a="http://schemas.openxmlformats.org/drawingml/2006/main">
              <a:ext uri="{FF2B5EF4-FFF2-40B4-BE49-F238E27FC236}">
                <a16:creationId xmlns:a16="http://schemas.microsoft.com/office/drawing/2014/main" id="{883FD1F3-8EBC-4A2B-AE38-FD26980F9E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428750"/>
            <a:ext cx="5143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  <p:txBody>
          <a:bodyPr xmlns:a="http://schemas.openxmlformats.org/drawingml/2006/main" vert="horz" lIns="190500" tIns="171450" rIns="190500" bIns="171450" anchor="t">
            <a:normAutofit/>
          </a:bodyPr>
          <a:lstStyle xmlns:a="http://schemas.openxmlformats.org/drawingml/2006/main">
            <a:lvl1pPr algn="l">
              <a:buChar char="•"/>
              <a:defRPr sz="26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</p:txBody>
      </p:sp>
      <p:sp>
        <p:nvSpPr>
          <p:cNvPr id="4" name="Right Text Placeholder">
            <a:extLst xmlns:a="http://schemas.openxmlformats.org/drawingml/2006/main">
              <a:ext uri="{FF2B5EF4-FFF2-40B4-BE49-F238E27FC236}">
                <a16:creationId xmlns:a16="http://schemas.microsoft.com/office/drawing/2014/main" id="{70B74D96-4273-4B51-8B47-FC917DE3DF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10300" y="1428750"/>
            <a:ext cx="5143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  <p:txBody>
          <a:bodyPr xmlns:a="http://schemas.openxmlformats.org/drawingml/2006/main" vert="horz" lIns="190500" tIns="171450" rIns="190500" bIns="171450" anchor="t">
            <a:normAutofit/>
          </a:bodyPr>
          <a:lstStyle xmlns:a="http://schemas.openxmlformats.org/drawingml/2006/main">
            <a:lvl1pPr algn="l">
              <a:buChar char="•"/>
              <a:defRPr sz="26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</p:txBody>
      </p:sp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8838A7C-CF7E-46D1-9126-0866CB0A76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7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E75DE2CB-D4FF-46BA-A3E6-B836C155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>
  <p:cSld name="Quo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Quote Placeholder">
            <a:extLst xmlns:a="http://schemas.openxmlformats.org/drawingml/2006/main">
              <a:ext uri="{FF2B5EF4-FFF2-40B4-BE49-F238E27FC236}">
                <a16:creationId xmlns:a16="http://schemas.microsoft.com/office/drawing/2014/main" id="{33DEF908-3D8A-4F68-8E74-19F3AC5D2E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24000" y="1714500"/>
            <a:ext cx="9144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  <p:txBody>
          <a:bodyPr xmlns:a="http://schemas.openxmlformats.org/drawingml/2006/main" vert="horz" lIns="190500" tIns="171450" rIns="190500" bIns="171450" anchor="ctr">
            <a:normAutofit/>
          </a:bodyPr>
          <a:lstStyle xmlns:a="http://schemas.openxmlformats.org/drawingml/2006/main">
            <a:lvl1pPr algn="ctr">
              <a:buNone/>
              <a:defRPr sz="3800" i="1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 algn="ctr">
              <a:buNone/>
              <a:defRPr sz="25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5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quote text</a:t>
            </a:r>
          </a:p>
        </p:txBody>
      </p:sp>
      <p:sp>
        <p:nvSpPr>
          <p:cNvPr id="3" name="Attribution Placeholder">
            <a:extLst xmlns:a="http://schemas.openxmlformats.org/drawingml/2006/main">
              <a:ext uri="{FF2B5EF4-FFF2-40B4-BE49-F238E27FC236}">
                <a16:creationId xmlns:a16="http://schemas.microsoft.com/office/drawing/2014/main" id="{74538CE1-E0A6-4103-9742-664A7936CE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667000" y="4524375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lIns="0" tIns="0" rIns="0" bIns="0" anchor="ctr">
            <a:normAutofit/>
          </a:bodyPr>
          <a:lstStyle xmlns:a="http://schemas.openxmlformats.org/drawingml/2006/main">
            <a:lvl1pPr algn="ctr">
              <a:buNone/>
              <a:defRPr sz="18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 algn="ctr">
              <a:buNone/>
              <a:defRPr sz="12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Click to edit attribution</a:t>
            </a:r>
          </a:p>
        </p:txBody>
      </p:sp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A3A86A2-6840-4884-B037-0B0ABC220F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6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B5D36575-52AF-4EFB-BA48-28C0C629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>
  <p:cSld name="Full Im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">
            <a:extLst xmlns:a="http://schemas.openxmlformats.org/drawingml/2006/main">
              <a:ext uri="{FF2B5EF4-FFF2-40B4-BE49-F238E27FC236}">
                <a16:creationId xmlns:a16="http://schemas.microsoft.com/office/drawing/2014/main" id="{F7244EC5-DBE0-4E4E-934F-0A582DA461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1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lIns="0" tIns="0" rIns="0" bIns="0" anchor="ctr">
            <a:normAutofit/>
          </a:bodyPr>
          <a:lstStyle xmlns:a="http://schemas.openxmlformats.org/drawingml/2006/main">
            <a:lvl1pPr algn="l">
              <a:buNone/>
              <a:defRPr sz="44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Picture Placeholder">
            <a:extLst xmlns:a="http://schemas.openxmlformats.org/drawingml/2006/main">
              <a:ext uri="{FF2B5EF4-FFF2-40B4-BE49-F238E27FC236}">
                <a16:creationId xmlns:a16="http://schemas.microsoft.com/office/drawing/2014/main" id="{A7AC0A22-DBDE-40F0-8952-F6705EE7895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838200" y="1257300"/>
            <a:ext cx="10515600" cy="455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1E7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2200">
                <a:solidFill>
                  <a:schemeClr val="tx1">
                    <a:tint val="60000"/>
                  </a:schemeClr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B562615-7B03-4913-9403-C32F2C1161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6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E9478C55-B794-482E-8508-58C1E882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Three Columns / 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">
            <a:extLst xmlns:a="http://schemas.openxmlformats.org/drawingml/2006/main">
              <a:ext uri="{FF2B5EF4-FFF2-40B4-BE49-F238E27FC236}">
                <a16:creationId xmlns:a16="http://schemas.microsoft.com/office/drawing/2014/main" id="{C33A3A1A-A9DC-4FEC-BA0E-18D544CD91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1950"/>
            <a:ext cx="9525000" cy="6858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9B4A7A8-AC27-4DEA-B93F-885A62F7A7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Comparison panel 1">
            <a:extLst xmlns:a="http://schemas.openxmlformats.org/drawingml/2006/main">
              <a:ext uri="{FF2B5EF4-FFF2-40B4-BE49-F238E27FC236}">
                <a16:creationId xmlns:a16="http://schemas.microsoft.com/office/drawing/2014/main" id="{2896FAD3-11B9-4AB2-94F7-127D6526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3352800" cy="36385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</p:sp>
      <p:sp>
        <p:nvSpPr>
          <p:cNvPr id="4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33180FA-F1C1-43F7-A022-B9CD36D601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619250"/>
            <a:ext cx="3352800" cy="3638550"/>
          </a:xfrm>
        </p:spPr>
        <p:txBody>
          <a:bodyPr xmlns:a="http://schemas.openxmlformats.org/drawingml/2006/main" lIns="190500" tIns="171450" rIns="190500" bIns="171450" anchor="t"/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10" name="Comparison panel 2">
            <a:extLst xmlns:a="http://schemas.openxmlformats.org/drawingml/2006/main">
              <a:ext uri="{FF2B5EF4-FFF2-40B4-BE49-F238E27FC236}">
                <a16:creationId xmlns:a16="http://schemas.microsoft.com/office/drawing/2014/main" id="{D8DE8C12-C349-4682-B617-8B456A23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19250"/>
            <a:ext cx="3352800" cy="36385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34F4786-B17C-4D3E-8352-4D9DFE6567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19600" y="1619250"/>
            <a:ext cx="3352800" cy="3638550"/>
          </a:xfrm>
        </p:spPr>
        <p:txBody>
          <a:bodyPr xmlns:a="http://schemas.openxmlformats.org/drawingml/2006/main" lIns="190500" tIns="171450" rIns="190500" bIns="171450" anchor="t"/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6" name="Content panel 3">
            <a:extLst xmlns:a="http://schemas.openxmlformats.org/drawingml/2006/main">
              <a:ext uri="{FF2B5EF4-FFF2-40B4-BE49-F238E27FC236}">
                <a16:creationId xmlns:a16="http://schemas.microsoft.com/office/drawing/2014/main" id="{E79DFF55-2F99-4000-8F44-014A0485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352800" cy="36385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</p:sp>
      <p:sp>
        <p:nvSpPr>
          <p:cNvPr id="7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C25E4EE-7438-4EC1-BFB7-DEFE5B82941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001000" y="1619250"/>
            <a:ext cx="3352800" cy="3638550"/>
          </a:xfrm>
        </p:spPr>
        <p:txBody>
          <a:bodyPr xmlns:a="http://schemas.openxmlformats.org/drawingml/2006/main" lIns="190500" tIns="171450" rIns="190500" bIns="171450" anchor="t"/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8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922EC263-AA0F-4360-93BD-39E0D0E9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Image Le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">
            <a:extLst xmlns:a="http://schemas.openxmlformats.org/drawingml/2006/main">
              <a:ext uri="{FF2B5EF4-FFF2-40B4-BE49-F238E27FC236}">
                <a16:creationId xmlns:a16="http://schemas.microsoft.com/office/drawing/2014/main" id="{9D7F1EC9-5078-4779-A590-6E0F3B035C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1950"/>
            <a:ext cx="9525000" cy="6858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8D55A2F-4D29-405E-A068-DBCAD32190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472AA9DB-4A58-4BEC-9099-B411EA4134F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614107" y="1428750"/>
            <a:ext cx="4563142" cy="4191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picture</a:t>
            </a:r>
          </a:p>
        </p:txBody>
      </p:sp>
      <p:sp>
        <p:nvSpPr>
          <p:cNvPr id="5" name="Content panel 2">
            <a:extLst xmlns:a="http://schemas.openxmlformats.org/drawingml/2006/main">
              <a:ext uri="{FF2B5EF4-FFF2-40B4-BE49-F238E27FC236}">
                <a16:creationId xmlns:a16="http://schemas.microsoft.com/office/drawing/2014/main" id="{7D2011CC-1508-459F-9A8B-8D6E0798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550" y="2115598"/>
            <a:ext cx="4398550" cy="28174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</p:sp>
      <p:sp>
        <p:nvSpPr>
          <p:cNvPr id="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C0456F7-59AD-4282-8587-69B006BCD0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063550" y="2115598"/>
            <a:ext cx="4398550" cy="2817400"/>
          </a:xfrm>
        </p:spPr>
        <p:txBody>
          <a:bodyPr xmlns:a="http://schemas.openxmlformats.org/drawingml/2006/main" lIns="190500" tIns="171450" rIns="190500" bIns="171450" anchor="t"/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7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F68C8A2D-A045-43B3-82EE-3EC1A19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Image 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">
            <a:extLst xmlns:a="http://schemas.openxmlformats.org/drawingml/2006/main">
              <a:ext uri="{FF2B5EF4-FFF2-40B4-BE49-F238E27FC236}">
                <a16:creationId xmlns:a16="http://schemas.microsoft.com/office/drawing/2014/main" id="{2D483271-9E16-4A09-B48C-F5AF30416F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1950"/>
            <a:ext cx="9525000" cy="6858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E45E6E7-DB62-4A08-AF07-D01D5489F8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" name="Image explanation panel">
            <a:extLst xmlns:a="http://schemas.openxmlformats.org/drawingml/2006/main">
              <a:ext uri="{FF2B5EF4-FFF2-40B4-BE49-F238E27FC236}">
                <a16:creationId xmlns:a16="http://schemas.microsoft.com/office/drawing/2014/main" id="{3E456DC3-FC21-4B97-BC0A-D255C5A5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01" y="2115598"/>
            <a:ext cx="4398550" cy="28174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</p:sp>
      <p:sp>
        <p:nvSpPr>
          <p:cNvPr id="4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F05F30EE-2393-4322-851C-2FF75A0858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9901" y="2115598"/>
            <a:ext cx="4398550" cy="2817400"/>
          </a:xfrm>
        </p:spPr>
        <p:txBody>
          <a:bodyPr xmlns:a="http://schemas.openxmlformats.org/drawingml/2006/main" lIns="190500" tIns="171450" rIns="190500" bIns="171450" anchor="t"/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5" name="Picture panel 2">
            <a:extLst xmlns:a="http://schemas.openxmlformats.org/drawingml/2006/main">
              <a:ext uri="{FF2B5EF4-FFF2-40B4-BE49-F238E27FC236}">
                <a16:creationId xmlns:a16="http://schemas.microsoft.com/office/drawing/2014/main" id="{134A6470-06D9-47A2-83E1-F90E44B3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4752" y="1428750"/>
            <a:ext cx="4563142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</p:sp>
      <p:sp>
        <p:nvSpPr>
          <p:cNvPr id="6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2722097-74C2-4E68-8747-B0D9344F5DD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14752" y="1428750"/>
            <a:ext cx="4563142" cy="4191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add picture</a:t>
            </a:r>
          </a:p>
        </p:txBody>
      </p:sp>
      <p:sp>
        <p:nvSpPr>
          <p:cNvPr id="7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425136EC-85B9-46B9-9B9C-E5BAA05F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Key Figur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">
            <a:extLst xmlns:a="http://schemas.openxmlformats.org/drawingml/2006/main">
              <a:ext uri="{FF2B5EF4-FFF2-40B4-BE49-F238E27FC236}">
                <a16:creationId xmlns:a16="http://schemas.microsoft.com/office/drawing/2014/main" id="{7C94EFF5-A12E-4E29-8E74-6912388DE8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1950"/>
            <a:ext cx="9525000" cy="6858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B0FB011-12CB-4475-B18C-043EB5A4B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Metric panel 1">
            <a:extLst xmlns:a="http://schemas.openxmlformats.org/drawingml/2006/main">
              <a:ext uri="{FF2B5EF4-FFF2-40B4-BE49-F238E27FC236}">
                <a16:creationId xmlns:a16="http://schemas.microsoft.com/office/drawing/2014/main" id="{2FE943A5-C94B-4047-855D-2ED69316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71600"/>
            <a:ext cx="3352800" cy="12001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</p:sp>
      <p:sp>
        <p:nvSpPr>
          <p:cNvPr id="4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8979CC02-91CB-4056-8043-D2FE200938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371600"/>
            <a:ext cx="3352800" cy="1200150"/>
          </a:xfrm>
        </p:spPr>
        <p:txBody>
          <a:bodyPr xmlns:a="http://schemas.openxmlformats.org/drawingml/2006/main" lIns="190500" tIns="171450" rIns="190500" bIns="171450" anchor="ctr"/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t>Key figure</a:t>
            </a:r>
          </a:p>
        </p:txBody>
      </p:sp>
      <p:sp>
        <p:nvSpPr>
          <p:cNvPr id="10" name="Metric panel 2">
            <a:extLst xmlns:a="http://schemas.openxmlformats.org/drawingml/2006/main">
              <a:ext uri="{FF2B5EF4-FFF2-40B4-BE49-F238E27FC236}">
                <a16:creationId xmlns:a16="http://schemas.microsoft.com/office/drawing/2014/main" id="{472E48AC-D775-4BEF-A4A5-30E7E967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71600"/>
            <a:ext cx="3352800" cy="12001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E0C6D1-28C9-4D2D-8B48-65425981929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19600" y="1371600"/>
            <a:ext cx="3352800" cy="1200150"/>
          </a:xfrm>
        </p:spPr>
        <p:txBody>
          <a:bodyPr xmlns:a="http://schemas.openxmlformats.org/drawingml/2006/main" lIns="190500" tIns="171450" rIns="190500" bIns="171450" anchor="ctr"/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t>Key figure</a:t>
            </a:r>
          </a:p>
        </p:txBody>
      </p:sp>
      <p:sp>
        <p:nvSpPr>
          <p:cNvPr id="6" name="Content panel 3">
            <a:extLst xmlns:a="http://schemas.openxmlformats.org/drawingml/2006/main">
              <a:ext uri="{FF2B5EF4-FFF2-40B4-BE49-F238E27FC236}">
                <a16:creationId xmlns:a16="http://schemas.microsoft.com/office/drawing/2014/main" id="{E3D16A00-F704-4BF0-9047-A5F34A61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71600"/>
            <a:ext cx="3352800" cy="12001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</p:sp>
      <p:sp>
        <p:nvSpPr>
          <p:cNvPr id="7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2B6FD00-BB61-4977-819E-F199FBB21F2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001000" y="1371600"/>
            <a:ext cx="3352800" cy="1200150"/>
          </a:xfrm>
        </p:spPr>
        <p:txBody>
          <a:bodyPr xmlns:a="http://schemas.openxmlformats.org/drawingml/2006/main" lIns="190500" tIns="171450" rIns="190500" bIns="171450" anchor="ctr"/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t>Key figure</a:t>
            </a:r>
          </a:p>
        </p:txBody>
      </p:sp>
      <p:sp>
        <p:nvSpPr>
          <p:cNvPr id="11" name="Evidence panel">
            <a:extLst xmlns:a="http://schemas.openxmlformats.org/drawingml/2006/main">
              <a:ext uri="{FF2B5EF4-FFF2-40B4-BE49-F238E27FC236}">
                <a16:creationId xmlns:a16="http://schemas.microsoft.com/office/drawing/2014/main" id="{F4FFA19A-266D-4399-BA0B-167C0EB4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0515600" cy="28194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</p:sp>
      <p:sp>
        <p:nvSpPr>
          <p:cNvPr id="12" name="placeholder_6">
            <a:extLst xmlns:a="http://schemas.openxmlformats.org/drawingml/2006/main">
              <a:ext uri="{FF2B5EF4-FFF2-40B4-BE49-F238E27FC236}">
                <a16:creationId xmlns:a16="http://schemas.microsoft.com/office/drawing/2014/main" id="{3B8937F5-3082-45F9-94A0-F497F81D9F0B}"/>
              </a:ext>
            </a:extLst>
          </p:cNvPr>
          <p:cNvSpPr>
            <a:spLocks xmlns:a="http://schemas.openxmlformats.org/drawingml/2006/main" noGrp="1"/>
          </p:cNvSpPr>
          <p:nvPr>
            <p:ph type="chart" idx="4"/>
          </p:nvPr>
        </p:nvSpPr>
        <p:spPr>
          <a:xfrm xmlns:a="http://schemas.openxmlformats.org/drawingml/2006/main">
            <a:off x="1123950" y="3086100"/>
            <a:ext cx="9944100" cy="224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Click to add chart or key evidence</a:t>
            </a:r>
          </a:p>
        </p:txBody>
      </p:sp>
      <p:sp>
        <p:nvSpPr>
          <p:cNvPr id="8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C78FD780-60CF-42AF-8150-5E1E06A4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Code / Comma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">
            <a:extLst xmlns:a="http://schemas.openxmlformats.org/drawingml/2006/main">
              <a:ext uri="{FF2B5EF4-FFF2-40B4-BE49-F238E27FC236}">
                <a16:creationId xmlns:a16="http://schemas.microsoft.com/office/drawing/2014/main" id="{D71D4B9C-A036-4ACA-BB77-42508E578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1950"/>
            <a:ext cx="9525000" cy="6858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D98FF72-8A23-42C8-A134-78CCC11947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Content panel 1">
            <a:extLst xmlns:a="http://schemas.openxmlformats.org/drawingml/2006/main">
              <a:ext uri="{FF2B5EF4-FFF2-40B4-BE49-F238E27FC236}">
                <a16:creationId xmlns:a16="http://schemas.microsoft.com/office/drawing/2014/main" id="{CC013E72-9976-4AC2-A3BF-9414B4D6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105156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48536D"/>
            </a:solidFill>
            <a:prstDash val="solid"/>
          </a:ln>
        </p:spPr>
      </p:sp>
      <p:sp>
        <p:nvSpPr>
          <p:cNvPr id="5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29053639-32F6-413A-81A7-38C632E3EB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428750"/>
            <a:ext cx="10515600" cy="4191000"/>
          </a:xfrm>
        </p:spPr>
        <p:txBody>
          <a:bodyPr xmlns:a="http://schemas.openxmlformats.org/drawingml/2006/main" lIns="266700" tIns="247650" rIns="266700" bIns="247650" anchor="t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Paste code or a command here</a:t>
            </a:r>
          </a:p>
        </p:txBody>
      </p:sp>
      <p:sp>
        <p:nvSpPr>
          <p:cNvPr id="6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91194A3A-7FC6-4DB9-A5CD-26B00B58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Code + Explan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">
            <a:extLst xmlns:a="http://schemas.openxmlformats.org/drawingml/2006/main">
              <a:ext uri="{FF2B5EF4-FFF2-40B4-BE49-F238E27FC236}">
                <a16:creationId xmlns:a16="http://schemas.microsoft.com/office/drawing/2014/main" id="{4D163290-2818-43E6-A662-9A35070CD3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1950"/>
            <a:ext cx="9525000" cy="6858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9BE75ED-38B6-4444-9C52-94309E2E3B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" name="Code panel">
            <a:extLst xmlns:a="http://schemas.openxmlformats.org/drawingml/2006/main">
              <a:ext uri="{FF2B5EF4-FFF2-40B4-BE49-F238E27FC236}">
                <a16:creationId xmlns:a16="http://schemas.microsoft.com/office/drawing/2014/main" id="{2267A199-8232-4A9A-964B-3842591E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6153150" cy="41910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</p:sp>
      <p:sp>
        <p:nvSpPr>
          <p:cNvPr id="4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C5DDB067-D827-440A-8E83-1913EA6B07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428750"/>
            <a:ext cx="6153150" cy="4191000"/>
          </a:xfrm>
        </p:spPr>
        <p:txBody>
          <a:bodyPr xmlns:a="http://schemas.openxmlformats.org/drawingml/2006/main" lIns="190500" tIns="171450" rIns="190500" bIns="171450" anchor="t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t>Paste code here</a:t>
            </a:r>
          </a:p>
        </p:txBody>
      </p:sp>
      <p:sp>
        <p:nvSpPr>
          <p:cNvPr id="5" name="Content panel 2">
            <a:extLst xmlns:a="http://schemas.openxmlformats.org/drawingml/2006/main">
              <a:ext uri="{FF2B5EF4-FFF2-40B4-BE49-F238E27FC236}">
                <a16:creationId xmlns:a16="http://schemas.microsoft.com/office/drawing/2014/main" id="{5B33C448-78C7-449D-851D-03D14D61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28750"/>
            <a:ext cx="4133850" cy="41910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48536D"/>
            </a:solidFill>
            <a:prstDash val="solid"/>
          </a:ln>
        </p:spPr>
      </p:sp>
      <p:sp>
        <p:nvSpPr>
          <p:cNvPr id="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D56BC92-D01A-4B9E-B75C-7B8C303BF4B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19950" y="1428750"/>
            <a:ext cx="4133850" cy="4191000"/>
          </a:xfrm>
        </p:spPr>
        <p:txBody>
          <a:bodyPr xmlns:a="http://schemas.openxmlformats.org/drawingml/2006/main" lIns="247650" tIns="209550" rIns="247650" bIns="209550" anchor="t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Explain what matters</a:t>
            </a:r>
          </a:p>
        </p:txBody>
      </p:sp>
      <p:sp>
        <p:nvSpPr>
          <p:cNvPr id="7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D2898F6C-EC88-404B-A85A-732E57F8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Closing /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">
            <a:extLst xmlns:a="http://schemas.openxmlformats.org/drawingml/2006/main">
              <a:ext uri="{FF2B5EF4-FFF2-40B4-BE49-F238E27FC236}">
                <a16:creationId xmlns:a16="http://schemas.microsoft.com/office/drawing/2014/main" id="{EE608FFB-3F47-4C84-A68C-F3160FE4CF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09750" y="2381250"/>
            <a:ext cx="8572500" cy="952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ubtitle Placeholder">
            <a:extLst xmlns:a="http://schemas.openxmlformats.org/drawingml/2006/main">
              <a:ext uri="{FF2B5EF4-FFF2-40B4-BE49-F238E27FC236}">
                <a16:creationId xmlns:a16="http://schemas.microsoft.com/office/drawing/2014/main" id="{44ADC0E7-F402-458D-9D07-D113DA417D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81250" y="3524250"/>
            <a:ext cx="7429500" cy="7620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Contact or next step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AE97534-3B68-465D-B918-7D768D1146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Blank Brande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8727E097-492E-4EA0-9F02-97BEE7E2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4244B10-2239-4020-9B30-5EBFD810F5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Tab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">
            <a:extLst xmlns:a="http://schemas.openxmlformats.org/drawingml/2006/main">
              <a:ext uri="{FF2B5EF4-FFF2-40B4-BE49-F238E27FC236}">
                <a16:creationId xmlns:a16="http://schemas.microsoft.com/office/drawing/2014/main" id="{EF733AD4-02BC-4223-82D0-97F842FBBB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1950"/>
            <a:ext cx="9525000" cy="6858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Table panel">
            <a:extLst xmlns:a="http://schemas.openxmlformats.org/drawingml/2006/main">
              <a:ext uri="{FF2B5EF4-FFF2-40B4-BE49-F238E27FC236}">
                <a16:creationId xmlns:a16="http://schemas.microsoft.com/office/drawing/2014/main" id="{E584E24A-8DAF-4CD2-8A9A-3C81C712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10515600" cy="41910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</p:sp>
      <p:sp>
        <p:nvSpPr>
          <p:cNvPr id="4" name="Table Content Placeholder">
            <a:extLst xmlns:a="http://schemas.openxmlformats.org/drawingml/2006/main">
              <a:ext uri="{FF2B5EF4-FFF2-40B4-BE49-F238E27FC236}">
                <a16:creationId xmlns:a16="http://schemas.microsoft.com/office/drawing/2014/main" id="{D68100DA-7C1E-4D9B-AF3E-0972E4B368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23950" y="1762125"/>
            <a:ext cx="9944100" cy="3143250"/>
          </a:xfrm>
        </p:spPr>
        <p:txBody>
          <a:bodyPr xmlns:a="http://schemas.openxmlformats.org/drawingml/2006/main" lIns="190500" tIns="171450" rIns="190500" bIns="171450" anchor="t"/>
          <a:lstStyle xmlns:a="http://schemas.openxmlformats.org/drawingml/2006/main"/>
          <a:p xmlns:a="http://schemas.openxmlformats.org/drawingml/2006/main"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table</a:t>
            </a:r>
          </a:p>
        </p:txBody>
      </p:sp>
      <p:sp>
        <p:nvSpPr>
          <p:cNvPr id="5" name="Table Caption Placeholder">
            <a:extLst xmlns:a="http://schemas.openxmlformats.org/drawingml/2006/main">
              <a:ext uri="{FF2B5EF4-FFF2-40B4-BE49-F238E27FC236}">
                <a16:creationId xmlns:a16="http://schemas.microsoft.com/office/drawing/2014/main" id="{CC75B18B-3DC1-41D3-937E-08244CB7D1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123950" y="5086350"/>
            <a:ext cx="994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FE1E7"/>
            </a:solidFill>
            <a:prstDash val="solid"/>
          </a:ln>
        </p:spPr>
        <p:txBody>
          <a:bodyPr xmlns:a="http://schemas.openxmlformats.org/drawingml/2006/main" vert="horz" lIns="190500" tIns="171450" rIns="190500" bIns="171450" anchor="t">
            <a:normAutofit/>
          </a:bodyPr>
          <a:lstStyle xmlns:a="http://schemas.openxmlformats.org/drawingml/2006/main">
            <a:lvl1pPr algn="l">
              <a:buChar char="•"/>
              <a:defRPr sz="26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 algn="ctr">
              <a:buNone/>
              <a:defRPr sz="9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Add a concise table note or interpretation</a:t>
            </a:r>
          </a:p>
        </p:txBody>
      </p:sp>
      <p:sp>
        <p:nvSpPr>
          <p:cNvPr id="6" name="Serify footer">
            <a:extLst xmlns:a="http://schemas.openxmlformats.org/drawingml/2006/main">
              <a:ext uri="{FF2B5EF4-FFF2-40B4-BE49-F238E27FC236}">
                <a16:creationId xmlns:a16="http://schemas.microsoft.com/office/drawing/2014/main" id="{475D5017-EA27-4F8A-A924-8E58189A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6719998-640C-42FA-B65E-A15DB1508D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79583592aff64ef4" /><Relationship Type="http://schemas.openxmlformats.org/officeDocument/2006/relationships/image" Target="/ppt/media/image2.png" Id="R342c5402fd36496c" /><Relationship Type="http://schemas.openxmlformats.org/officeDocument/2006/relationships/theme" Target="/ppt/slideMasters/theme/theme2.xml" Id="R2339fb3ca3744158" /><Relationship Type="http://schemas.openxmlformats.org/officeDocument/2006/relationships/slideLayout" Target="/ppt/slideLayouts/slideLayout1.xml" Id="R900a45da43c04975" /><Relationship Type="http://schemas.openxmlformats.org/officeDocument/2006/relationships/slideLayout" Target="/ppt/slideLayouts/slideLayout2.xml" Id="R9b914c0b035b4ec6" /><Relationship Type="http://schemas.openxmlformats.org/officeDocument/2006/relationships/slideLayout" Target="/ppt/slideLayouts/slideLayout3.xml" Id="R0dd3031c81d241b4" /><Relationship Type="http://schemas.openxmlformats.org/officeDocument/2006/relationships/slideLayout" Target="/ppt/slideLayouts/slideLayout4.xml" Id="R73505359da9e4d11" /><Relationship Type="http://schemas.openxmlformats.org/officeDocument/2006/relationships/slideLayout" Target="/ppt/slideLayouts/slideLayout5.xml" Id="Rc9047df9022b4c59" /><Relationship Type="http://schemas.openxmlformats.org/officeDocument/2006/relationships/slideLayout" Target="/ppt/slideLayouts/slideLayout6.xml" Id="R564c9b16797348a2" /><Relationship Type="http://schemas.openxmlformats.org/officeDocument/2006/relationships/slideLayout" Target="/ppt/slideLayouts/slideLayout7.xml" Id="Ra7b3b3814f234183" /><Relationship Type="http://schemas.openxmlformats.org/officeDocument/2006/relationships/slideLayout" Target="/ppt/slideLayouts/slideLayout8.xml" Id="R82e6836b829647bc" /><Relationship Type="http://schemas.openxmlformats.org/officeDocument/2006/relationships/slideLayout" Target="/ppt/slideLayouts/slideLayout9.xml" Id="R874ffe60d7904a96" /><Relationship Type="http://schemas.openxmlformats.org/officeDocument/2006/relationships/slideLayout" Target="/ppt/slideLayouts/slideLayout10.xml" Id="Rb245ae04b4a94274" /><Relationship Type="http://schemas.openxmlformats.org/officeDocument/2006/relationships/slideLayout" Target="/ppt/slideLayouts/slideLayout11.xml" Id="R165ce79eabaf410c" /><Relationship Type="http://schemas.openxmlformats.org/officeDocument/2006/relationships/slideLayout" Target="/ppt/slideLayouts/slideLayout12.xml" Id="R66bdbd9f0f4945e4" /><Relationship Type="http://schemas.openxmlformats.org/officeDocument/2006/relationships/slideLayout" Target="/ppt/slideLayouts/slideLayout13.xml" Id="Re3064e97fa534feb" /><Relationship Type="http://schemas.openxmlformats.org/officeDocument/2006/relationships/slideLayout" Target="/ppt/slideLayouts/slideLayout14.xml" Id="R3282f272eed2471b" /><Relationship Type="http://schemas.openxmlformats.org/officeDocument/2006/relationships/slideLayout" Target="/ppt/slideLayouts/slideLayout15.xml" Id="R2572c46699bb4eb1" /><Relationship Type="http://schemas.openxmlformats.org/officeDocument/2006/relationships/slideLayout" Target="/ppt/slideLayouts/slideLayout16.xml" Id="R9c4bc86504304b6d" /></Relationships>
</file>

<file path=ppt/slideMasters/slideMaster1.xml><?xml version="1.0" encoding="utf-8"?>
<p:sldMaster xmlns:p="http://schemas.openxmlformats.org/presentationml/2006/main">
  <p:cSld name="Serify Master">
    <p:bg>
      <p:bgPr>
        <a:solidFill xmlns:a="http://schemas.openxmlformats.org/drawingml/2006/main">
          <a:srgbClr val="E6E6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Grafik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83592aff64ef4">
            <a:alphaModFix amt="7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008295" cy="6857999"/>
          </a:xfrm>
          <a:prstGeom xmlns:a="http://schemas.openxmlformats.org/drawingml/2006/main" prst="rect">
            <a:avLst/>
          </a:prstGeom>
        </p:spPr>
      </p:pic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8BFABE0-195D-C941-5E85-5C3B85F592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2BF56EF-C63C-95C1-9E97-66C4844FB4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DE2DA7B-B1E7-24C3-2A34-1154C781E2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13" name="Grafik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c5402fd36496c"/>
          <a:stretch xmlns:a="http://schemas.openxmlformats.org/drawingml/2006/main"/>
        </p:blipFill>
        <p:spPr>
          <a:xfrm xmlns:a="http://schemas.openxmlformats.org/drawingml/2006/main">
            <a:off x="11382375" y="193834"/>
            <a:ext cx="400050" cy="39338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0a45da43c04975"/>
    <p:sldLayoutId xmlns:r="http://schemas.openxmlformats.org/officeDocument/2006/relationships" id="2147483650" r:id="R9b914c0b035b4ec6"/>
    <p:sldLayoutId xmlns:r="http://schemas.openxmlformats.org/officeDocument/2006/relationships" id="2147483651" r:id="R0dd3031c81d241b4"/>
    <p:sldLayoutId xmlns:r="http://schemas.openxmlformats.org/officeDocument/2006/relationships" id="2147483652" r:id="R73505359da9e4d11"/>
    <p:sldLayoutId xmlns:r="http://schemas.openxmlformats.org/officeDocument/2006/relationships" id="2147483653" r:id="Rc9047df9022b4c59"/>
    <p:sldLayoutId xmlns:r="http://schemas.openxmlformats.org/officeDocument/2006/relationships" id="2147483654" r:id="R564c9b16797348a2"/>
    <p:sldLayoutId xmlns:r="http://schemas.openxmlformats.org/officeDocument/2006/relationships" id="2147483655" r:id="Ra7b3b3814f234183"/>
    <p:sldLayoutId xmlns:r="http://schemas.openxmlformats.org/officeDocument/2006/relationships" id="2147483656" r:id="R82e6836b829647bc"/>
    <p:sldLayoutId xmlns:r="http://schemas.openxmlformats.org/officeDocument/2006/relationships" id="2147483657" r:id="R874ffe60d7904a96"/>
    <p:sldLayoutId xmlns:r="http://schemas.openxmlformats.org/officeDocument/2006/relationships" id="2147483658" r:id="Rb245ae04b4a94274"/>
    <p:sldLayoutId xmlns:r="http://schemas.openxmlformats.org/officeDocument/2006/relationships" id="2147483659" r:id="R165ce79eabaf410c"/>
    <p:sldLayoutId xmlns:r="http://schemas.openxmlformats.org/officeDocument/2006/relationships" id="2147483660" r:id="R66bdbd9f0f4945e4"/>
    <p:sldLayoutId xmlns:r="http://schemas.openxmlformats.org/officeDocument/2006/relationships" id="2147483661" r:id="Re3064e97fa534feb"/>
    <p:sldLayoutId xmlns:r="http://schemas.openxmlformats.org/officeDocument/2006/relationships" id="2147483662" r:id="R3282f272eed2471b"/>
    <p:sldLayoutId xmlns:r="http://schemas.openxmlformats.org/officeDocument/2006/relationships" id="2147483663" r:id="R2572c46699bb4eb1"/>
    <p:sldLayoutId xmlns:r="http://schemas.openxmlformats.org/officeDocument/2006/relationships" id="2147483664" r:id="R9c4bc86504304b6d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0" i="0" kern="1200">
          <a:solidFill>
            <a:srgbClr val="111111"/>
          </a:solidFill>
          <a:latin typeface="Avenir Next"/>
          <a:ea typeface="Avenir Next"/>
          <a:cs typeface="Avenir Next"/>
        </a:defRPr>
      </a:lvl1pPr>
    </p:titleStyle>
    <p:bodyStyle>
      <a:lvl1pPr xmlns:a="http://schemas.openxmlformats.org/drawingml/2006/main" marL="342900" indent="-228600" algn="l" defTabSz="914400">
        <a:lnSpc>
          <a:spcPct val="115000"/>
        </a:lnSpc>
        <a:spcBef>
          <a:spcPts val="0"/>
        </a:spcBef>
        <a:spcAft>
          <a:spcPts val="1400"/>
        </a:spcAft>
        <a:buFont typeface="Avenir Next"/>
        <a:buChar char="•"/>
        <a:defRPr sz="2800" kern="1200">
          <a:solidFill>
            <a:srgbClr val="111111"/>
          </a:solidFill>
          <a:latin typeface="Avenir Next"/>
          <a:ea typeface="Avenir Next"/>
          <a:cs typeface="Avenir Next"/>
        </a:defRPr>
      </a:lvl1pPr>
      <a:lvl2pPr xmlns:a="http://schemas.openxmlformats.org/drawingml/2006/main" marL="8001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2400" kern="1200">
          <a:solidFill>
            <a:srgbClr val="111111"/>
          </a:solidFill>
          <a:latin typeface="Avenir Next"/>
          <a:ea typeface="Avenir Next"/>
          <a:cs typeface="Avenir Next"/>
        </a:defRPr>
      </a:lvl2pPr>
      <a:lvl3pPr xmlns:a="http://schemas.openxmlformats.org/drawingml/2006/main" marL="12573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2000" kern="1200">
          <a:solidFill>
            <a:srgbClr val="111111"/>
          </a:solidFill>
          <a:latin typeface="Avenir Next"/>
          <a:ea typeface="Avenir Next"/>
          <a:cs typeface="Avenir Next"/>
        </a:defRPr>
      </a:lvl3pPr>
      <a:lvl4pPr xmlns:a="http://schemas.openxmlformats.org/drawingml/2006/main" marL="17145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4pPr>
      <a:lvl5pPr xmlns:a="http://schemas.openxmlformats.org/drawingml/2006/main" marL="21717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5pPr>
      <a:lvl6pPr xmlns:a="http://schemas.openxmlformats.org/drawingml/2006/main" marL="26289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6pPr>
      <a:lvl7pPr xmlns:a="http://schemas.openxmlformats.org/drawingml/2006/main" marL="30861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7pPr>
      <a:lvl8pPr xmlns:a="http://schemas.openxmlformats.org/drawingml/2006/main" marL="35433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8pPr>
      <a:lvl9pPr xmlns:a="http://schemas.openxmlformats.org/drawingml/2006/main" marL="40005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9pPr>
    </p:otherStyle>
  </p:txStyles>
</p:sldMaster>
</file>

<file path=ppt/slideMasters/theme/theme2.xml><?xml version="1.0" encoding="utf-8"?>
<a:theme xmlns:a="http://schemas.openxmlformats.org/drawingml/2006/main" name="Serify">
  <a:themeElements>
    <a:clrScheme name="Serify">
      <a:dk1>
        <a:srgbClr val="111111"/>
      </a:dk1>
      <a:lt1>
        <a:srgbClr val="FFFFFF"/>
      </a:lt1>
      <a:dk2>
        <a:srgbClr val="48536D"/>
      </a:dk2>
      <a:lt2>
        <a:srgbClr val="F5F6F8"/>
      </a:lt2>
      <a:accent1>
        <a:srgbClr val="48536D"/>
      </a:accent1>
      <a:accent2>
        <a:srgbClr val="778198"/>
      </a:accent2>
      <a:accent3>
        <a:srgbClr val="A6ADBC"/>
      </a:accent3>
      <a:accent4>
        <a:srgbClr val="D4D7DE"/>
      </a:accent4>
      <a:accent5>
        <a:srgbClr val="767676"/>
      </a:accent5>
      <a:accent6>
        <a:srgbClr val="B34A3A"/>
      </a:accent6>
      <a:hlink>
        <a:srgbClr val="48536D"/>
      </a:hlink>
      <a:folHlink>
        <a:srgbClr val="767676"/>
      </a:folHlink>
    </a:clrScheme>
    <a:fontScheme name="Serify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erif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6a67694534cca" /><Relationship Type="http://schemas.openxmlformats.org/officeDocument/2006/relationships/image" Target="/ppt/media/image3.png" Id="R59aff307fb4940e6" /><Relationship Type="http://schemas.openxmlformats.org/officeDocument/2006/relationships/notesSlide" Target="/ppt/notesSlides/notesSlide1.xml" Id="R0623bb75876540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f48bfe5f7214e4b" /><Relationship Type="http://schemas.openxmlformats.org/officeDocument/2006/relationships/notesSlide" Target="/ppt/notesSlides/notesSlide2.xml" Id="R09a9cf5f96464b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f4d5fbac7742e7" /><Relationship Type="http://schemas.openxmlformats.org/officeDocument/2006/relationships/notesSlide" Target="/ppt/notesSlides/notesSlide3.xml" Id="Rf776a59b0f5d49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c409f294fe104ea6" /><Relationship Type="http://schemas.openxmlformats.org/officeDocument/2006/relationships/notesSlide" Target="/ppt/notesSlides/notesSlide4.xml" Id="R5d742cc4d8264b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fdf83ec1ace45c5" /><Relationship Type="http://schemas.openxmlformats.org/officeDocument/2006/relationships/image" Target="/ppt/media/image4.png" Id="Rb7b65d9827694971" /><Relationship Type="http://schemas.openxmlformats.org/officeDocument/2006/relationships/notesSlide" Target="/ppt/notesSlides/notesSlide5.xml" Id="R250fdaa47be44c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51324c678bf47f1" /><Relationship Type="http://schemas.openxmlformats.org/officeDocument/2006/relationships/notesSlide" Target="/ppt/notesSlides/notesSlide6.xml" Id="Rc6f8324ed8c14d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6d94cbfabd743c0" /><Relationship Type="http://schemas.openxmlformats.org/officeDocument/2006/relationships/notesSlide" Target="/ppt/notesSlides/notesSlide7.xml" Id="Rf94d4d18ef904f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d88b174dbcc4689" /><Relationship Type="http://schemas.openxmlformats.org/officeDocument/2006/relationships/notesSlide" Target="/ppt/notesSlides/notesSlide8.xml" Id="R8a39626e70354d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243d0fa971d40f8" /><Relationship Type="http://schemas.openxmlformats.org/officeDocument/2006/relationships/notesSlide" Target="/ppt/notesSlides/notesSlide9.xml" Id="Rfe753ba914c144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b5ff5316366a4502" /><Relationship Type="http://schemas.openxmlformats.org/officeDocument/2006/relationships/notesSlide" Target="/ppt/notesSlides/notesSlide10.xml" Id="R735c58100f4b43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8765fee36224019" /><Relationship Type="http://schemas.openxmlformats.org/officeDocument/2006/relationships/notesSlide" Target="/ppt/notesSlides/notesSlide11.xml" Id="Rba5b380a59d240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58a2c2d54304330" /><Relationship Type="http://schemas.openxmlformats.org/officeDocument/2006/relationships/notesSlide" Target="/ppt/notesSlides/notesSlide12.xml" Id="Rc64d2d4213c64c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b2bff64de4b94ef9" /><Relationship Type="http://schemas.openxmlformats.org/officeDocument/2006/relationships/notesSlide" Target="/ppt/notesSlides/notesSlide13.xml" Id="Rdd03c9eb06ed42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663d9164890345f7" /><Relationship Type="http://schemas.openxmlformats.org/officeDocument/2006/relationships/notesSlide" Target="/ppt/notesSlides/notesSlide14.xml" Id="R910d61d4043646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fa8b27d0b34249e3" /><Relationship Type="http://schemas.openxmlformats.org/officeDocument/2006/relationships/notesSlide" Target="/ppt/notesSlides/notesSlide15.xml" Id="R8317eaed45624e0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83a970d897e46c1" /><Relationship Type="http://schemas.openxmlformats.org/officeDocument/2006/relationships/image" Target="/ppt/media/image5.png" Id="R58a53c7b399c4d6e" /><Relationship Type="http://schemas.openxmlformats.org/officeDocument/2006/relationships/notesSlide" Target="/ppt/notesSlides/notesSlide16.xml" Id="R5449f7959f1a43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4ef6cee806c4379" /><Relationship Type="http://schemas.openxmlformats.org/officeDocument/2006/relationships/image" Target="/ppt/media/image6.png" Id="R161c065006d64d91" /><Relationship Type="http://schemas.openxmlformats.org/officeDocument/2006/relationships/notesSlide" Target="/ppt/notesSlides/notesSlide17.xml" Id="R36471d0dfbc3473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e67c202faf7641b0" /><Relationship Type="http://schemas.openxmlformats.org/officeDocument/2006/relationships/notesSlide" Target="/ppt/notesSlides/notesSlide18.xml" Id="Rd4592839597b4cc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a30ad01a934116" /><Relationship Type="http://schemas.openxmlformats.org/officeDocument/2006/relationships/notesSlide" Target="/ppt/notesSlides/notesSlide19.xml" Id="R3cfdd1f955a94bf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15A5EAAA-1099-4EA9-9AA1-864D7F2D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0"/>
            <a:ext cx="104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0" name="Grafik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ff307fb4940e6"/>
          <a:stretch xmlns:a="http://schemas.openxmlformats.org/drawingml/2006/main"/>
        </p:blipFill>
        <p:spPr>
          <a:xfrm xmlns:a="http://schemas.openxmlformats.org/drawingml/2006/main">
            <a:off x="5196373" y="914400"/>
            <a:ext cx="1799254" cy="1809750"/>
          </a:xfrm>
          <a:prstGeom xmlns:a="http://schemas.openxmlformats.org/drawingml/2006/main" prst="rect">
            <a:avLst/>
          </a:prstGeom>
        </p:spPr>
      </p:pic>
      <p:sp>
        <p:nvSpPr>
          <p:cNvPr id="3" name="Cover title">
            <a:extLst xmlns:a="http://schemas.openxmlformats.org/drawingml/2006/main">
              <a:ext uri="{FF2B5EF4-FFF2-40B4-BE49-F238E27FC236}">
                <a16:creationId xmlns:a16="http://schemas.microsoft.com/office/drawing/2014/main" id="{7294FC61-7ADB-49D6-8E35-C04F0FAC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813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Cyberraum im Kontext</a:t>
            </a:r>
          </a:p>
          <a:p xmlns:a="http://schemas.openxmlformats.org/drawingml/2006/main">
            <a:pPr algn="ctr">
              <a:buNone/>
              <a:def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hybrider Bedrohungen</a:t>
            </a:r>
          </a:p>
        </p:txBody>
      </p:sp>
      <p:sp>
        <p:nvSpPr>
          <p:cNvPr id="4" name="Cover subtitle">
            <a:extLst xmlns:a="http://schemas.openxmlformats.org/drawingml/2006/main">
              <a:ext uri="{FF2B5EF4-FFF2-40B4-BE49-F238E27FC236}">
                <a16:creationId xmlns:a16="http://schemas.microsoft.com/office/drawing/2014/main" id="{C9B487F4-4DE2-4832-A69D-9D37D7C1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Slot 0 | Studienstiftung AG Cyberraum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9612CB6-1EAB-48CD-9AA8-48BEA21439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AD75FED6-38D0-DE9C-92C0-6E7FA635581C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13315218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9E23536-4F15-6D02-BD45-CECC6C50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Slot 0: Dieser Einstieg schafft drei Bezugspunkte</a:t>
            </a:r>
          </a:p>
        </p:txBody>
      </p:sp>
      <p:sp>
        <p:nvSpPr>
          <p:cNvPr id="18" name="safety-0">
            <a:extLst xmlns:a="http://schemas.openxmlformats.org/drawingml/2006/main">
              <a:ext uri="{FF2B5EF4-FFF2-40B4-BE49-F238E27FC236}">
                <a16:creationId xmlns:a16="http://schemas.microsoft.com/office/drawing/2014/main" id="{44F4CADF-64EB-B65A-20BB-66C4B3CC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952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11430">
            <a:solidFill>
              <a:srgbClr val="CBD4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afety-number-0-panel">
            <a:extLst xmlns:a="http://schemas.openxmlformats.org/drawingml/2006/main">
              <a:ext uri="{FF2B5EF4-FFF2-40B4-BE49-F238E27FC236}">
                <a16:creationId xmlns:a16="http://schemas.microsoft.com/office/drawing/2014/main" id="{3375FDFC-3BBD-8EE3-4612-14CD32A3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022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385D8A"/>
          </a:solidFill>
          <a:ln xmlns:a="http://schemas.openxmlformats.org/drawingml/2006/main" w="9525">
            <a:solidFill>
              <a:srgbClr val="385D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safety-title-0">
            <a:extLst xmlns:a="http://schemas.openxmlformats.org/drawingml/2006/main">
              <a:ext uri="{FF2B5EF4-FFF2-40B4-BE49-F238E27FC236}">
                <a16:creationId xmlns:a16="http://schemas.microsoft.com/office/drawing/2014/main" id="{BDB1E0A8-37E9-A732-2DF8-6D0FFA6B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954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Begriffe unterscheiden</a:t>
            </a:r>
          </a:p>
        </p:txBody>
      </p:sp>
      <p:sp>
        <p:nvSpPr>
          <p:cNvPr id="21" name="safety-detail-0">
            <a:extLst xmlns:a="http://schemas.openxmlformats.org/drawingml/2006/main">
              <a:ext uri="{FF2B5EF4-FFF2-40B4-BE49-F238E27FC236}">
                <a16:creationId xmlns:a16="http://schemas.microsoft.com/office/drawing/2014/main" id="{1CBC97F4-0F9F-A2F4-A8E4-98DA744B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383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Cyberangriff, Cyberoperation und hybride Bedrohung auseinanderhalten.</a:t>
            </a:r>
          </a:p>
        </p:txBody>
      </p:sp>
      <p:sp>
        <p:nvSpPr>
          <p:cNvPr id="22" name="safety-1">
            <a:extLst xmlns:a="http://schemas.openxmlformats.org/drawingml/2006/main">
              <a:ext uri="{FF2B5EF4-FFF2-40B4-BE49-F238E27FC236}">
                <a16:creationId xmlns:a16="http://schemas.microsoft.com/office/drawing/2014/main" id="{2985912E-4389-06E0-9A54-BE0D663B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952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11430">
            <a:solidFill>
              <a:srgbClr val="CBD4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afety-number-1-panel">
            <a:extLst xmlns:a="http://schemas.openxmlformats.org/drawingml/2006/main">
              <a:ext uri="{FF2B5EF4-FFF2-40B4-BE49-F238E27FC236}">
                <a16:creationId xmlns:a16="http://schemas.microsoft.com/office/drawing/2014/main" id="{8294AD35-B265-3A42-F8F8-1AC21EB6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6227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385D8A"/>
          </a:solidFill>
          <a:ln xmlns:a="http://schemas.openxmlformats.org/drawingml/2006/main" w="9525">
            <a:solidFill>
              <a:srgbClr val="385D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safety-title-1">
            <a:extLst xmlns:a="http://schemas.openxmlformats.org/drawingml/2006/main">
              <a:ext uri="{FF2B5EF4-FFF2-40B4-BE49-F238E27FC236}">
                <a16:creationId xmlns:a16="http://schemas.microsoft.com/office/drawing/2014/main" id="{35E687F2-4464-33B5-65F3-526B03D0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57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Lagebild prüfen</a:t>
            </a:r>
          </a:p>
        </p:txBody>
      </p:sp>
      <p:sp>
        <p:nvSpPr>
          <p:cNvPr id="25" name="safety-detail-1">
            <a:extLst xmlns:a="http://schemas.openxmlformats.org/drawingml/2006/main">
              <a:ext uri="{FF2B5EF4-FFF2-40B4-BE49-F238E27FC236}">
                <a16:creationId xmlns:a16="http://schemas.microsoft.com/office/drawing/2014/main" id="{BCBE5DB8-F100-15EC-EC07-270D13AA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004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Beobachtungen von Annahmen trennen und fehlenden Kontext benennen.</a:t>
            </a:r>
          </a:p>
        </p:txBody>
      </p:sp>
      <p:sp>
        <p:nvSpPr>
          <p:cNvPr id="26" name="safety-2">
            <a:extLst xmlns:a="http://schemas.openxmlformats.org/drawingml/2006/main">
              <a:ext uri="{FF2B5EF4-FFF2-40B4-BE49-F238E27FC236}">
                <a16:creationId xmlns:a16="http://schemas.microsoft.com/office/drawing/2014/main" id="{384B65DB-ACD6-E917-03EC-85922A70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952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11430">
            <a:solidFill>
              <a:srgbClr val="CBD4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afety-number-2-panel">
            <a:extLst xmlns:a="http://schemas.openxmlformats.org/drawingml/2006/main">
              <a:ext uri="{FF2B5EF4-FFF2-40B4-BE49-F238E27FC236}">
                <a16:creationId xmlns:a16="http://schemas.microsoft.com/office/drawing/2014/main" id="{541C5B33-C3CC-BDEA-BADD-9D580FB4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385D8A"/>
          </a:solidFill>
          <a:ln xmlns:a="http://schemas.openxmlformats.org/drawingml/2006/main" w="9525">
            <a:solidFill>
              <a:srgbClr val="385D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safety-title-2">
            <a:extLst xmlns:a="http://schemas.openxmlformats.org/drawingml/2006/main">
              <a:ext uri="{FF2B5EF4-FFF2-40B4-BE49-F238E27FC236}">
                <a16:creationId xmlns:a16="http://schemas.microsoft.com/office/drawing/2014/main" id="{4BED6C65-ABC0-E6F0-5751-CEABCD4A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195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Technik einordnen</a:t>
            </a:r>
          </a:p>
        </p:txBody>
      </p:sp>
      <p:sp>
        <p:nvSpPr>
          <p:cNvPr id="29" name="safety-detail-2">
            <a:extLst xmlns:a="http://schemas.openxmlformats.org/drawingml/2006/main">
              <a:ext uri="{FF2B5EF4-FFF2-40B4-BE49-F238E27FC236}">
                <a16:creationId xmlns:a16="http://schemas.microsoft.com/office/drawing/2014/main" id="{67DAAB1D-1027-1AF3-03D8-1BF35052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624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CTF-Aufgaben als technische Ausschnitte statt als Kampagne verstehen.</a:t>
            </a:r>
          </a:p>
        </p:txBody>
      </p:sp>
      <p:sp>
        <p:nvSpPr>
          <p:cNvPr id="3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2770714-B903-4D4E-8DD2-6884BBDC4F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E2598689-54C9-18A7-3A19-ED76AA08988F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2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4482459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uote card">
            <a:extLst xmlns:a="http://schemas.openxmlformats.org/drawingml/2006/main">
              <a:ext uri="{FF2B5EF4-FFF2-40B4-BE49-F238E27FC236}">
                <a16:creationId xmlns:a16="http://schemas.microsoft.com/office/drawing/2014/main" id="{DF5F723B-BCA2-45E3-9045-5D7F84EB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14500"/>
            <a:ext cx="9144000" cy="2667000"/>
          </a:xfrm>
          <a:prstGeom xmlns:a="http://schemas.openxmlformats.org/drawingml/2006/main" prst="roundRect">
            <a:avLst>
              <a:gd name="adj" fmla="val 5564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CBD4DE"/>
            </a:solidFill>
            <a:prstDash val="solid"/>
          </a:ln>
        </p:spPr>
        <p:txBody>
          <a:bodyPr xmlns:a="http://schemas.openxmlformats.org/drawingml/2006/main" lIns="285750" tIns="247650" rIns="285750" bIns="247650" anchor="ctr"/>
          <a:lstStyle xmlns:a="http://schemas.openxmlformats.org/drawingml/2006/main"/>
          <a:p xmlns:a="http://schemas.openxmlformats.org/drawingml/2006/main">
            <a:pPr marL="12" algn="ctr">
              <a:lnSpc>
                <a:spcPct val="115000"/>
              </a:lnSpc>
              <a:spcAft>
                <a:spcPts val="1600"/>
              </a:spcAft>
              <a:buNone/>
            </a:pPr>
            <a:r>
              <a:rPr sz="17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Wie entsteht operative Cyberfähigkeit aus dem Zusammenspiel von Modell, Agentenschleife, Werkzeugen, Berechtigungen und Aufsicht – und wann wird diese Fähigkeit zum Baustein einer hybriden Kampagne?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FE82F2A-EC4E-449E-8E88-335FCC2659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202359C0-8A7A-196E-DD58-8E6569619F09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3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13956694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A539077-BB48-455A-BDE7-9D1CCA2B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Drei Ebenen beantworten unterschiedliche Fragen</a:t>
            </a:r>
          </a:p>
        </p:txBody>
      </p:sp>
      <p:sp>
        <p:nvSpPr>
          <p:cNvPr id="3" name="Content panel">
            <a:extLst xmlns:a="http://schemas.openxmlformats.org/drawingml/2006/main">
              <a:ext uri="{FF2B5EF4-FFF2-40B4-BE49-F238E27FC236}">
                <a16:creationId xmlns:a16="http://schemas.microsoft.com/office/drawing/2014/main" id="{637A9CE3-8D60-4BD9-8F23-D771F9BE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3352800" cy="3638550"/>
          </a:xfrm>
          <a:prstGeom xmlns:a="http://schemas.openxmlformats.org/drawingml/2006/main" prst="roundRect">
            <a:avLst>
              <a:gd name="adj" fmla="val 3467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CBD4DE"/>
            </a:solidFill>
            <a:prstDash val="solid"/>
          </a:ln>
        </p:spPr>
        <p:txBody>
          <a:bodyPr xmlns:a="http://schemas.openxmlformats.org/drawingml/2006/main" lIns="285750" tIns="247650" rIns="285750" bIns="247650" anchor="ctr"/>
          <a:lstStyle xmlns:a="http://schemas.openxmlformats.org/drawingml/2006/main"/>
          <a:p xmlns:a="http://schemas.openxmlformats.org/drawingml/2006/main"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F9D0932-7D02-4BD0-8758-051DEF01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0784360-3283-469D-B43B-E2F54AB9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Cyberangriff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53F402C-A636-4487-BF09-595BB312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Konkrete technische Handlung gegen ein System, Konto oder Daten. Fokus: Was geschieht technisch?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09D55B5B-BAE3-405D-83CE-7F5B7C70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Content panel">
            <a:extLst xmlns:a="http://schemas.openxmlformats.org/drawingml/2006/main">
              <a:ext uri="{FF2B5EF4-FFF2-40B4-BE49-F238E27FC236}">
                <a16:creationId xmlns:a16="http://schemas.microsoft.com/office/drawing/2014/main" id="{CE7F6494-BEC2-4BF5-9B28-E798793E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19250"/>
            <a:ext cx="3352800" cy="3638550"/>
          </a:xfrm>
          <a:prstGeom xmlns:a="http://schemas.openxmlformats.org/drawingml/2006/main" prst="roundRect">
            <a:avLst>
              <a:gd name="adj" fmla="val 3866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CBD4DE"/>
            </a:solidFill>
            <a:prstDash val="solid"/>
          </a:ln>
        </p:spPr>
        <p:txBody>
          <a:bodyPr xmlns:a="http://schemas.openxmlformats.org/drawingml/2006/main" lIns="285750" tIns="247650" rIns="285750" bIns="247650" anchor="ctr"/>
          <a:lstStyle xmlns:a="http://schemas.openxmlformats.org/drawingml/2006/main"/>
          <a:p xmlns:a="http://schemas.openxmlformats.org/drawingml/2006/main"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959081A-9F58-4ABD-B19F-38CCD51D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47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54986F1-35A4-4F2A-A313-26C230DB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431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Cyberoperation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4185156-C10B-4339-8E86-ED4E386B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861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Mehrere technische Handlungen werden geplant und auf ein gemeinsames operatives Ziel ausgerichtet.</a:t>
            </a:r>
          </a:p>
        </p:txBody>
      </p:sp>
      <p:sp>
        <p:nvSpPr>
          <p:cNvPr id="12" name="Rechteck 11">
            <a:extLst xmlns:a="http://schemas.openxmlformats.org/drawingml/2006/main">
              <a:ext uri="{FF2B5EF4-FFF2-40B4-BE49-F238E27FC236}">
                <a16:creationId xmlns:a16="http://schemas.microsoft.com/office/drawing/2014/main" id="{C450961D-E0A4-49EA-B7B4-AAF6EC48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95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Content panel">
            <a:extLst xmlns:a="http://schemas.openxmlformats.org/drawingml/2006/main">
              <a:ext uri="{FF2B5EF4-FFF2-40B4-BE49-F238E27FC236}">
                <a16:creationId xmlns:a16="http://schemas.microsoft.com/office/drawing/2014/main" id="{F51C5532-120C-44F2-9C57-F945796F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352800" cy="36385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CBD4DE"/>
            </a:solidFill>
            <a:prstDash val="solid"/>
          </a:ln>
        </p:spPr>
        <p:txBody>
          <a:bodyPr xmlns:a="http://schemas.openxmlformats.org/drawingml/2006/main" lIns="285750" tIns="247650" rIns="285750" bIns="247650" anchor="ctr"/>
          <a:lstStyle xmlns:a="http://schemas.openxmlformats.org/drawingml/2006/main"/>
          <a:p xmlns:a="http://schemas.openxmlformats.org/drawingml/2006/main"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E69B731-5112-4A22-A6B5-218A2E47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47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869DED8-6E9F-409D-B213-FE33B06C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431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Hybride Bedrohung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1E08BE6-8DDC-4A2F-AC83-08836A55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861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Technische und nichttechnische Mittel werden koordiniert, um strategische Wirkung zu erzielen.</a:t>
            </a:r>
          </a:p>
        </p:txBody>
      </p:sp>
      <p:sp>
        <p:nvSpPr>
          <p:cNvPr id="17" name="Rechteck 16">
            <a:extLst xmlns:a="http://schemas.openxmlformats.org/drawingml/2006/main">
              <a:ext uri="{FF2B5EF4-FFF2-40B4-BE49-F238E27FC236}">
                <a16:creationId xmlns:a16="http://schemas.microsoft.com/office/drawing/2014/main" id="{A7817C5D-2267-49D4-BDC7-1BB6A40F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95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A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EFD6AB9A-5F9E-5F59-51AB-3C8734130965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4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9E23536-4F15-6D02-BD45-CECC6C50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Ein Cyberangriff ist eine technische Handlung</a:t>
            </a:r>
          </a:p>
        </p:txBody>
      </p:sp>
      <p:sp>
        <p:nvSpPr>
          <p:cNvPr id="18" name="safety-0">
            <a:extLst xmlns:a="http://schemas.openxmlformats.org/drawingml/2006/main">
              <a:ext uri="{FF2B5EF4-FFF2-40B4-BE49-F238E27FC236}">
                <a16:creationId xmlns:a16="http://schemas.microsoft.com/office/drawing/2014/main" id="{44F4CADF-64EB-B65A-20BB-66C4B3CC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952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392"/>
            </a:srgbClr>
          </a:solidFill>
          <a:ln xmlns:a="http://schemas.openxmlformats.org/drawingml/2006/main" w="11430">
            <a:solidFill>
              <a:srgbClr val="DFC4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afety-number-0-panel">
            <a:extLst xmlns:a="http://schemas.openxmlformats.org/drawingml/2006/main">
              <a:ext uri="{FF2B5EF4-FFF2-40B4-BE49-F238E27FC236}">
                <a16:creationId xmlns:a16="http://schemas.microsoft.com/office/drawing/2014/main" id="{3375FDFC-3BBD-8EE3-4612-14CD32A3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022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34E55"/>
          </a:solidFill>
          <a:ln xmlns:a="http://schemas.openxmlformats.org/drawingml/2006/main" w="9525">
            <a:solidFill>
              <a:srgbClr val="934E5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safety-title-0">
            <a:extLst xmlns:a="http://schemas.openxmlformats.org/drawingml/2006/main">
              <a:ext uri="{FF2B5EF4-FFF2-40B4-BE49-F238E27FC236}">
                <a16:creationId xmlns:a16="http://schemas.microsoft.com/office/drawing/2014/main" id="{BDB1E0A8-37E9-A732-2DF8-6D0FFA6B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954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Zielobjekt</a:t>
            </a:r>
          </a:p>
        </p:txBody>
      </p:sp>
      <p:sp>
        <p:nvSpPr>
          <p:cNvPr id="21" name="safety-detail-0">
            <a:extLst xmlns:a="http://schemas.openxmlformats.org/drawingml/2006/main">
              <a:ext uri="{FF2B5EF4-FFF2-40B4-BE49-F238E27FC236}">
                <a16:creationId xmlns:a16="http://schemas.microsoft.com/office/drawing/2014/main" id="{1CBC97F4-0F9F-A2F4-A8E4-98DA744B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383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System, Konto oder Datenbestand, gegen den sich die Handlung richtet.</a:t>
            </a:r>
          </a:p>
        </p:txBody>
      </p:sp>
      <p:sp>
        <p:nvSpPr>
          <p:cNvPr id="22" name="safety-1">
            <a:extLst xmlns:a="http://schemas.openxmlformats.org/drawingml/2006/main">
              <a:ext uri="{FF2B5EF4-FFF2-40B4-BE49-F238E27FC236}">
                <a16:creationId xmlns:a16="http://schemas.microsoft.com/office/drawing/2014/main" id="{2985912E-4389-06E0-9A54-BE0D663B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566547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11430">
            <a:solidFill>
              <a:srgbClr val="CBD4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afety-number-1-panel">
            <a:extLst xmlns:a="http://schemas.openxmlformats.org/drawingml/2006/main">
              <a:ext uri="{FF2B5EF4-FFF2-40B4-BE49-F238E27FC236}">
                <a16:creationId xmlns:a16="http://schemas.microsoft.com/office/drawing/2014/main" id="{8294AD35-B265-3A42-F8F8-1AC21EB6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6227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385D8A"/>
          </a:solidFill>
          <a:ln xmlns:a="http://schemas.openxmlformats.org/drawingml/2006/main" w="9525">
            <a:solidFill>
              <a:srgbClr val="385D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safety-title-1">
            <a:extLst xmlns:a="http://schemas.openxmlformats.org/drawingml/2006/main">
              <a:ext uri="{FF2B5EF4-FFF2-40B4-BE49-F238E27FC236}">
                <a16:creationId xmlns:a16="http://schemas.microsoft.com/office/drawing/2014/main" id="{35E687F2-4464-33B5-65F3-526B03D0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57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Betroffenes Schutzziel</a:t>
            </a:r>
          </a:p>
        </p:txBody>
      </p:sp>
      <p:sp>
        <p:nvSpPr>
          <p:cNvPr id="25" name="safety-detail-1">
            <a:extLst xmlns:a="http://schemas.openxmlformats.org/drawingml/2006/main">
              <a:ext uri="{FF2B5EF4-FFF2-40B4-BE49-F238E27FC236}">
                <a16:creationId xmlns:a16="http://schemas.microsoft.com/office/drawing/2014/main" id="{BCBE5DB8-F100-15EC-EC07-270D13AA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00400"/>
            <a:ext cx="462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Vertraulichkeit, Integrität oder Verfügbarkeit soll verletzt werden.</a:t>
            </a:r>
          </a:p>
        </p:txBody>
      </p:sp>
      <p:sp>
        <p:nvSpPr>
          <p:cNvPr id="26" name="safety-2">
            <a:extLst xmlns:a="http://schemas.openxmlformats.org/drawingml/2006/main">
              <a:ext uri="{FF2B5EF4-FFF2-40B4-BE49-F238E27FC236}">
                <a16:creationId xmlns:a16="http://schemas.microsoft.com/office/drawing/2014/main" id="{384B65DB-ACD6-E917-03EC-85922A70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566547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11430">
            <a:solidFill>
              <a:srgbClr val="CBD4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afety-number-2-panel">
            <a:extLst xmlns:a="http://schemas.openxmlformats.org/drawingml/2006/main">
              <a:ext uri="{FF2B5EF4-FFF2-40B4-BE49-F238E27FC236}">
                <a16:creationId xmlns:a16="http://schemas.microsoft.com/office/drawing/2014/main" id="{541C5B33-C3CC-BDEA-BADD-9D580FB4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385D8A"/>
          </a:solidFill>
          <a:ln xmlns:a="http://schemas.openxmlformats.org/drawingml/2006/main" w="9525">
            <a:solidFill>
              <a:srgbClr val="385D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safety-title-2">
            <a:extLst xmlns:a="http://schemas.openxmlformats.org/drawingml/2006/main">
              <a:ext uri="{FF2B5EF4-FFF2-40B4-BE49-F238E27FC236}">
                <a16:creationId xmlns:a16="http://schemas.microsoft.com/office/drawing/2014/main" id="{4BED6C65-ABC0-E6F0-5751-CEABCD4A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195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Nachweisbare</a:t>
            </a:r>
            <a:r>
              <a:rPr sz="1725" b="1">
                <a:solidFill>
                  <a:srgbClr val="26324A"/>
                </a:solidFill>
              </a:rPr>
              <a:t> </a:t>
            </a:r>
            <a:r>
              <a:rPr sz="1725" b="1">
                <a:solidFill>
                  <a:srgbClr val="26324A"/>
                </a:solidFill>
              </a:rPr>
              <a:t>Spuren</a:t>
            </a:r>
            <a:endParaRPr sz="1725" b="1">
              <a:solidFill>
                <a:srgbClr val="26324A"/>
              </a:solidFill>
            </a:endParaRPr>
          </a:p>
        </p:txBody>
      </p:sp>
      <p:sp>
        <p:nvSpPr>
          <p:cNvPr id="29" name="safety-detail-2">
            <a:extLst xmlns:a="http://schemas.openxmlformats.org/drawingml/2006/main">
              <a:ext uri="{FF2B5EF4-FFF2-40B4-BE49-F238E27FC236}">
                <a16:creationId xmlns:a16="http://schemas.microsoft.com/office/drawing/2014/main" id="{67DAAB1D-1027-1AF3-03D8-1BF35052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62450"/>
            <a:ext cx="462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Anfragen</a:t>
            </a:r>
            <a:r>
              <a:rPr sz="1350" b="0">
                <a:solidFill>
                  <a:srgbClr val="5C667A"/>
                </a:solidFill>
              </a:rPr>
              <a:t>, </a:t>
            </a:r>
            <a:r>
              <a:rPr sz="1350" b="0">
                <a:solidFill>
                  <a:srgbClr val="5C667A"/>
                </a:solidFill>
              </a:rPr>
              <a:t>Antworten</a:t>
            </a:r>
            <a:r>
              <a:rPr sz="1350" b="0">
                <a:solidFill>
                  <a:srgbClr val="5C667A"/>
                </a:solidFill>
              </a:rPr>
              <a:t>, Logs </a:t>
            </a:r>
            <a:r>
              <a:rPr sz="1350" b="0">
                <a:solidFill>
                  <a:srgbClr val="5C667A"/>
                </a:solidFill>
              </a:rPr>
              <a:t>oder</a:t>
            </a:r>
            <a:r>
              <a:rPr sz="1350" b="0">
                <a:solidFill>
                  <a:srgbClr val="5C667A"/>
                </a:solidFill>
              </a:rPr>
              <a:t> </a:t>
            </a:r>
            <a:r>
              <a:rPr sz="1350" b="0">
                <a:solidFill>
                  <a:srgbClr val="5C667A"/>
                </a:solidFill>
              </a:rPr>
              <a:t>Veränderungen</a:t>
            </a:r>
            <a:r>
              <a:rPr sz="1350" b="0">
                <a:solidFill>
                  <a:srgbClr val="5C667A"/>
                </a:solidFill>
              </a:rPr>
              <a:t> </a:t>
            </a:r>
            <a:r>
              <a:rPr sz="1350" b="0">
                <a:solidFill>
                  <a:srgbClr val="5C667A"/>
                </a:solidFill>
              </a:rPr>
              <a:t>zeigen</a:t>
            </a:r>
            <a:r>
              <a:rPr sz="1350" b="0">
                <a:solidFill>
                  <a:srgbClr val="5C667A"/>
                </a:solidFill>
              </a:rPr>
              <a:t> den </a:t>
            </a:r>
            <a:r>
              <a:rPr sz="1350" b="0">
                <a:solidFill>
                  <a:srgbClr val="5C667A"/>
                </a:solidFill>
              </a:rPr>
              <a:t>technischen</a:t>
            </a:r>
            <a:r>
              <a:rPr sz="1350" b="0">
                <a:solidFill>
                  <a:srgbClr val="5C667A"/>
                </a:solidFill>
              </a:rPr>
              <a:t> </a:t>
            </a:r>
            <a:r>
              <a:rPr sz="1350" b="0">
                <a:solidFill>
                  <a:srgbClr val="5C667A"/>
                </a:solidFill>
              </a:rPr>
              <a:t>Effekt</a:t>
            </a:r>
            <a:r>
              <a:rPr sz="1350" b="0">
                <a:solidFill>
                  <a:srgbClr val="5C667A"/>
                </a:solidFill>
              </a:rPr>
              <a:t>.</a:t>
            </a:r>
          </a:p>
        </p:txBody>
      </p:sp>
      <p:sp>
        <p:nvSpPr>
          <p:cNvPr id="3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2770714-B903-4D4E-8DD2-6884BBDC4F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EE5B3003-2C54-13C6-9832-7637201064DE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5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50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65d98276949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32270" y="2762250"/>
            <a:ext cx="5107305" cy="3404870"/>
          </a:xfrm>
          <a:prstGeom xmlns:a="http://schemas.openxmlformats.org/drawingml/2006/main" prst="rect">
            <a:avLst/>
          </a:prstGeom>
        </p:spPr>
      </p:pic>
      <p:sp>
        <p:nvSpPr>
          <p:cNvPr id="32" name="example-callout-panel">
            <a:extLst xmlns:a="http://schemas.openxmlformats.org/drawingml/2006/main">
              <a:ext uri="{FF2B5EF4-FFF2-40B4-BE49-F238E27FC236}">
                <a16:creationId xmlns:a16="http://schemas.microsoft.com/office/drawing/2014/main" id="{8E3CD49D-0E9A-4612-A13C-93910301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566547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8F7"/>
          </a:solidFill>
          <a:ln xmlns:a="http://schemas.openxmlformats.org/drawingml/2006/main" w="11430">
            <a:solidFill>
              <a:srgbClr val="B154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example-callout-label">
            <a:extLst xmlns:a="http://schemas.openxmlformats.org/drawingml/2006/main">
              <a:ext uri="{FF2B5EF4-FFF2-40B4-BE49-F238E27FC236}">
                <a16:creationId xmlns:a16="http://schemas.microsoft.com/office/drawing/2014/main" id="{AC429688-15C4-42CD-874A-BDCAB4AB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1066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A34D55"/>
          </a:solidFill>
          <a:ln xmlns:a="http://schemas.openxmlformats.org/drawingml/2006/main" w="0">
            <a:solidFill>
              <a:srgbClr val="A34D55"/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BEISPIEL</a:t>
            </a:r>
          </a:p>
        </p:txBody>
      </p:sp>
      <p:sp>
        <p:nvSpPr>
          <p:cNvPr id="34" name="example-callout-text">
            <a:extLst xmlns:a="http://schemas.openxmlformats.org/drawingml/2006/main">
              <a:ext uri="{FF2B5EF4-FFF2-40B4-BE49-F238E27FC236}">
                <a16:creationId xmlns:a16="http://schemas.microsoft.com/office/drawing/2014/main" id="{8BE9D50C-BBF8-4F37-8092-D78662BD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24450"/>
            <a:ext cx="4076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Eine Phishing-Mail an Mitarbeitende des Ministeriums, um Zugangsdaten und dadurch Zugriff auf interne Informationen zu erhalten.</a:t>
            </a:r>
          </a:p>
        </p:txBody>
      </p:sp>
    </p:spTree>
    <p:extLst>
      <p:ext uri="{BB962C8B-B14F-4D97-AF65-F5344CB8AC3E}">
        <p14:creationId xmlns:p14="http://schemas.microsoft.com/office/powerpoint/2010/main" val="4482459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9E23536-4F15-6D02-BD45-CECC6C50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Eine Cyberoperation verfolgt ein operatives Ziel</a:t>
            </a:r>
          </a:p>
        </p:txBody>
      </p:sp>
      <p:sp>
        <p:nvSpPr>
          <p:cNvPr id="18" name="safety-0">
            <a:extLst xmlns:a="http://schemas.openxmlformats.org/drawingml/2006/main">
              <a:ext uri="{FF2B5EF4-FFF2-40B4-BE49-F238E27FC236}">
                <a16:creationId xmlns:a16="http://schemas.microsoft.com/office/drawing/2014/main" id="{44F4CADF-64EB-B65A-20BB-66C4B3CC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952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392"/>
            </a:srgbClr>
          </a:solidFill>
          <a:ln xmlns:a="http://schemas.openxmlformats.org/drawingml/2006/main" w="11430">
            <a:solidFill>
              <a:srgbClr val="DFC4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afety-number-0-panel">
            <a:extLst xmlns:a="http://schemas.openxmlformats.org/drawingml/2006/main">
              <a:ext uri="{FF2B5EF4-FFF2-40B4-BE49-F238E27FC236}">
                <a16:creationId xmlns:a16="http://schemas.microsoft.com/office/drawing/2014/main" id="{3375FDFC-3BBD-8EE3-4612-14CD32A3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022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34E55"/>
          </a:solidFill>
          <a:ln xmlns:a="http://schemas.openxmlformats.org/drawingml/2006/main" w="9525">
            <a:solidFill>
              <a:srgbClr val="934E5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safety-title-0">
            <a:extLst xmlns:a="http://schemas.openxmlformats.org/drawingml/2006/main">
              <a:ext uri="{FF2B5EF4-FFF2-40B4-BE49-F238E27FC236}">
                <a16:creationId xmlns:a16="http://schemas.microsoft.com/office/drawing/2014/main" id="{BDB1E0A8-37E9-A732-2DF8-6D0FFA6B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954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Gemeinsames Ziel</a:t>
            </a:r>
          </a:p>
        </p:txBody>
      </p:sp>
      <p:sp>
        <p:nvSpPr>
          <p:cNvPr id="21" name="safety-detail-0">
            <a:extLst xmlns:a="http://schemas.openxmlformats.org/drawingml/2006/main">
              <a:ext uri="{FF2B5EF4-FFF2-40B4-BE49-F238E27FC236}">
                <a16:creationId xmlns:a16="http://schemas.microsoft.com/office/drawing/2014/main" id="{1CBC97F4-0F9F-A2F4-A8E4-98DA744B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383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Einzelne Aktivitäten tragen zum selben übergeordnetem Ergebnis bei.</a:t>
            </a:r>
          </a:p>
        </p:txBody>
      </p:sp>
      <p:sp>
        <p:nvSpPr>
          <p:cNvPr id="22" name="safety-1">
            <a:extLst xmlns:a="http://schemas.openxmlformats.org/drawingml/2006/main">
              <a:ext uri="{FF2B5EF4-FFF2-40B4-BE49-F238E27FC236}">
                <a16:creationId xmlns:a16="http://schemas.microsoft.com/office/drawing/2014/main" id="{2985912E-4389-06E0-9A54-BE0D663B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952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11430">
            <a:solidFill>
              <a:srgbClr val="CBD4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afety-number-1-panel">
            <a:extLst xmlns:a="http://schemas.openxmlformats.org/drawingml/2006/main">
              <a:ext uri="{FF2B5EF4-FFF2-40B4-BE49-F238E27FC236}">
                <a16:creationId xmlns:a16="http://schemas.microsoft.com/office/drawing/2014/main" id="{8294AD35-B265-3A42-F8F8-1AC21EB6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6227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385D8A"/>
          </a:solidFill>
          <a:ln xmlns:a="http://schemas.openxmlformats.org/drawingml/2006/main" w="9525">
            <a:solidFill>
              <a:srgbClr val="385D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safety-title-1">
            <a:extLst xmlns:a="http://schemas.openxmlformats.org/drawingml/2006/main">
              <a:ext uri="{FF2B5EF4-FFF2-40B4-BE49-F238E27FC236}">
                <a16:creationId xmlns:a16="http://schemas.microsoft.com/office/drawing/2014/main" id="{35E687F2-4464-33B5-65F3-526B03D0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57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Geplante Sequenz</a:t>
            </a:r>
          </a:p>
        </p:txBody>
      </p:sp>
      <p:sp>
        <p:nvSpPr>
          <p:cNvPr id="25" name="safety-detail-1">
            <a:extLst xmlns:a="http://schemas.openxmlformats.org/drawingml/2006/main">
              <a:ext uri="{FF2B5EF4-FFF2-40B4-BE49-F238E27FC236}">
                <a16:creationId xmlns:a16="http://schemas.microsoft.com/office/drawing/2014/main" id="{BCBE5DB8-F100-15EC-EC07-270D13AA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004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Zugänge, Privilegien und Informationsgewinn bauen aufeinander auf.</a:t>
            </a:r>
          </a:p>
        </p:txBody>
      </p:sp>
      <p:sp>
        <p:nvSpPr>
          <p:cNvPr id="26" name="safety-2">
            <a:extLst xmlns:a="http://schemas.openxmlformats.org/drawingml/2006/main">
              <a:ext uri="{FF2B5EF4-FFF2-40B4-BE49-F238E27FC236}">
                <a16:creationId xmlns:a16="http://schemas.microsoft.com/office/drawing/2014/main" id="{384B65DB-ACD6-E917-03EC-85922A70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952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11430">
            <a:solidFill>
              <a:srgbClr val="CBD4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afety-number-2-panel">
            <a:extLst xmlns:a="http://schemas.openxmlformats.org/drawingml/2006/main">
              <a:ext uri="{FF2B5EF4-FFF2-40B4-BE49-F238E27FC236}">
                <a16:creationId xmlns:a16="http://schemas.microsoft.com/office/drawing/2014/main" id="{541C5B33-C3CC-BDEA-BADD-9D580FB4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385D8A"/>
          </a:solidFill>
          <a:ln xmlns:a="http://schemas.openxmlformats.org/drawingml/2006/main" w="9525">
            <a:solidFill>
              <a:srgbClr val="385D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safety-title-2">
            <a:extLst xmlns:a="http://schemas.openxmlformats.org/drawingml/2006/main">
              <a:ext uri="{FF2B5EF4-FFF2-40B4-BE49-F238E27FC236}">
                <a16:creationId xmlns:a16="http://schemas.microsoft.com/office/drawing/2014/main" id="{4BED6C65-ABC0-E6F0-5751-CEABCD4A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195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Steuerung und Anpassung</a:t>
            </a:r>
          </a:p>
        </p:txBody>
      </p:sp>
      <p:sp>
        <p:nvSpPr>
          <p:cNvPr id="29" name="safety-detail-2">
            <a:extLst xmlns:a="http://schemas.openxmlformats.org/drawingml/2006/main">
              <a:ext uri="{FF2B5EF4-FFF2-40B4-BE49-F238E27FC236}">
                <a16:creationId xmlns:a16="http://schemas.microsoft.com/office/drawing/2014/main" id="{67DAAB1D-1027-1AF3-03D8-1BF35052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624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Nächste Schritte werden anhand neuer Beobachtungen angepasst.</a:t>
            </a:r>
          </a:p>
        </p:txBody>
      </p:sp>
      <p:sp>
        <p:nvSpPr>
          <p:cNvPr id="3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2770714-B903-4D4E-8DD2-6884BBDC4F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8C630A04-5A25-9E0C-9436-126091DB86B3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6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1" name="example-callout-panel">
            <a:extLst xmlns:a="http://schemas.openxmlformats.org/drawingml/2006/main">
              <a:ext uri="{FF2B5EF4-FFF2-40B4-BE49-F238E27FC236}">
                <a16:creationId xmlns:a16="http://schemas.microsoft.com/office/drawing/2014/main" id="{6C561DDB-C09D-4CD8-9025-2061A33D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9525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8F7"/>
          </a:solidFill>
          <a:ln xmlns:a="http://schemas.openxmlformats.org/drawingml/2006/main" w="11430">
            <a:solidFill>
              <a:srgbClr val="B154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example-callout-label">
            <a:extLst xmlns:a="http://schemas.openxmlformats.org/drawingml/2006/main">
              <a:ext uri="{FF2B5EF4-FFF2-40B4-BE49-F238E27FC236}">
                <a16:creationId xmlns:a16="http://schemas.microsoft.com/office/drawing/2014/main" id="{832834DA-1525-462F-99E8-B754D4E1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1066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A34D55"/>
          </a:solidFill>
          <a:ln xmlns:a="http://schemas.openxmlformats.org/drawingml/2006/main" w="0">
            <a:solidFill>
              <a:srgbClr val="A34D55"/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BEISPIEL</a:t>
            </a:r>
          </a:p>
        </p:txBody>
      </p:sp>
      <p:sp>
        <p:nvSpPr>
          <p:cNvPr id="33" name="example-callout-text">
            <a:extLst xmlns:a="http://schemas.openxmlformats.org/drawingml/2006/main">
              <a:ext uri="{FF2B5EF4-FFF2-40B4-BE49-F238E27FC236}">
                <a16:creationId xmlns:a16="http://schemas.microsoft.com/office/drawing/2014/main" id="{2D71E8B3-0762-41E2-92C7-3426044D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24450"/>
            <a:ext cx="782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1400"/>
              <a:t>Ein staatlicher Akteur dringt über mehrere Monate unbemerkt in die Netze eines Ministeriums ein, um vertrauliche Dokumente auszuspähen.</a:t>
            </a:r>
          </a:p>
        </p:txBody>
      </p:sp>
    </p:spTree>
    <p:extLst>
      <p:ext uri="{BB962C8B-B14F-4D97-AF65-F5344CB8AC3E}">
        <p14:creationId xmlns:p14="http://schemas.microsoft.com/office/powerpoint/2010/main" val="4482459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9E23536-4F15-6D02-BD45-CECC6C50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Hybride Bedrohungen zielen auf strategische Wirkung</a:t>
            </a:r>
          </a:p>
        </p:txBody>
      </p:sp>
      <p:sp>
        <p:nvSpPr>
          <p:cNvPr id="18" name="safety-0">
            <a:extLst xmlns:a="http://schemas.openxmlformats.org/drawingml/2006/main">
              <a:ext uri="{FF2B5EF4-FFF2-40B4-BE49-F238E27FC236}">
                <a16:creationId xmlns:a16="http://schemas.microsoft.com/office/drawing/2014/main" id="{44F4CADF-64EB-B65A-20BB-66C4B3CC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952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392"/>
            </a:srgbClr>
          </a:solidFill>
          <a:ln xmlns:a="http://schemas.openxmlformats.org/drawingml/2006/main" w="11430">
            <a:solidFill>
              <a:srgbClr val="DFC4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afety-number-0-panel">
            <a:extLst xmlns:a="http://schemas.openxmlformats.org/drawingml/2006/main">
              <a:ext uri="{FF2B5EF4-FFF2-40B4-BE49-F238E27FC236}">
                <a16:creationId xmlns:a16="http://schemas.microsoft.com/office/drawing/2014/main" id="{3375FDFC-3BBD-8EE3-4612-14CD32A3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022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34E55"/>
          </a:solidFill>
          <a:ln xmlns:a="http://schemas.openxmlformats.org/drawingml/2006/main" w="9525">
            <a:solidFill>
              <a:srgbClr val="934E5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safety-title-0">
            <a:extLst xmlns:a="http://schemas.openxmlformats.org/drawingml/2006/main">
              <a:ext uri="{FF2B5EF4-FFF2-40B4-BE49-F238E27FC236}">
                <a16:creationId xmlns:a16="http://schemas.microsoft.com/office/drawing/2014/main" id="{BDB1E0A8-37E9-A732-2DF8-6D0FFA6B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954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Strategisches Ziel</a:t>
            </a:r>
          </a:p>
        </p:txBody>
      </p:sp>
      <p:sp>
        <p:nvSpPr>
          <p:cNvPr id="21" name="safety-detail-0">
            <a:extLst xmlns:a="http://schemas.openxmlformats.org/drawingml/2006/main">
              <a:ext uri="{FF2B5EF4-FFF2-40B4-BE49-F238E27FC236}">
                <a16:creationId xmlns:a16="http://schemas.microsoft.com/office/drawing/2014/main" id="{1CBC97F4-0F9F-A2F4-A8E4-98DA744B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383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Ziel ist eine politische oder gesellschaftliche Wirkung.</a:t>
            </a:r>
          </a:p>
        </p:txBody>
      </p:sp>
      <p:sp>
        <p:nvSpPr>
          <p:cNvPr id="22" name="safety-1">
            <a:extLst xmlns:a="http://schemas.openxmlformats.org/drawingml/2006/main">
              <a:ext uri="{FF2B5EF4-FFF2-40B4-BE49-F238E27FC236}">
                <a16:creationId xmlns:a16="http://schemas.microsoft.com/office/drawing/2014/main" id="{2985912E-4389-06E0-9A54-BE0D663B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952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11430">
            <a:solidFill>
              <a:srgbClr val="CBD4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afety-number-1-panel">
            <a:extLst xmlns:a="http://schemas.openxmlformats.org/drawingml/2006/main">
              <a:ext uri="{FF2B5EF4-FFF2-40B4-BE49-F238E27FC236}">
                <a16:creationId xmlns:a16="http://schemas.microsoft.com/office/drawing/2014/main" id="{8294AD35-B265-3A42-F8F8-1AC21EB6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6227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385D8A"/>
          </a:solidFill>
          <a:ln xmlns:a="http://schemas.openxmlformats.org/drawingml/2006/main" w="9525">
            <a:solidFill>
              <a:srgbClr val="385D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safety-title-1">
            <a:extLst xmlns:a="http://schemas.openxmlformats.org/drawingml/2006/main">
              <a:ext uri="{FF2B5EF4-FFF2-40B4-BE49-F238E27FC236}">
                <a16:creationId xmlns:a16="http://schemas.microsoft.com/office/drawing/2014/main" id="{35E687F2-4464-33B5-65F3-526B03D0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57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Koordinierte Mittel</a:t>
            </a:r>
          </a:p>
        </p:txBody>
      </p:sp>
      <p:sp>
        <p:nvSpPr>
          <p:cNvPr id="25" name="safety-detail-1">
            <a:extLst xmlns:a="http://schemas.openxmlformats.org/drawingml/2006/main">
              <a:ext uri="{FF2B5EF4-FFF2-40B4-BE49-F238E27FC236}">
                <a16:creationId xmlns:a16="http://schemas.microsoft.com/office/drawing/2014/main" id="{BCBE5DB8-F100-15EC-EC07-270D13AA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004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Technische und nichttechnische Mittel werden erkennbar koordiniert.</a:t>
            </a:r>
          </a:p>
        </p:txBody>
      </p:sp>
      <p:sp>
        <p:nvSpPr>
          <p:cNvPr id="26" name="safety-2">
            <a:extLst xmlns:a="http://schemas.openxmlformats.org/drawingml/2006/main">
              <a:ext uri="{FF2B5EF4-FFF2-40B4-BE49-F238E27FC236}">
                <a16:creationId xmlns:a16="http://schemas.microsoft.com/office/drawing/2014/main" id="{384B65DB-ACD6-E917-03EC-85922A70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952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11430">
            <a:solidFill>
              <a:srgbClr val="CBD4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afety-number-2-panel">
            <a:extLst xmlns:a="http://schemas.openxmlformats.org/drawingml/2006/main">
              <a:ext uri="{FF2B5EF4-FFF2-40B4-BE49-F238E27FC236}">
                <a16:creationId xmlns:a16="http://schemas.microsoft.com/office/drawing/2014/main" id="{541C5B33-C3CC-BDEA-BADD-9D580FB4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385D8A"/>
          </a:solidFill>
          <a:ln xmlns:a="http://schemas.openxmlformats.org/drawingml/2006/main" w="9525">
            <a:solidFill>
              <a:srgbClr val="385D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safety-title-2">
            <a:extLst xmlns:a="http://schemas.openxmlformats.org/drawingml/2006/main">
              <a:ext uri="{FF2B5EF4-FFF2-40B4-BE49-F238E27FC236}">
                <a16:creationId xmlns:a16="http://schemas.microsoft.com/office/drawing/2014/main" id="{4BED6C65-ABC0-E6F0-5751-CEABCD4A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195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Zielgruppen</a:t>
            </a:r>
          </a:p>
        </p:txBody>
      </p:sp>
      <p:sp>
        <p:nvSpPr>
          <p:cNvPr id="29" name="safety-detail-2">
            <a:extLst xmlns:a="http://schemas.openxmlformats.org/drawingml/2006/main">
              <a:ext uri="{FF2B5EF4-FFF2-40B4-BE49-F238E27FC236}">
                <a16:creationId xmlns:a16="http://schemas.microsoft.com/office/drawing/2014/main" id="{67DAAB1D-1027-1AF3-03D8-1BF35052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624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Maßnahmen adressieren Entscheider, Organisationen oder Öffentlichkeiten.</a:t>
            </a:r>
          </a:p>
        </p:txBody>
      </p:sp>
      <p:sp>
        <p:nvSpPr>
          <p:cNvPr id="3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2770714-B903-4D4E-8DD2-6884BBDC4F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D3D7D1C8-AE23-AA48-DF65-C742588DBE47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7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1" name="example-callout-panel">
            <a:extLst xmlns:a="http://schemas.openxmlformats.org/drawingml/2006/main">
              <a:ext uri="{FF2B5EF4-FFF2-40B4-BE49-F238E27FC236}">
                <a16:creationId xmlns:a16="http://schemas.microsoft.com/office/drawing/2014/main" id="{5FF68085-73FA-406F-80B7-CADCF83D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9525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8F7"/>
          </a:solidFill>
          <a:ln xmlns:a="http://schemas.openxmlformats.org/drawingml/2006/main" w="11430">
            <a:solidFill>
              <a:srgbClr val="B154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example-callout-label">
            <a:extLst xmlns:a="http://schemas.openxmlformats.org/drawingml/2006/main">
              <a:ext uri="{FF2B5EF4-FFF2-40B4-BE49-F238E27FC236}">
                <a16:creationId xmlns:a16="http://schemas.microsoft.com/office/drawing/2014/main" id="{6D16EE78-9F68-4A36-924F-638C378B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1066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A34D55"/>
          </a:solidFill>
          <a:ln xmlns:a="http://schemas.openxmlformats.org/drawingml/2006/main" w="0">
            <a:solidFill>
              <a:srgbClr val="A34D55"/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BEISPIEL</a:t>
            </a:r>
          </a:p>
        </p:txBody>
      </p:sp>
      <p:sp>
        <p:nvSpPr>
          <p:cNvPr id="33" name="example-callout-text">
            <a:extLst xmlns:a="http://schemas.openxmlformats.org/drawingml/2006/main">
              <a:ext uri="{FF2B5EF4-FFF2-40B4-BE49-F238E27FC236}">
                <a16:creationId xmlns:a16="http://schemas.microsoft.com/office/drawing/2014/main" id="{1CB329FA-00B0-4A01-8C92-F423690A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24450"/>
            <a:ext cx="782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/>
              <a:t>Ein Akteur verbindet Cyberangriffe auf ein Ministerium mit der gezielten Veröffentlichung gestohlener oder manipulierter Informationen, um die öffentliche Meinung und letztlich den Ausgang einer Wahl zu beeinflussen.</a:t>
            </a:r>
          </a:p>
        </p:txBody>
      </p:sp>
    </p:spTree>
    <p:extLst>
      <p:ext uri="{BB962C8B-B14F-4D97-AF65-F5344CB8AC3E}">
        <p14:creationId xmlns:p14="http://schemas.microsoft.com/office/powerpoint/2010/main" val="44824595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9E23536-4F15-6D02-BD45-CECC6C50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Drei Fragen verbinden Technik, Ziel und Wirkung</a:t>
            </a:r>
          </a:p>
        </p:txBody>
      </p:sp>
      <p:sp>
        <p:nvSpPr>
          <p:cNvPr id="18" name="safety-0">
            <a:extLst xmlns:a="http://schemas.openxmlformats.org/drawingml/2006/main">
              <a:ext uri="{FF2B5EF4-FFF2-40B4-BE49-F238E27FC236}">
                <a16:creationId xmlns:a16="http://schemas.microsoft.com/office/drawing/2014/main" id="{44F4CADF-64EB-B65A-20BB-66C4B3CC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952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392"/>
            </a:srgbClr>
          </a:solidFill>
          <a:ln xmlns:a="http://schemas.openxmlformats.org/drawingml/2006/main" w="11430">
            <a:solidFill>
              <a:srgbClr val="DFC4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afety-number-0-panel">
            <a:extLst xmlns:a="http://schemas.openxmlformats.org/drawingml/2006/main">
              <a:ext uri="{FF2B5EF4-FFF2-40B4-BE49-F238E27FC236}">
                <a16:creationId xmlns:a16="http://schemas.microsoft.com/office/drawing/2014/main" id="{3375FDFC-3BBD-8EE3-4612-14CD32A3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022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34E55"/>
          </a:solidFill>
          <a:ln xmlns:a="http://schemas.openxmlformats.org/drawingml/2006/main" w="9525">
            <a:solidFill>
              <a:srgbClr val="934E5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safety-title-0">
            <a:extLst xmlns:a="http://schemas.openxmlformats.org/drawingml/2006/main">
              <a:ext uri="{FF2B5EF4-FFF2-40B4-BE49-F238E27FC236}">
                <a16:creationId xmlns:a16="http://schemas.microsoft.com/office/drawing/2014/main" id="{BDB1E0A8-37E9-A732-2DF8-6D0FFA6B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954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Was ist nachweisbar?</a:t>
            </a:r>
          </a:p>
        </p:txBody>
      </p:sp>
      <p:sp>
        <p:nvSpPr>
          <p:cNvPr id="21" name="safety-detail-0">
            <a:extLst xmlns:a="http://schemas.openxmlformats.org/drawingml/2006/main">
              <a:ext uri="{FF2B5EF4-FFF2-40B4-BE49-F238E27FC236}">
                <a16:creationId xmlns:a16="http://schemas.microsoft.com/office/drawing/2014/main" id="{1CBC97F4-0F9F-A2F4-A8E4-98DA744B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383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Betroffene Systeme, Daten, Konten und Veränderungen benennen.</a:t>
            </a:r>
          </a:p>
        </p:txBody>
      </p:sp>
      <p:sp>
        <p:nvSpPr>
          <p:cNvPr id="22" name="safety-1">
            <a:extLst xmlns:a="http://schemas.openxmlformats.org/drawingml/2006/main">
              <a:ext uri="{FF2B5EF4-FFF2-40B4-BE49-F238E27FC236}">
                <a16:creationId xmlns:a16="http://schemas.microsoft.com/office/drawing/2014/main" id="{2985912E-4389-06E0-9A54-BE0D663B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952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11430">
            <a:solidFill>
              <a:srgbClr val="CBD4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afety-number-1-panel">
            <a:extLst xmlns:a="http://schemas.openxmlformats.org/drawingml/2006/main">
              <a:ext uri="{FF2B5EF4-FFF2-40B4-BE49-F238E27FC236}">
                <a16:creationId xmlns:a16="http://schemas.microsoft.com/office/drawing/2014/main" id="{8294AD35-B265-3A42-F8F8-1AC21EB6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6227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385D8A"/>
          </a:solidFill>
          <a:ln xmlns:a="http://schemas.openxmlformats.org/drawingml/2006/main" w="9525">
            <a:solidFill>
              <a:srgbClr val="385D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safety-title-1">
            <a:extLst xmlns:a="http://schemas.openxmlformats.org/drawingml/2006/main">
              <a:ext uri="{FF2B5EF4-FFF2-40B4-BE49-F238E27FC236}">
                <a16:creationId xmlns:a16="http://schemas.microsoft.com/office/drawing/2014/main" id="{35E687F2-4464-33B5-65F3-526B03D0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57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Wozu dient die Handlung?</a:t>
            </a:r>
          </a:p>
        </p:txBody>
      </p:sp>
      <p:sp>
        <p:nvSpPr>
          <p:cNvPr id="25" name="safety-detail-1">
            <a:extLst xmlns:a="http://schemas.openxmlformats.org/drawingml/2006/main">
              <a:ext uri="{FF2B5EF4-FFF2-40B4-BE49-F238E27FC236}">
                <a16:creationId xmlns:a16="http://schemas.microsoft.com/office/drawing/2014/main" id="{BCBE5DB8-F100-15EC-EC07-270D13AA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004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Operative Funktion und Verbindung zu weiteren Aktivitäten prüfen.</a:t>
            </a:r>
          </a:p>
        </p:txBody>
      </p:sp>
      <p:sp>
        <p:nvSpPr>
          <p:cNvPr id="26" name="safety-2">
            <a:extLst xmlns:a="http://schemas.openxmlformats.org/drawingml/2006/main">
              <a:ext uri="{FF2B5EF4-FFF2-40B4-BE49-F238E27FC236}">
                <a16:creationId xmlns:a16="http://schemas.microsoft.com/office/drawing/2014/main" id="{384B65DB-ACD6-E917-03EC-85922A70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952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11430">
            <a:solidFill>
              <a:srgbClr val="CBD4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afety-number-2-panel">
            <a:extLst xmlns:a="http://schemas.openxmlformats.org/drawingml/2006/main">
              <a:ext uri="{FF2B5EF4-FFF2-40B4-BE49-F238E27FC236}">
                <a16:creationId xmlns:a16="http://schemas.microsoft.com/office/drawing/2014/main" id="{541C5B33-C3CC-BDEA-BADD-9D580FB4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385D8A"/>
          </a:solidFill>
          <a:ln xmlns:a="http://schemas.openxmlformats.org/drawingml/2006/main" w="9525">
            <a:solidFill>
              <a:srgbClr val="385D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safety-title-2">
            <a:extLst xmlns:a="http://schemas.openxmlformats.org/drawingml/2006/main">
              <a:ext uri="{FF2B5EF4-FFF2-40B4-BE49-F238E27FC236}">
                <a16:creationId xmlns:a16="http://schemas.microsoft.com/office/drawing/2014/main" id="{4BED6C65-ABC0-E6F0-5751-CEABCD4A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195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Welche Wirkung wird angestrebt?</a:t>
            </a:r>
          </a:p>
        </p:txBody>
      </p:sp>
      <p:sp>
        <p:nvSpPr>
          <p:cNvPr id="29" name="safety-detail-2">
            <a:extLst xmlns:a="http://schemas.openxmlformats.org/drawingml/2006/main">
              <a:ext uri="{FF2B5EF4-FFF2-40B4-BE49-F238E27FC236}">
                <a16:creationId xmlns:a16="http://schemas.microsoft.com/office/drawing/2014/main" id="{67DAAB1D-1027-1AF3-03D8-1BF35052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624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Weitere Mittel, Zielgruppen und strategische Wirkung bestimmen.</a:t>
            </a:r>
          </a:p>
        </p:txBody>
      </p:sp>
      <p:sp>
        <p:nvSpPr>
          <p:cNvPr id="3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2770714-B903-4D4E-8DD2-6884BBDC4F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BA58DA2A-B818-18A9-29C1-B697728D5BCE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8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44824595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0EF1106-2D04-4243-BE3D-ED9903D2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76500"/>
            <a:ext cx="876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33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3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Fiktives Lagebild</a:t>
            </a:r>
          </a:p>
          <a:p xmlns:a="http://schemas.openxmlformats.org/drawingml/2006/main">
            <a:pPr algn="ctr">
              <a:buNone/>
              <a:defRPr sz="33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3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Regionaler Stromnetzbetreiber vor einer Kälteperiode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85D9A89-8A00-4FD3-94F7-FA40E3E3A9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388657AE-30A1-5A7A-6A7F-315D84436430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9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83734369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A539077-BB48-455A-BDE7-9D1CCA2B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Organisation, Netzlage und Zeitdruck</a:t>
            </a:r>
          </a:p>
        </p:txBody>
      </p:sp>
      <p:sp>
        <p:nvSpPr>
          <p:cNvPr id="3" name="Content panel">
            <a:extLst xmlns:a="http://schemas.openxmlformats.org/drawingml/2006/main">
              <a:ext uri="{FF2B5EF4-FFF2-40B4-BE49-F238E27FC236}">
                <a16:creationId xmlns:a16="http://schemas.microsoft.com/office/drawing/2014/main" id="{637A9CE3-8D60-4BD9-8F23-D771F9BE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3352800" cy="3638550"/>
          </a:xfrm>
          <a:prstGeom xmlns:a="http://schemas.openxmlformats.org/drawingml/2006/main" prst="roundRect">
            <a:avLst>
              <a:gd name="adj" fmla="val 3467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CBD4DE"/>
            </a:solidFill>
            <a:prstDash val="solid"/>
          </a:ln>
        </p:spPr>
        <p:txBody>
          <a:bodyPr xmlns:a="http://schemas.openxmlformats.org/drawingml/2006/main" lIns="285750" tIns="247650" rIns="285750" bIns="247650" anchor="ctr"/>
          <a:lstStyle xmlns:a="http://schemas.openxmlformats.org/drawingml/2006/main"/>
          <a:p xmlns:a="http://schemas.openxmlformats.org/drawingml/2006/main"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F9D0932-7D02-4BD0-8758-051DEF01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0784360-3283-469D-B43B-E2F54AB9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Organisation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53F402C-A636-4487-BF09-595BB312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Regionaler Netzbetreiber mit Notfallplan, Unternehmens-IT und Kunden- und Störungsportal.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09D55B5B-BAE3-405D-83CE-7F5B7C70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Content panel">
            <a:extLst xmlns:a="http://schemas.openxmlformats.org/drawingml/2006/main">
              <a:ext uri="{FF2B5EF4-FFF2-40B4-BE49-F238E27FC236}">
                <a16:creationId xmlns:a16="http://schemas.microsoft.com/office/drawing/2014/main" id="{CE7F6494-BEC2-4BF5-9B28-E798793E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19250"/>
            <a:ext cx="3352800" cy="3638550"/>
          </a:xfrm>
          <a:prstGeom xmlns:a="http://schemas.openxmlformats.org/drawingml/2006/main" prst="roundRect">
            <a:avLst>
              <a:gd name="adj" fmla="val 3866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CBD4DE"/>
            </a:solidFill>
            <a:prstDash val="solid"/>
          </a:ln>
        </p:spPr>
        <p:txBody>
          <a:bodyPr xmlns:a="http://schemas.openxmlformats.org/drawingml/2006/main" lIns="285750" tIns="247650" rIns="285750" bIns="247650" anchor="ctr"/>
          <a:lstStyle xmlns:a="http://schemas.openxmlformats.org/drawingml/2006/main"/>
          <a:p xmlns:a="http://schemas.openxmlformats.org/drawingml/2006/main"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959081A-9F58-4ABD-B19F-38CCD51D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47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54986F1-35A4-4F2A-A313-26C230DB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431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Netzlage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4185156-C10B-4339-8E86-ED4E386B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861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Für die kommende Nacht ist eine Kälteperiode angekündigt; die Versorgungslage wird angespannt diskutiert.</a:t>
            </a:r>
          </a:p>
        </p:txBody>
      </p:sp>
      <p:sp>
        <p:nvSpPr>
          <p:cNvPr id="12" name="Rechteck 11">
            <a:extLst xmlns:a="http://schemas.openxmlformats.org/drawingml/2006/main">
              <a:ext uri="{FF2B5EF4-FFF2-40B4-BE49-F238E27FC236}">
                <a16:creationId xmlns:a16="http://schemas.microsoft.com/office/drawing/2014/main" id="{C450961D-E0A4-49EA-B7B4-AAF6EC48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95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Content panel">
            <a:extLst xmlns:a="http://schemas.openxmlformats.org/drawingml/2006/main">
              <a:ext uri="{FF2B5EF4-FFF2-40B4-BE49-F238E27FC236}">
                <a16:creationId xmlns:a16="http://schemas.microsoft.com/office/drawing/2014/main" id="{F51C5532-120C-44F2-9C57-F945796F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352800" cy="36385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CBD4DE"/>
            </a:solidFill>
            <a:prstDash val="solid"/>
          </a:ln>
        </p:spPr>
        <p:txBody>
          <a:bodyPr xmlns:a="http://schemas.openxmlformats.org/drawingml/2006/main" lIns="285750" tIns="247650" rIns="285750" bIns="247650" anchor="ctr"/>
          <a:lstStyle xmlns:a="http://schemas.openxmlformats.org/drawingml/2006/main"/>
          <a:p xmlns:a="http://schemas.openxmlformats.org/drawingml/2006/main"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E69B731-5112-4A22-A6B5-218A2E47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47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869DED8-6E9F-409D-B213-FE33B06C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431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Unklare Lage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1E08BE6-8DDC-4A2F-AC83-08836A55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861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Kurz vorher treten technische Vorfälle, Portalstörungen und Veröffentlichungen auf. </a:t>
            </a:r>
          </a:p>
        </p:txBody>
      </p:sp>
      <p:sp>
        <p:nvSpPr>
          <p:cNvPr id="17" name="Rechteck 16">
            <a:extLst xmlns:a="http://schemas.openxmlformats.org/drawingml/2006/main">
              <a:ext uri="{FF2B5EF4-FFF2-40B4-BE49-F238E27FC236}">
                <a16:creationId xmlns:a16="http://schemas.microsoft.com/office/drawing/2014/main" id="{A7817C5D-2267-49D4-BDC7-1BB6A40F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95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DB7BEEEC-A170-5376-2B6E-CB54687B0CB1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10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9E23536-4F15-6D02-BD45-CECC6C50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Vor der Kälteperiode häufen sich die Vorfälle</a:t>
            </a:r>
          </a:p>
        </p:txBody>
      </p:sp>
      <p:sp>
        <p:nvSpPr>
          <p:cNvPr id="18" name="safety-0">
            <a:extLst xmlns:a="http://schemas.openxmlformats.org/drawingml/2006/main">
              <a:ext uri="{FF2B5EF4-FFF2-40B4-BE49-F238E27FC236}">
                <a16:creationId xmlns:a16="http://schemas.microsoft.com/office/drawing/2014/main" id="{44F4CADF-64EB-B65A-20BB-66C4B3CC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952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11430">
            <a:solidFill>
              <a:srgbClr val="CBD4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afety-number-0-panel">
            <a:extLst xmlns:a="http://schemas.openxmlformats.org/drawingml/2006/main">
              <a:ext uri="{FF2B5EF4-FFF2-40B4-BE49-F238E27FC236}">
                <a16:creationId xmlns:a16="http://schemas.microsoft.com/office/drawing/2014/main" id="{3375FDFC-3BBD-8EE3-4612-14CD32A3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022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385D8A"/>
          </a:solidFill>
          <a:ln xmlns:a="http://schemas.openxmlformats.org/drawingml/2006/main" w="9525">
            <a:solidFill>
              <a:srgbClr val="385D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safety-title-0">
            <a:extLst xmlns:a="http://schemas.openxmlformats.org/drawingml/2006/main">
              <a:ext uri="{FF2B5EF4-FFF2-40B4-BE49-F238E27FC236}">
                <a16:creationId xmlns:a16="http://schemas.microsoft.com/office/drawing/2014/main" id="{BDB1E0A8-37E9-A732-2DF8-6D0FFA6B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954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Notfallplan entwendet</a:t>
            </a:r>
          </a:p>
        </p:txBody>
      </p:sp>
      <p:sp>
        <p:nvSpPr>
          <p:cNvPr id="21" name="safety-detail-0">
            <a:extLst xmlns:a="http://schemas.openxmlformats.org/drawingml/2006/main">
              <a:ext uri="{FF2B5EF4-FFF2-40B4-BE49-F238E27FC236}">
                <a16:creationId xmlns:a16="http://schemas.microsoft.com/office/drawing/2014/main" id="{1CBC97F4-0F9F-A2F4-A8E4-98DA744B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383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Unbefugter Zugriff macht einen internen Notfall- und Lastmanagementplan verfügbar.</a:t>
            </a:r>
          </a:p>
        </p:txBody>
      </p:sp>
      <p:sp>
        <p:nvSpPr>
          <p:cNvPr id="22" name="safety-1">
            <a:extLst xmlns:a="http://schemas.openxmlformats.org/drawingml/2006/main">
              <a:ext uri="{FF2B5EF4-FFF2-40B4-BE49-F238E27FC236}">
                <a16:creationId xmlns:a16="http://schemas.microsoft.com/office/drawing/2014/main" id="{2985912E-4389-06E0-9A54-BE0D663B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952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11430">
            <a:solidFill>
              <a:srgbClr val="CBD4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afety-number-1-panel">
            <a:extLst xmlns:a="http://schemas.openxmlformats.org/drawingml/2006/main">
              <a:ext uri="{FF2B5EF4-FFF2-40B4-BE49-F238E27FC236}">
                <a16:creationId xmlns:a16="http://schemas.microsoft.com/office/drawing/2014/main" id="{8294AD35-B265-3A42-F8F8-1AC21EB6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6227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385D8A"/>
          </a:solidFill>
          <a:ln xmlns:a="http://schemas.openxmlformats.org/drawingml/2006/main" w="9525">
            <a:solidFill>
              <a:srgbClr val="385D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safety-title-1">
            <a:extLst xmlns:a="http://schemas.openxmlformats.org/drawingml/2006/main">
              <a:ext uri="{FF2B5EF4-FFF2-40B4-BE49-F238E27FC236}">
                <a16:creationId xmlns:a16="http://schemas.microsoft.com/office/drawing/2014/main" id="{35E687F2-4464-33B5-65F3-526B03D0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57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Administrationskonto kompromittiert</a:t>
            </a:r>
          </a:p>
        </p:txBody>
      </p:sp>
      <p:sp>
        <p:nvSpPr>
          <p:cNvPr id="25" name="safety-detail-1">
            <a:extLst xmlns:a="http://schemas.openxmlformats.org/drawingml/2006/main">
              <a:ext uri="{FF2B5EF4-FFF2-40B4-BE49-F238E27FC236}">
                <a16:creationId xmlns:a16="http://schemas.microsoft.com/office/drawing/2014/main" id="{BCBE5DB8-F100-15EC-EC07-270D13AA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004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Ein fremder Zugriff erhält Administrationsrechte in der Unternehmens-IT.</a:t>
            </a:r>
          </a:p>
        </p:txBody>
      </p:sp>
      <p:sp>
        <p:nvSpPr>
          <p:cNvPr id="26" name="safety-2">
            <a:extLst xmlns:a="http://schemas.openxmlformats.org/drawingml/2006/main">
              <a:ext uri="{FF2B5EF4-FFF2-40B4-BE49-F238E27FC236}">
                <a16:creationId xmlns:a16="http://schemas.microsoft.com/office/drawing/2014/main" id="{384B65DB-ACD6-E917-03EC-85922A70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952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11430">
            <a:solidFill>
              <a:srgbClr val="CBD4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afety-number-2-panel">
            <a:extLst xmlns:a="http://schemas.openxmlformats.org/drawingml/2006/main">
              <a:ext uri="{FF2B5EF4-FFF2-40B4-BE49-F238E27FC236}">
                <a16:creationId xmlns:a16="http://schemas.microsoft.com/office/drawing/2014/main" id="{541C5B33-C3CC-BDEA-BADD-9D580FB4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385D8A"/>
          </a:solidFill>
          <a:ln xmlns:a="http://schemas.openxmlformats.org/drawingml/2006/main" w="9525">
            <a:solidFill>
              <a:srgbClr val="385D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safety-title-2">
            <a:extLst xmlns:a="http://schemas.openxmlformats.org/drawingml/2006/main">
              <a:ext uri="{FF2B5EF4-FFF2-40B4-BE49-F238E27FC236}">
                <a16:creationId xmlns:a16="http://schemas.microsoft.com/office/drawing/2014/main" id="{4BED6C65-ABC0-E6F0-5751-CEABCD4A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195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Stromabschaltungen</a:t>
            </a:r>
            <a:r>
              <a:rPr sz="1725" b="1">
                <a:solidFill>
                  <a:srgbClr val="26324A"/>
                </a:solidFill>
              </a:rPr>
              <a:t> und </a:t>
            </a:r>
            <a:r>
              <a:rPr sz="1725" b="1">
                <a:solidFill>
                  <a:srgbClr val="26324A"/>
                </a:solidFill>
              </a:rPr>
              <a:t>Portalausfälle</a:t>
            </a:r>
            <a:endParaRPr sz="1725" b="1">
              <a:solidFill>
                <a:srgbClr val="26324A"/>
              </a:solidFill>
            </a:endParaRPr>
          </a:p>
        </p:txBody>
      </p:sp>
      <p:sp>
        <p:nvSpPr>
          <p:cNvPr id="29" name="safety-detail-2">
            <a:extLst xmlns:a="http://schemas.openxmlformats.org/drawingml/2006/main">
              <a:ext uri="{FF2B5EF4-FFF2-40B4-BE49-F238E27FC236}">
                <a16:creationId xmlns:a16="http://schemas.microsoft.com/office/drawing/2014/main" id="{67DAAB1D-1027-1AF3-03D8-1BF35052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62450"/>
            <a:ext cx="798957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Online verbreitete Textpassagen werden als Beleg für bevorstehende Stromabschaltungen präsentiert. Das Kunden- und Störungsportal fällt zeitweise aus.</a:t>
            </a:r>
          </a:p>
        </p:txBody>
      </p:sp>
      <p:sp>
        <p:nvSpPr>
          <p:cNvPr id="3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2770714-B903-4D4E-8DD2-6884BBDC4F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30394428-F1DC-E5F6-DB0C-7DE31F3D8A23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11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4482459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9E23536-4F15-6D02-BD45-CECC6C50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Jetzt seid ihr dran: erste Lageeinschätzung</a:t>
            </a:r>
          </a:p>
        </p:txBody>
      </p:sp>
      <p:sp>
        <p:nvSpPr>
          <p:cNvPr id="18" name="safety-0">
            <a:extLst xmlns:a="http://schemas.openxmlformats.org/drawingml/2006/main">
              <a:ext uri="{FF2B5EF4-FFF2-40B4-BE49-F238E27FC236}">
                <a16:creationId xmlns:a16="http://schemas.microsoft.com/office/drawing/2014/main" id="{44F4CADF-64EB-B65A-20BB-66C4B3CC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952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11430">
            <a:solidFill>
              <a:srgbClr val="CBD4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afety-number-0-panel">
            <a:extLst xmlns:a="http://schemas.openxmlformats.org/drawingml/2006/main">
              <a:ext uri="{FF2B5EF4-FFF2-40B4-BE49-F238E27FC236}">
                <a16:creationId xmlns:a16="http://schemas.microsoft.com/office/drawing/2014/main" id="{3375FDFC-3BBD-8EE3-4612-14CD32A3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022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385D8A"/>
          </a:solidFill>
          <a:ln xmlns:a="http://schemas.openxmlformats.org/drawingml/2006/main" w="9525">
            <a:solidFill>
              <a:srgbClr val="385D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safety-1">
            <a:extLst xmlns:a="http://schemas.openxmlformats.org/drawingml/2006/main">
              <a:ext uri="{FF2B5EF4-FFF2-40B4-BE49-F238E27FC236}">
                <a16:creationId xmlns:a16="http://schemas.microsoft.com/office/drawing/2014/main" id="{2985912E-4389-06E0-9A54-BE0D663B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952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11430">
            <a:solidFill>
              <a:srgbClr val="CBD4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afety-number-1-panel">
            <a:extLst xmlns:a="http://schemas.openxmlformats.org/drawingml/2006/main">
              <a:ext uri="{FF2B5EF4-FFF2-40B4-BE49-F238E27FC236}">
                <a16:creationId xmlns:a16="http://schemas.microsoft.com/office/drawing/2014/main" id="{8294AD35-B265-3A42-F8F8-1AC21EB6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6227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385D8A"/>
          </a:solidFill>
          <a:ln xmlns:a="http://schemas.openxmlformats.org/drawingml/2006/main" w="9525">
            <a:solidFill>
              <a:srgbClr val="385D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safety-title-1">
            <a:extLst xmlns:a="http://schemas.openxmlformats.org/drawingml/2006/main">
              <a:ext uri="{FF2B5EF4-FFF2-40B4-BE49-F238E27FC236}">
                <a16:creationId xmlns:a16="http://schemas.microsoft.com/office/drawing/2014/main" id="{35E687F2-4464-33B5-65F3-526B03D0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74498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Aufgabenblatt</a:t>
            </a:r>
          </a:p>
        </p:txBody>
      </p:sp>
      <p:sp>
        <p:nvSpPr>
          <p:cNvPr id="25" name="safety-detail-1">
            <a:extLst xmlns:a="http://schemas.openxmlformats.org/drawingml/2006/main">
              <a:ext uri="{FF2B5EF4-FFF2-40B4-BE49-F238E27FC236}">
                <a16:creationId xmlns:a16="http://schemas.microsoft.com/office/drawing/2014/main" id="{BCBE5DB8-F100-15EC-EC07-270D13AA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8788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Öffnet im Aufgabenblatt den Abschnitt „Slot 0: Erste Lageeinschätzung“.</a:t>
            </a:r>
          </a:p>
        </p:txBody>
      </p:sp>
      <p:sp>
        <p:nvSpPr>
          <p:cNvPr id="26" name="safety-2">
            <a:extLst xmlns:a="http://schemas.openxmlformats.org/drawingml/2006/main">
              <a:ext uri="{FF2B5EF4-FFF2-40B4-BE49-F238E27FC236}">
                <a16:creationId xmlns:a16="http://schemas.microsoft.com/office/drawing/2014/main" id="{384B65DB-ACD6-E917-03EC-85922A70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952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11430">
            <a:solidFill>
              <a:srgbClr val="CBD4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afety-number-2-panel">
            <a:extLst xmlns:a="http://schemas.openxmlformats.org/drawingml/2006/main">
              <a:ext uri="{FF2B5EF4-FFF2-40B4-BE49-F238E27FC236}">
                <a16:creationId xmlns:a16="http://schemas.microsoft.com/office/drawing/2014/main" id="{541C5B33-C3CC-BDEA-BADD-9D580FB4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385D8A"/>
          </a:solidFill>
          <a:ln xmlns:a="http://schemas.openxmlformats.org/drawingml/2006/main" w="9525">
            <a:solidFill>
              <a:srgbClr val="385D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safety-title-2">
            <a:extLst xmlns:a="http://schemas.openxmlformats.org/drawingml/2006/main">
              <a:ext uri="{FF2B5EF4-FFF2-40B4-BE49-F238E27FC236}">
                <a16:creationId xmlns:a16="http://schemas.microsoft.com/office/drawing/2014/main" id="{4BED6C65-ABC0-E6F0-5751-CEABCD4A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195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Einschätzen</a:t>
            </a:r>
          </a:p>
        </p:txBody>
      </p:sp>
      <p:sp>
        <p:nvSpPr>
          <p:cNvPr id="29" name="safety-detail-2">
            <a:extLst xmlns:a="http://schemas.openxmlformats.org/drawingml/2006/main">
              <a:ext uri="{FF2B5EF4-FFF2-40B4-BE49-F238E27FC236}">
                <a16:creationId xmlns:a16="http://schemas.microsoft.com/office/drawing/2014/main" id="{67DAAB1D-1027-1AF3-03D8-1BF35052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624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Bewertet die Lage und nennt die wichtigste Zusatzinformation.</a:t>
            </a:r>
          </a:p>
        </p:txBody>
      </p:sp>
      <p:sp>
        <p:nvSpPr>
          <p:cNvPr id="3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2770714-B903-4D4E-8DD2-6884BBDC4F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DB16885-0D3F-A391-B669-3211DB3B26E8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12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afety-title-0">
            <a:extLst xmlns:a="http://schemas.openxmlformats.org/drawingml/2006/main">
              <a:ext uri="{FF2B5EF4-FFF2-40B4-BE49-F238E27FC236}">
                <a16:creationId xmlns:a16="http://schemas.microsoft.com/office/drawing/2014/main" id="{BDB1E0A8-37E9-A732-2DF8-6D0FFA6B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7274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Lagebild</a:t>
            </a:r>
          </a:p>
        </p:txBody>
      </p:sp>
      <p:sp>
        <p:nvSpPr>
          <p:cNvPr id="21" name="safety-detail-0">
            <a:extLst xmlns:a="http://schemas.openxmlformats.org/drawingml/2006/main">
              <a:ext uri="{FF2B5EF4-FFF2-40B4-BE49-F238E27FC236}">
                <a16:creationId xmlns:a16="http://schemas.microsoft.com/office/drawing/2014/main" id="{1CBC97F4-0F9F-A2F4-A8E4-98DA744B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1564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Analysieren was beobachtet werden kann und was Interpretation ist.</a:t>
            </a:r>
          </a:p>
        </p:txBody>
      </p:sp>
    </p:spTree>
    <p:extLst>
      <p:ext uri="{BB962C8B-B14F-4D97-AF65-F5344CB8AC3E}">
        <p14:creationId xmlns:p14="http://schemas.microsoft.com/office/powerpoint/2010/main" val="44824595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6488E3A-46E9-4E0A-95D5-2BDE3AE6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Beobachtung und offene Fragen bleiben getrennt</a:t>
            </a:r>
          </a:p>
        </p:txBody>
      </p:sp>
      <p:sp>
        <p:nvSpPr>
          <p:cNvPr id="3" name="Content panel">
            <a:extLst xmlns:a="http://schemas.openxmlformats.org/drawingml/2006/main">
              <a:ext uri="{FF2B5EF4-FFF2-40B4-BE49-F238E27FC236}">
                <a16:creationId xmlns:a16="http://schemas.microsoft.com/office/drawing/2014/main" id="{F4D4CA85-F933-4398-A0DE-0D8C5211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10515600" cy="4191000"/>
          </a:xfrm>
          <a:prstGeom xmlns:a="http://schemas.openxmlformats.org/drawingml/2006/main" prst="roundRect">
            <a:avLst>
              <a:gd name="adj" fmla="val 3253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CBD4DE"/>
            </a:solidFill>
            <a:prstDash val="solid"/>
          </a:ln>
        </p:spPr>
        <p:txBody>
          <a:bodyPr xmlns:a="http://schemas.openxmlformats.org/drawingml/2006/main" lIns="285750" tIns="247650" rIns="285750" bIns="247650" anchor="ctr"/>
          <a:lstStyle xmlns:a="http://schemas.openxmlformats.org/drawingml/2006/main"/>
          <a:p xmlns:a="http://schemas.openxmlformats.org/drawingml/2006/main">
            <a:pPr marL="12">
              <a:lnSpc>
                <a:spcPct val="115000"/>
              </a:lnSpc>
              <a:spcAft>
                <a:spcPts val="1600"/>
              </a:spcAft>
              <a:buNone/>
            </a:pPr>
            <a:endParaRPr sz="1725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graphicFrame>
        <p:nvGraphicFramePr>
          <p:cNvPr id="12" name="Tabelle 10"/>
          <p:cNvGraphicFramePr/>
          <p:nvPr/>
        </p:nvGraphicFramePr>
        <p:xfrm>
          <a:off xmlns:a="http://schemas.openxmlformats.org/drawingml/2006/main" x="1123950" y="1762125"/>
          <a:ext xmlns:a="http://schemas.openxmlformats.org/drawingml/2006/main" cx="9944100" cy="314325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619500"/>
                <a:gridCol w="4038600"/>
              </a:tblGrid>
              <a:tr h="78581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Beobachtung</a:t>
                      </a:r>
                    </a:p>
                  </a:txBody>
                  <a:tcPr marL="91440" marR="91440" marT="45720" marB="45720">
                    <a:solidFill>
                      <a:srgbClr val="4853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Gesicherte Aussage</a:t>
                      </a:r>
                    </a:p>
                  </a:txBody>
                  <a:tcPr marL="91440" marR="91440" marT="45720" marB="45720">
                    <a:solidFill>
                      <a:srgbClr val="4853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Offene Einordnung</a:t>
                      </a:r>
                    </a:p>
                  </a:txBody>
                  <a:tcPr marL="91440" marR="91440" marT="45720" marB="45720">
                    <a:solidFill>
                      <a:srgbClr val="48536D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Notfall- und Lastmanagementplan</a:t>
                      </a:r>
                    </a:p>
                  </a:txBody>
                  <a:tcPr marL="91440" marR="91440" marT="45720" marB="45720">
                    <a:solidFill>
                      <a:srgbClr val="FFFFFF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Dokument wurde entwendet</a:t>
                      </a:r>
                    </a:p>
                  </a:txBody>
                  <a:tcPr marL="91440" marR="91440" marT="45720" marB="45720">
                    <a:solidFill>
                      <a:srgbClr val="FFFFFF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Ist das Dokument tatsächlich echt? </a:t>
                      </a:r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Was </a:t>
                      </a:r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steht</a:t>
                      </a:r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</a:t>
                      </a:r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tatsächlich</a:t>
                      </a:r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</a:t>
                      </a:r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im</a:t>
                      </a:r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Plan?</a:t>
                      </a:r>
                    </a:p>
                  </a:txBody>
                  <a:tcPr marL="91440" marR="91440" marT="45720" marB="45720">
                    <a:solidFill>
                      <a:srgbClr val="FFFFFF">
                        <a:alpha val="28000"/>
                      </a:srgbClr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Administrationskonto</a:t>
                      </a:r>
                    </a:p>
                  </a:txBody>
                  <a:tcPr marL="91440" marR="91440" marT="45720" marB="45720">
                    <a:solidFill>
                      <a:srgbClr val="FFFFFF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Konto</a:t>
                      </a:r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</a:t>
                      </a:r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wurde</a:t>
                      </a:r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</a:t>
                      </a:r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kompromittiert</a:t>
                      </a:r>
                      <a:endParaRPr sz="1350" b="0">
                        <a:solidFill>
                          <a:srgbClr val="111111"/>
                        </a:solidFill>
                        <a:latin typeface="Avenir Next"/>
                        <a:ea typeface="Avenir Next"/>
                        <a:cs typeface="Avenir Next"/>
                      </a:endParaRPr>
                    </a:p>
                  </a:txBody>
                  <a:tcPr marL="91440" marR="91440" marT="45720" marB="45720">
                    <a:solidFill>
                      <a:srgbClr val="FFFFFF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Welche Systeme und Rechte sind betroffen?</a:t>
                      </a:r>
                    </a:p>
                  </a:txBody>
                  <a:tcPr marL="91440" marR="91440" marT="45720" marB="45720">
                    <a:solidFill>
                      <a:srgbClr val="FFFFFF">
                        <a:alpha val="52000"/>
                      </a:srgbClr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Veröffentlichung / Portal</a:t>
                      </a:r>
                    </a:p>
                  </a:txBody>
                  <a:tcPr marL="91440" marR="91440" marT="45720" marB="45720">
                    <a:solidFill>
                      <a:srgbClr val="FFFFFF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Passagen online; Portal zeitweise nicht erreichbar</a:t>
                      </a:r>
                    </a:p>
                  </a:txBody>
                  <a:tcPr marL="91440" marR="91440" marT="45720" marB="45720">
                    <a:solidFill>
                      <a:srgbClr val="FFFFFF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Gehören</a:t>
                      </a:r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</a:t>
                      </a:r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Veröffentlichung</a:t>
                      </a:r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, Dokumententwendung</a:t>
                      </a:r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und </a:t>
                      </a:r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Ausfall</a:t>
                      </a:r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 </a:t>
                      </a:r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zusammen</a:t>
                      </a:r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?</a:t>
                      </a:r>
                    </a:p>
                  </a:txBody>
                  <a:tcPr marL="91440" marR="91440" marT="45720" marB="45720">
                    <a:solidFill>
                      <a:srgbClr val="FFFFFF">
                        <a:alpha val="28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FD97CDC-1271-47B0-91BD-DCFCD9EF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86350"/>
            <a:ext cx="994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Zeitliche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Nähe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ist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ein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Indiz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, 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aber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noch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kein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Beweis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für 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gemeinsame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Urheberschaft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oder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Koordination</a:t>
            </a:r>
            <a:r>
              <a:rPr sz="13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.</a:t>
            </a:r>
          </a:p>
        </p:txBody>
      </p:sp>
      <p:sp>
        <p:nvSpPr>
          <p:cNvPr id="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9B7B784-C2D1-437B-B92E-616720C48F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2DD23107-4986-8758-3A93-3D74F35908CC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13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107723683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A539077-BB48-455A-BDE7-9D1CCA2B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Für die hybride Einordnung fehlt noch Kontext</a:t>
            </a:r>
          </a:p>
        </p:txBody>
      </p:sp>
      <p:sp>
        <p:nvSpPr>
          <p:cNvPr id="3" name="Content panel">
            <a:extLst xmlns:a="http://schemas.openxmlformats.org/drawingml/2006/main">
              <a:ext uri="{FF2B5EF4-FFF2-40B4-BE49-F238E27FC236}">
                <a16:creationId xmlns:a16="http://schemas.microsoft.com/office/drawing/2014/main" id="{637A9CE3-8D60-4BD9-8F23-D771F9BE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3352800" cy="3638550"/>
          </a:xfrm>
          <a:prstGeom xmlns:a="http://schemas.openxmlformats.org/drawingml/2006/main" prst="roundRect">
            <a:avLst>
              <a:gd name="adj" fmla="val 3467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CBD4DE"/>
            </a:solidFill>
            <a:prstDash val="solid"/>
          </a:ln>
        </p:spPr>
        <p:txBody>
          <a:bodyPr xmlns:a="http://schemas.openxmlformats.org/drawingml/2006/main" lIns="285750" tIns="247650" rIns="285750" bIns="247650" anchor="ctr"/>
          <a:lstStyle xmlns:a="http://schemas.openxmlformats.org/drawingml/2006/main"/>
          <a:p xmlns:a="http://schemas.openxmlformats.org/drawingml/2006/main"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F9D0932-7D02-4BD0-8758-051DEF01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0784360-3283-469D-B43B-E2F54AB9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Belegt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53F402C-A636-4487-BF09-595BB312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Notfallplan entwendet, Konto kompromittiert, Passagen online, Portal gestört. Das gehört zum Lagebild.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09D55B5B-BAE3-405D-83CE-7F5B7C70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Content panel">
            <a:extLst xmlns:a="http://schemas.openxmlformats.org/drawingml/2006/main">
              <a:ext uri="{FF2B5EF4-FFF2-40B4-BE49-F238E27FC236}">
                <a16:creationId xmlns:a16="http://schemas.microsoft.com/office/drawing/2014/main" id="{CE7F6494-BEC2-4BF5-9B28-E798793E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19250"/>
            <a:ext cx="3352800" cy="3638550"/>
          </a:xfrm>
          <a:prstGeom xmlns:a="http://schemas.openxmlformats.org/drawingml/2006/main" prst="roundRect">
            <a:avLst>
              <a:gd name="adj" fmla="val 3866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CBD4DE"/>
            </a:solidFill>
            <a:prstDash val="solid"/>
          </a:ln>
        </p:spPr>
        <p:txBody>
          <a:bodyPr xmlns:a="http://schemas.openxmlformats.org/drawingml/2006/main" lIns="285750" tIns="247650" rIns="285750" bIns="247650" anchor="ctr"/>
          <a:lstStyle xmlns:a="http://schemas.openxmlformats.org/drawingml/2006/main"/>
          <a:p xmlns:a="http://schemas.openxmlformats.org/drawingml/2006/main"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959081A-9F58-4ABD-B19F-38CCD51D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47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54986F1-35A4-4F2A-A313-26C230DB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431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Nicht belegt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4185156-C10B-4339-8E86-ED4E386B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861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Zugriff auf Netzsteuerung, bevorstehende Abschaltungen, gemeinsamer Akteur und staatliche Urheberschaft.</a:t>
            </a:r>
          </a:p>
        </p:txBody>
      </p:sp>
      <p:sp>
        <p:nvSpPr>
          <p:cNvPr id="12" name="Rechteck 11">
            <a:extLst xmlns:a="http://schemas.openxmlformats.org/drawingml/2006/main">
              <a:ext uri="{FF2B5EF4-FFF2-40B4-BE49-F238E27FC236}">
                <a16:creationId xmlns:a16="http://schemas.microsoft.com/office/drawing/2014/main" id="{C450961D-E0A4-49EA-B7B4-AAF6EC48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95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Content panel">
            <a:extLst xmlns:a="http://schemas.openxmlformats.org/drawingml/2006/main">
              <a:ext uri="{FF2B5EF4-FFF2-40B4-BE49-F238E27FC236}">
                <a16:creationId xmlns:a16="http://schemas.microsoft.com/office/drawing/2014/main" id="{F51C5532-120C-44F2-9C57-F945796F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352800" cy="36385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CBD4DE"/>
            </a:solidFill>
            <a:prstDash val="solid"/>
          </a:ln>
        </p:spPr>
        <p:txBody>
          <a:bodyPr xmlns:a="http://schemas.openxmlformats.org/drawingml/2006/main" lIns="285750" tIns="247650" rIns="285750" bIns="247650" anchor="ctr"/>
          <a:lstStyle xmlns:a="http://schemas.openxmlformats.org/drawingml/2006/main"/>
          <a:p xmlns:a="http://schemas.openxmlformats.org/drawingml/2006/main"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E69B731-5112-4A22-A6B5-218A2E47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47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869DED8-6E9F-409D-B213-FE33B06C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431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Arbeitshypothese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1E08BE6-8DDC-4A2F-AC83-08836A55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861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Eine koordinierte Kampagne ist möglich. Unabhängige oder opportunistische Vorgänge bleiben ebenso plausibel.</a:t>
            </a:r>
          </a:p>
        </p:txBody>
      </p:sp>
      <p:sp>
        <p:nvSpPr>
          <p:cNvPr id="17" name="Rechteck 16">
            <a:extLst xmlns:a="http://schemas.openxmlformats.org/drawingml/2006/main">
              <a:ext uri="{FF2B5EF4-FFF2-40B4-BE49-F238E27FC236}">
                <a16:creationId xmlns:a16="http://schemas.microsoft.com/office/drawing/2014/main" id="{A7817C5D-2267-49D4-BDC7-1BB6A40F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95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A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327921A4-25C4-3DB4-06B1-32693CEE2241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14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3AB8B1B-C30C-B1D1-A685-BCAD9595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In den nächsten Einheiten: Cyberangriffe</a:t>
            </a:r>
            <a:endParaRPr sz="3000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" name="Content panel">
            <a:extLst xmlns:a="http://schemas.openxmlformats.org/drawingml/2006/main">
              <a:ext uri="{FF2B5EF4-FFF2-40B4-BE49-F238E27FC236}">
                <a16:creationId xmlns:a16="http://schemas.microsoft.com/office/drawing/2014/main" id="{3563C3BE-0481-C003-19CD-47B20622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3352800" cy="3638550"/>
          </a:xfrm>
          <a:prstGeom xmlns:a="http://schemas.openxmlformats.org/drawingml/2006/main" prst="roundRect">
            <a:avLst>
              <a:gd name="adj" fmla="val 3467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CBD4DE"/>
            </a:solidFill>
            <a:prstDash val="solid"/>
          </a:ln>
        </p:spPr>
        <p:txBody>
          <a:bodyPr xmlns:a="http://schemas.openxmlformats.org/drawingml/2006/main" lIns="285750" tIns="247650" rIns="285750" bIns="247650" anchor="ctr"/>
          <a:lstStyle xmlns:a="http://schemas.openxmlformats.org/drawingml/2006/main"/>
          <a:p xmlns:a="http://schemas.openxmlformats.org/drawingml/2006/main"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C5E4B91-9E19-81B8-479B-B7B827E4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C04528C-5508-06DD-CF67-43AEF28A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Cyberangriff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13A3441-4EAD-2105-3ACA-F1FFF3B0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Konkrete technische Handlung gegen ein System, Konto oder Daten. Fokus: Was geschieht technisch?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1BB5581B-5893-C29F-A552-6289EB30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Content panel">
            <a:extLst xmlns:a="http://schemas.openxmlformats.org/drawingml/2006/main">
              <a:ext uri="{FF2B5EF4-FFF2-40B4-BE49-F238E27FC236}">
                <a16:creationId xmlns:a16="http://schemas.microsoft.com/office/drawing/2014/main" id="{4BF77A02-FC09-0230-33BC-537A64C7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19250"/>
            <a:ext cx="3352800" cy="3638550"/>
          </a:xfrm>
          <a:prstGeom xmlns:a="http://schemas.openxmlformats.org/drawingml/2006/main" prst="roundRect">
            <a:avLst>
              <a:gd name="adj" fmla="val 3866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CBD4DE"/>
            </a:solidFill>
            <a:prstDash val="solid"/>
          </a:ln>
        </p:spPr>
        <p:txBody>
          <a:bodyPr xmlns:a="http://schemas.openxmlformats.org/drawingml/2006/main" lIns="285750" tIns="247650" rIns="285750" bIns="247650" anchor="ctr"/>
          <a:lstStyle xmlns:a="http://schemas.openxmlformats.org/drawingml/2006/main"/>
          <a:p xmlns:a="http://schemas.openxmlformats.org/drawingml/2006/main"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DFE87DF-1272-6FE3-89FA-74B35AD1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47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691CB84-B485-0461-1F90-299F6423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431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Cyberoperation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40EDCBC-D76D-2BFC-0CFF-57032575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861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Mehrere technische Handlungen werden geplant und auf ein gemeinsames operatives Ziel ausgerichtet.</a:t>
            </a:r>
          </a:p>
        </p:txBody>
      </p:sp>
      <p:sp>
        <p:nvSpPr>
          <p:cNvPr id="12" name="Rechteck 11">
            <a:extLst xmlns:a="http://schemas.openxmlformats.org/drawingml/2006/main">
              <a:ext uri="{FF2B5EF4-FFF2-40B4-BE49-F238E27FC236}">
                <a16:creationId xmlns:a16="http://schemas.microsoft.com/office/drawing/2014/main" id="{6F336F48-EA49-DBDD-61AE-37B9E415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95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Content panel">
            <a:extLst xmlns:a="http://schemas.openxmlformats.org/drawingml/2006/main">
              <a:ext uri="{FF2B5EF4-FFF2-40B4-BE49-F238E27FC236}">
                <a16:creationId xmlns:a16="http://schemas.microsoft.com/office/drawing/2014/main" id="{218A26B7-B574-B186-62AF-6701016C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352800" cy="36385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CBD4DE"/>
            </a:solidFill>
            <a:prstDash val="solid"/>
          </a:ln>
        </p:spPr>
        <p:txBody>
          <a:bodyPr xmlns:a="http://schemas.openxmlformats.org/drawingml/2006/main" lIns="285750" tIns="247650" rIns="285750" bIns="247650" anchor="ctr"/>
          <a:lstStyle xmlns:a="http://schemas.openxmlformats.org/drawingml/2006/main"/>
          <a:p xmlns:a="http://schemas.openxmlformats.org/drawingml/2006/main"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62B675D-38BA-BD45-8211-57614E1F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47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E5EB1A5-E9A5-DD75-8E7E-9E528897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431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Hybride Bedrohung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9168FB3-4725-912A-3C14-F3B2C7BC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861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Technische und nichttechnische Mittel werden koordiniert, um strategische Wirkung zu erzielen.</a:t>
            </a:r>
          </a:p>
        </p:txBody>
      </p:sp>
      <p:sp>
        <p:nvSpPr>
          <p:cNvPr id="17" name="Rechteck 16">
            <a:extLst xmlns:a="http://schemas.openxmlformats.org/drawingml/2006/main">
              <a:ext uri="{FF2B5EF4-FFF2-40B4-BE49-F238E27FC236}">
                <a16:creationId xmlns:a16="http://schemas.microsoft.com/office/drawing/2014/main" id="{12D93C14-23E5-F754-725C-C51A8305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95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A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F57C8E8-31AB-460E-A60F-16F507AE07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EFD6AB9A-5F9E-5F59-51AB-3C8734130965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15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" name="Rechteck 1">
            <a:extLst xmlns:a="http://schemas.openxmlformats.org/drawingml/2006/main">
              <a:ext uri="{FF2B5EF4-FFF2-40B4-BE49-F238E27FC236}">
                <a16:creationId xmlns:a16="http://schemas.microsoft.com/office/drawing/2014/main" id="{2CBEC974-2675-91FF-D245-5E63AE9D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990" y="1531620"/>
            <a:ext cx="356616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A">
              <a:alpha val="56863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hteck 20">
            <a:extLst xmlns:a="http://schemas.openxmlformats.org/drawingml/2006/main">
              <a:ext uri="{FF2B5EF4-FFF2-40B4-BE49-F238E27FC236}">
                <a16:creationId xmlns:a16="http://schemas.microsoft.com/office/drawing/2014/main" id="{42B21FE4-D81B-8114-D052-D83A6B70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545" y="1600200"/>
            <a:ext cx="356616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A">
              <a:alpha val="56863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Rechteck 22">
            <a:extLst xmlns:a="http://schemas.openxmlformats.org/drawingml/2006/main">
              <a:ext uri="{FF2B5EF4-FFF2-40B4-BE49-F238E27FC236}">
                <a16:creationId xmlns:a16="http://schemas.microsoft.com/office/drawing/2014/main" id="{C164BACE-D9BD-D544-084C-5EFC57E6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180" y="1525905"/>
            <a:ext cx="356616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A">
              <a:alpha val="56863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636560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9E23536-4F15-6D02-BD45-CECC6C50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CTF: Sicherheitsaufgaben mit überprüfbarer Lösung</a:t>
            </a:r>
          </a:p>
        </p:txBody>
      </p:sp>
      <p:sp>
        <p:nvSpPr>
          <p:cNvPr id="18" name="safety-0">
            <a:extLst xmlns:a="http://schemas.openxmlformats.org/drawingml/2006/main">
              <a:ext uri="{FF2B5EF4-FFF2-40B4-BE49-F238E27FC236}">
                <a16:creationId xmlns:a16="http://schemas.microsoft.com/office/drawing/2014/main" id="{44F4CADF-64EB-B65A-20BB-66C4B3CC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952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392"/>
            </a:srgbClr>
          </a:solidFill>
          <a:ln xmlns:a="http://schemas.openxmlformats.org/drawingml/2006/main" w="11430">
            <a:solidFill>
              <a:srgbClr val="DFC4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afety-number-0-panel">
            <a:extLst xmlns:a="http://schemas.openxmlformats.org/drawingml/2006/main">
              <a:ext uri="{FF2B5EF4-FFF2-40B4-BE49-F238E27FC236}">
                <a16:creationId xmlns:a16="http://schemas.microsoft.com/office/drawing/2014/main" id="{3375FDFC-3BBD-8EE3-4612-14CD32A3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022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34E55"/>
          </a:solidFill>
          <a:ln xmlns:a="http://schemas.openxmlformats.org/drawingml/2006/main" w="9525">
            <a:solidFill>
              <a:srgbClr val="934E5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safety-title-0">
            <a:extLst xmlns:a="http://schemas.openxmlformats.org/drawingml/2006/main">
              <a:ext uri="{FF2B5EF4-FFF2-40B4-BE49-F238E27FC236}">
                <a16:creationId xmlns:a16="http://schemas.microsoft.com/office/drawing/2014/main" id="{BDB1E0A8-37E9-A732-2DF8-6D0FFA6B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954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Capture the Flag</a:t>
            </a:r>
          </a:p>
        </p:txBody>
      </p:sp>
      <p:sp>
        <p:nvSpPr>
          <p:cNvPr id="21" name="safety-detail-0">
            <a:extLst xmlns:a="http://schemas.openxmlformats.org/drawingml/2006/main">
              <a:ext uri="{FF2B5EF4-FFF2-40B4-BE49-F238E27FC236}">
                <a16:creationId xmlns:a16="http://schemas.microsoft.com/office/drawing/2014/main" id="{1CBC97F4-0F9F-A2F4-A8E4-98DA744B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383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CTF steht für „Capture the Flag“: eine kontrollierte Sicherheitsaufgabe.</a:t>
            </a:r>
          </a:p>
        </p:txBody>
      </p:sp>
      <p:sp>
        <p:nvSpPr>
          <p:cNvPr id="22" name="safety-1">
            <a:extLst xmlns:a="http://schemas.openxmlformats.org/drawingml/2006/main">
              <a:ext uri="{FF2B5EF4-FFF2-40B4-BE49-F238E27FC236}">
                <a16:creationId xmlns:a16="http://schemas.microsoft.com/office/drawing/2014/main" id="{2985912E-4389-06E0-9A54-BE0D663B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952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11430">
            <a:solidFill>
              <a:srgbClr val="CBD4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afety-number-1-panel">
            <a:extLst xmlns:a="http://schemas.openxmlformats.org/drawingml/2006/main">
              <a:ext uri="{FF2B5EF4-FFF2-40B4-BE49-F238E27FC236}">
                <a16:creationId xmlns:a16="http://schemas.microsoft.com/office/drawing/2014/main" id="{8294AD35-B265-3A42-F8F8-1AC21EB6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6227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385D8A"/>
          </a:solidFill>
          <a:ln xmlns:a="http://schemas.openxmlformats.org/drawingml/2006/main" w="9525">
            <a:solidFill>
              <a:srgbClr val="385D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safety-title-1">
            <a:extLst xmlns:a="http://schemas.openxmlformats.org/drawingml/2006/main">
              <a:ext uri="{FF2B5EF4-FFF2-40B4-BE49-F238E27FC236}">
                <a16:creationId xmlns:a16="http://schemas.microsoft.com/office/drawing/2014/main" id="{35E687F2-4464-33B5-65F3-526B03D0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57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Untersuchen und testen</a:t>
            </a:r>
          </a:p>
        </p:txBody>
      </p:sp>
      <p:sp>
        <p:nvSpPr>
          <p:cNvPr id="25" name="safety-detail-1">
            <a:extLst xmlns:a="http://schemas.openxmlformats.org/drawingml/2006/main">
              <a:ext uri="{FF2B5EF4-FFF2-40B4-BE49-F238E27FC236}">
                <a16:creationId xmlns:a16="http://schemas.microsoft.com/office/drawing/2014/main" id="{BCBE5DB8-F100-15EC-EC07-270D13AA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004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Ziel verstehen, </a:t>
            </a:r>
            <a:r>
              <a:rPr sz="1350" b="0">
                <a:solidFill>
                  <a:srgbClr val="5C667A"/>
                </a:solidFill>
              </a:rPr>
              <a:t>Anwendung</a:t>
            </a:r>
            <a:r>
              <a:rPr sz="1350" b="0">
                <a:solidFill>
                  <a:srgbClr val="5C667A"/>
                </a:solidFill>
              </a:rPr>
              <a:t> </a:t>
            </a:r>
            <a:r>
              <a:rPr sz="1350" b="0">
                <a:solidFill>
                  <a:srgbClr val="5C667A"/>
                </a:solidFill>
              </a:rPr>
              <a:t>erkunden</a:t>
            </a:r>
            <a:r>
              <a:rPr sz="1350" b="0">
                <a:solidFill>
                  <a:srgbClr val="5C667A"/>
                </a:solidFill>
              </a:rPr>
              <a:t>, </a:t>
            </a:r>
            <a:r>
              <a:rPr sz="1350" b="0">
                <a:solidFill>
                  <a:srgbClr val="5C667A"/>
                </a:solidFill>
              </a:rPr>
              <a:t>Hypothese</a:t>
            </a:r>
            <a:r>
              <a:rPr sz="1350" b="0">
                <a:solidFill>
                  <a:srgbClr val="5C667A"/>
                </a:solidFill>
              </a:rPr>
              <a:t> </a:t>
            </a:r>
            <a:r>
              <a:rPr sz="1350" b="0">
                <a:solidFill>
                  <a:srgbClr val="5C667A"/>
                </a:solidFill>
              </a:rPr>
              <a:t>testen</a:t>
            </a:r>
            <a:r>
              <a:rPr sz="1350" b="0">
                <a:solidFill>
                  <a:srgbClr val="5C667A"/>
                </a:solidFill>
              </a:rPr>
              <a:t>, </a:t>
            </a:r>
            <a:r>
              <a:rPr sz="1350" b="0">
                <a:solidFill>
                  <a:srgbClr val="5C667A"/>
                </a:solidFill>
              </a:rPr>
              <a:t>Ergebnis</a:t>
            </a:r>
            <a:r>
              <a:rPr sz="1350" b="0">
                <a:solidFill>
                  <a:srgbClr val="5C667A"/>
                </a:solidFill>
              </a:rPr>
              <a:t> </a:t>
            </a:r>
            <a:r>
              <a:rPr sz="1350" b="0">
                <a:solidFill>
                  <a:srgbClr val="5C667A"/>
                </a:solidFill>
              </a:rPr>
              <a:t>auswerten</a:t>
            </a:r>
            <a:r>
              <a:rPr sz="1350" b="0">
                <a:solidFill>
                  <a:srgbClr val="5C667A"/>
                </a:solidFill>
              </a:rPr>
              <a:t>.</a:t>
            </a:r>
          </a:p>
        </p:txBody>
      </p:sp>
      <p:sp>
        <p:nvSpPr>
          <p:cNvPr id="26" name="safety-2">
            <a:extLst xmlns:a="http://schemas.openxmlformats.org/drawingml/2006/main">
              <a:ext uri="{FF2B5EF4-FFF2-40B4-BE49-F238E27FC236}">
                <a16:creationId xmlns:a16="http://schemas.microsoft.com/office/drawing/2014/main" id="{384B65DB-ACD6-E917-03EC-85922A70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952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11430">
            <a:solidFill>
              <a:srgbClr val="CBD4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afety-number-2-panel">
            <a:extLst xmlns:a="http://schemas.openxmlformats.org/drawingml/2006/main">
              <a:ext uri="{FF2B5EF4-FFF2-40B4-BE49-F238E27FC236}">
                <a16:creationId xmlns:a16="http://schemas.microsoft.com/office/drawing/2014/main" id="{541C5B33-C3CC-BDEA-BADD-9D580FB4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385D8A"/>
          </a:solidFill>
          <a:ln xmlns:a="http://schemas.openxmlformats.org/drawingml/2006/main" w="9525">
            <a:solidFill>
              <a:srgbClr val="385D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safety-title-2">
            <a:extLst xmlns:a="http://schemas.openxmlformats.org/drawingml/2006/main">
              <a:ext uri="{FF2B5EF4-FFF2-40B4-BE49-F238E27FC236}">
                <a16:creationId xmlns:a16="http://schemas.microsoft.com/office/drawing/2014/main" id="{4BED6C65-ABC0-E6F0-5751-CEABCD4A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195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Lösung nachweisen</a:t>
            </a:r>
          </a:p>
        </p:txBody>
      </p:sp>
      <p:sp>
        <p:nvSpPr>
          <p:cNvPr id="29" name="safety-detail-2">
            <a:extLst xmlns:a="http://schemas.openxmlformats.org/drawingml/2006/main">
              <a:ext uri="{FF2B5EF4-FFF2-40B4-BE49-F238E27FC236}">
                <a16:creationId xmlns:a16="http://schemas.microsoft.com/office/drawing/2014/main" id="{67DAAB1D-1027-1AF3-03D8-1BF35052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624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Die „Flag“ ist ein eindeutiger Code und belegt die gelöste Aufgabe.</a:t>
            </a:r>
          </a:p>
        </p:txBody>
      </p:sp>
      <p:sp>
        <p:nvSpPr>
          <p:cNvPr id="3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2770714-B903-4D4E-8DD2-6884BBDC4F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EA83FA91-883A-0168-8075-96CEB9DCA3C2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16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46" name="Grafik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53c7b399c4d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8458" y="3615690"/>
            <a:ext cx="3791283" cy="31566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24595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9E23536-4F15-6D02-BD45-CECC6C50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OWASP Juice Shop ist unser kontrolliertes Übungsziel</a:t>
            </a:r>
          </a:p>
        </p:txBody>
      </p:sp>
      <p:sp>
        <p:nvSpPr>
          <p:cNvPr id="18" name="safety-0">
            <a:extLst xmlns:a="http://schemas.openxmlformats.org/drawingml/2006/main">
              <a:ext uri="{FF2B5EF4-FFF2-40B4-BE49-F238E27FC236}">
                <a16:creationId xmlns:a16="http://schemas.microsoft.com/office/drawing/2014/main" id="{44F4CADF-64EB-B65A-20BB-66C4B3CC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9525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392"/>
            </a:srgbClr>
          </a:solidFill>
          <a:ln xmlns:a="http://schemas.openxmlformats.org/drawingml/2006/main" w="11430">
            <a:solidFill>
              <a:srgbClr val="DFC4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afety-number-0-panel">
            <a:extLst xmlns:a="http://schemas.openxmlformats.org/drawingml/2006/main">
              <a:ext uri="{FF2B5EF4-FFF2-40B4-BE49-F238E27FC236}">
                <a16:creationId xmlns:a16="http://schemas.microsoft.com/office/drawing/2014/main" id="{3375FDFC-3BBD-8EE3-4612-14CD32A3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022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34E55"/>
          </a:solidFill>
          <a:ln xmlns:a="http://schemas.openxmlformats.org/drawingml/2006/main" w="9525">
            <a:solidFill>
              <a:srgbClr val="934E5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safety-title-0">
            <a:extLst xmlns:a="http://schemas.openxmlformats.org/drawingml/2006/main">
              <a:ext uri="{FF2B5EF4-FFF2-40B4-BE49-F238E27FC236}">
                <a16:creationId xmlns:a16="http://schemas.microsoft.com/office/drawing/2014/main" id="{BDB1E0A8-37E9-A732-2DF8-6D0FFA6B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954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Absichtlich verwundbare Webanwendung</a:t>
            </a:r>
          </a:p>
        </p:txBody>
      </p:sp>
      <p:sp>
        <p:nvSpPr>
          <p:cNvPr id="21" name="safety-detail-0">
            <a:extLst xmlns:a="http://schemas.openxmlformats.org/drawingml/2006/main">
              <a:ext uri="{FF2B5EF4-FFF2-40B4-BE49-F238E27FC236}">
                <a16:creationId xmlns:a16="http://schemas.microsoft.com/office/drawing/2014/main" id="{1CBC97F4-0F9F-A2F4-A8E4-98DA744B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383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Juice Shop bündelt typische Web-Security-Schwachstellen in einer sicheren Lernumgebung.</a:t>
            </a:r>
          </a:p>
        </p:txBody>
      </p:sp>
      <p:sp>
        <p:nvSpPr>
          <p:cNvPr id="22" name="safety-1">
            <a:extLst xmlns:a="http://schemas.openxmlformats.org/drawingml/2006/main">
              <a:ext uri="{FF2B5EF4-FFF2-40B4-BE49-F238E27FC236}">
                <a16:creationId xmlns:a16="http://schemas.microsoft.com/office/drawing/2014/main" id="{2985912E-4389-06E0-9A54-BE0D663B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566547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11430">
            <a:solidFill>
              <a:srgbClr val="CBD4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afety-number-1-panel">
            <a:extLst xmlns:a="http://schemas.openxmlformats.org/drawingml/2006/main">
              <a:ext uri="{FF2B5EF4-FFF2-40B4-BE49-F238E27FC236}">
                <a16:creationId xmlns:a16="http://schemas.microsoft.com/office/drawing/2014/main" id="{8294AD35-B265-3A42-F8F8-1AC21EB6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6227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385D8A"/>
          </a:solidFill>
          <a:ln xmlns:a="http://schemas.openxmlformats.org/drawingml/2006/main" w="9525">
            <a:solidFill>
              <a:srgbClr val="385D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safety-title-1">
            <a:extLst xmlns:a="http://schemas.openxmlformats.org/drawingml/2006/main">
              <a:ext uri="{FF2B5EF4-FFF2-40B4-BE49-F238E27FC236}">
                <a16:creationId xmlns:a16="http://schemas.microsoft.com/office/drawing/2014/main" id="{35E687F2-4464-33B5-65F3-526B03D0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57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Isolierte Workshopinstanz</a:t>
            </a:r>
          </a:p>
        </p:txBody>
      </p:sp>
      <p:sp>
        <p:nvSpPr>
          <p:cNvPr id="25" name="safety-detail-1">
            <a:extLst xmlns:a="http://schemas.openxmlformats.org/drawingml/2006/main">
              <a:ext uri="{FF2B5EF4-FFF2-40B4-BE49-F238E27FC236}">
                <a16:creationId xmlns:a16="http://schemas.microsoft.com/office/drawing/2014/main" id="{BCBE5DB8-F100-15EC-EC07-270D13AA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00400"/>
            <a:ext cx="462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Ihr arbeitet nur gegen die bereitgestellte Workshopinstanz.</a:t>
            </a:r>
          </a:p>
        </p:txBody>
      </p:sp>
      <p:sp>
        <p:nvSpPr>
          <p:cNvPr id="26" name="safety-2">
            <a:extLst xmlns:a="http://schemas.openxmlformats.org/drawingml/2006/main">
              <a:ext uri="{FF2B5EF4-FFF2-40B4-BE49-F238E27FC236}">
                <a16:creationId xmlns:a16="http://schemas.microsoft.com/office/drawing/2014/main" id="{384B65DB-ACD6-E917-03EC-85922A70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566547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11430">
            <a:solidFill>
              <a:srgbClr val="CBD4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afety-number-2-panel">
            <a:extLst xmlns:a="http://schemas.openxmlformats.org/drawingml/2006/main">
              <a:ext uri="{FF2B5EF4-FFF2-40B4-BE49-F238E27FC236}">
                <a16:creationId xmlns:a16="http://schemas.microsoft.com/office/drawing/2014/main" id="{541C5B33-C3CC-BDEA-BADD-9D580FB4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4953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385D8A"/>
          </a:solidFill>
          <a:ln xmlns:a="http://schemas.openxmlformats.org/drawingml/2006/main" w="9525">
            <a:solidFill>
              <a:srgbClr val="385D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safety-title-2">
            <a:extLst xmlns:a="http://schemas.openxmlformats.org/drawingml/2006/main">
              <a:ext uri="{FF2B5EF4-FFF2-40B4-BE49-F238E27FC236}">
                <a16:creationId xmlns:a16="http://schemas.microsoft.com/office/drawing/2014/main" id="{4BED6C65-ABC0-E6F0-5751-CEABCD4A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195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Beobachten statt raten</a:t>
            </a:r>
          </a:p>
        </p:txBody>
      </p:sp>
      <p:sp>
        <p:nvSpPr>
          <p:cNvPr id="29" name="safety-detail-2">
            <a:extLst xmlns:a="http://schemas.openxmlformats.org/drawingml/2006/main">
              <a:ext uri="{FF2B5EF4-FFF2-40B4-BE49-F238E27FC236}">
                <a16:creationId xmlns:a16="http://schemas.microsoft.com/office/drawing/2014/main" id="{67DAAB1D-1027-1AF3-03D8-1BF35052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62450"/>
            <a:ext cx="462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Anfrage, Antwort und technischen Nachweis dokumentieren.</a:t>
            </a:r>
          </a:p>
        </p:txBody>
      </p:sp>
      <p:sp>
        <p:nvSpPr>
          <p:cNvPr id="3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2770714-B903-4D4E-8DD2-6884BBDC4F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DC9C7607-4BA3-B4DC-A00F-2E67A9FCFF7E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17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46" name="Grafik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c065006d64d91"/>
          <a:stretch xmlns:a="http://schemas.openxmlformats.org/drawingml/2006/main"/>
        </p:blipFill>
        <p:spPr>
          <a:xfrm xmlns:a="http://schemas.openxmlformats.org/drawingml/2006/main">
            <a:off x="6732270" y="2805430"/>
            <a:ext cx="5107305" cy="29476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24595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A539077-BB48-455A-BDE7-9D1CCA2B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Vom</a:t>
            </a: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manuellen</a:t>
            </a: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Lösen</a:t>
            </a: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zum</a:t>
            </a: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eigenen</a:t>
            </a: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autonomen</a:t>
            </a: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Agenten</a:t>
            </a:r>
            <a:endParaRPr sz="3000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" name="Content panel">
            <a:extLst xmlns:a="http://schemas.openxmlformats.org/drawingml/2006/main">
              <a:ext uri="{FF2B5EF4-FFF2-40B4-BE49-F238E27FC236}">
                <a16:creationId xmlns:a16="http://schemas.microsoft.com/office/drawing/2014/main" id="{637A9CE3-8D60-4BD9-8F23-D771F9BE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3352800" cy="3638550"/>
          </a:xfrm>
          <a:prstGeom xmlns:a="http://schemas.openxmlformats.org/drawingml/2006/main" prst="roundRect">
            <a:avLst>
              <a:gd name="adj" fmla="val 3467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CBD4DE"/>
            </a:solidFill>
            <a:prstDash val="solid"/>
          </a:ln>
        </p:spPr>
        <p:txBody>
          <a:bodyPr xmlns:a="http://schemas.openxmlformats.org/drawingml/2006/main" lIns="285750" tIns="247650" rIns="285750" bIns="247650" anchor="ctr"/>
          <a:lstStyle xmlns:a="http://schemas.openxmlformats.org/drawingml/2006/main"/>
          <a:p xmlns:a="http://schemas.openxmlformats.org/drawingml/2006/main"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F9D0932-7D02-4BD0-8758-051DEF01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0784360-3283-469D-B43B-E2F54AB9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Zwei Aufgaben lösen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53F402C-A636-4487-BF09-595BB312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Wir bearbeiten zwei Sicherheitsaufgaben zunächst selbst und halten die Lösungswege fest.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09D55B5B-BAE3-405D-83CE-7F5B7C70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Content panel">
            <a:extLst xmlns:a="http://schemas.openxmlformats.org/drawingml/2006/main">
              <a:ext uri="{FF2B5EF4-FFF2-40B4-BE49-F238E27FC236}">
                <a16:creationId xmlns:a16="http://schemas.microsoft.com/office/drawing/2014/main" id="{CE7F6494-BEC2-4BF5-9B28-E798793E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19250"/>
            <a:ext cx="3352800" cy="3638550"/>
          </a:xfrm>
          <a:prstGeom xmlns:a="http://schemas.openxmlformats.org/drawingml/2006/main" prst="roundRect">
            <a:avLst>
              <a:gd name="adj" fmla="val 3866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CBD4DE"/>
            </a:solidFill>
            <a:prstDash val="solid"/>
          </a:ln>
        </p:spPr>
        <p:txBody>
          <a:bodyPr xmlns:a="http://schemas.openxmlformats.org/drawingml/2006/main" lIns="285750" tIns="247650" rIns="285750" bIns="247650" anchor="ctr"/>
          <a:lstStyle xmlns:a="http://schemas.openxmlformats.org/drawingml/2006/main"/>
          <a:p xmlns:a="http://schemas.openxmlformats.org/drawingml/2006/main"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959081A-9F58-4ABD-B19F-38CCD51D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47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54986F1-35A4-4F2A-A313-26C230DB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431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Eigenen Agenten bauen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4185156-C10B-4339-8E86-ED4E386B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861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Danach implementieren und erweitern wir schrittweise eine eigene Agentenschleife.</a:t>
            </a:r>
          </a:p>
        </p:txBody>
      </p:sp>
      <p:sp>
        <p:nvSpPr>
          <p:cNvPr id="12" name="Rechteck 11">
            <a:extLst xmlns:a="http://schemas.openxmlformats.org/drawingml/2006/main">
              <a:ext uri="{FF2B5EF4-FFF2-40B4-BE49-F238E27FC236}">
                <a16:creationId xmlns:a16="http://schemas.microsoft.com/office/drawing/2014/main" id="{C450961D-E0A4-49EA-B7B4-AAF6EC48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95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Content panel">
            <a:extLst xmlns:a="http://schemas.openxmlformats.org/drawingml/2006/main">
              <a:ext uri="{FF2B5EF4-FFF2-40B4-BE49-F238E27FC236}">
                <a16:creationId xmlns:a16="http://schemas.microsoft.com/office/drawing/2014/main" id="{F51C5532-120C-44F2-9C57-F945796F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352800" cy="36385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CBD4DE"/>
            </a:solidFill>
            <a:prstDash val="solid"/>
          </a:ln>
        </p:spPr>
        <p:txBody>
          <a:bodyPr xmlns:a="http://schemas.openxmlformats.org/drawingml/2006/main" lIns="285750" tIns="247650" rIns="285750" bIns="247650" anchor="ctr"/>
          <a:lstStyle xmlns:a="http://schemas.openxmlformats.org/drawingml/2006/main"/>
          <a:p xmlns:a="http://schemas.openxmlformats.org/drawingml/2006/main"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E69B731-5112-4A22-A6B5-218A2E47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47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869DED8-6E9F-409D-B213-FE33B06C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431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Agenten einsetzen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1E08BE6-8DDC-4A2F-AC83-08836A55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86100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Der Agent bearbeitet dieselben Aufgaben. Wir vergleichen Vorgehen, Grenzen und Ergebnisse.</a:t>
            </a:r>
          </a:p>
        </p:txBody>
      </p:sp>
      <p:sp>
        <p:nvSpPr>
          <p:cNvPr id="17" name="Rechteck 16">
            <a:extLst xmlns:a="http://schemas.openxmlformats.org/drawingml/2006/main">
              <a:ext uri="{FF2B5EF4-FFF2-40B4-BE49-F238E27FC236}">
                <a16:creationId xmlns:a16="http://schemas.microsoft.com/office/drawing/2014/main" id="{A7817C5D-2267-49D4-BDC7-1BB6A40F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95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A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90F7333B-44AC-F7E9-D49D-FE92F45E0477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18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uote card">
            <a:extLst xmlns:a="http://schemas.openxmlformats.org/drawingml/2006/main">
              <a:ext uri="{FF2B5EF4-FFF2-40B4-BE49-F238E27FC236}">
                <a16:creationId xmlns:a16="http://schemas.microsoft.com/office/drawing/2014/main" id="{DF5F723B-BCA2-45E3-9045-5D7F84EB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14500"/>
            <a:ext cx="9144000" cy="2667000"/>
          </a:xfrm>
          <a:prstGeom xmlns:a="http://schemas.openxmlformats.org/drawingml/2006/main" prst="roundRect">
            <a:avLst>
              <a:gd name="adj" fmla="val 5564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CBD4DE"/>
            </a:solidFill>
            <a:prstDash val="solid"/>
          </a:ln>
        </p:spPr>
        <p:txBody>
          <a:bodyPr xmlns:a="http://schemas.openxmlformats.org/drawingml/2006/main" lIns="285750" tIns="247650" rIns="285750" bIns="247650" anchor="ctr"/>
          <a:lstStyle xmlns:a="http://schemas.openxmlformats.org/drawingml/2006/main"/>
          <a:p xmlns:a="http://schemas.openxmlformats.org/drawingml/2006/main">
            <a:pPr marL="12" algn="ctr">
              <a:lnSpc>
                <a:spcPct val="115000"/>
              </a:lnSpc>
              <a:spcAft>
                <a:spcPts val="1600"/>
              </a:spcAft>
              <a:buNone/>
            </a:pPr>
            <a:r>
              <a:rPr sz="17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Technische Beobachtungen sind der Anfang, nicht die Einordnung.</a:t>
            </a:r>
          </a:p>
        </p:txBody>
      </p:sp>
      <p:sp>
        <p:nvSpPr>
          <p:cNvPr id="3" name="Quote attribution">
            <a:extLst xmlns:a="http://schemas.openxmlformats.org/drawingml/2006/main">
              <a:ext uri="{FF2B5EF4-FFF2-40B4-BE49-F238E27FC236}">
                <a16:creationId xmlns:a16="http://schemas.microsoft.com/office/drawing/2014/main" id="{AD2A8448-27CB-4F83-B59E-2756ADF9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720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Als </a:t>
            </a:r>
            <a:r>
              <a:rPr sz="14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Nächstes</a:t>
            </a:r>
            <a:r>
              <a:rPr sz="14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: Web Security verstehen und </a:t>
            </a:r>
            <a:r>
              <a:rPr sz="14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zwei</a:t>
            </a:r>
            <a:r>
              <a:rPr sz="14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4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Angriffswege</a:t>
            </a:r>
            <a:r>
              <a:rPr sz="14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4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prüfen</a:t>
            </a:r>
            <a:r>
              <a:rPr sz="140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.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FE82F2A-EC4E-449E-8E88-335FCC2659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744200" y="624840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B1C6C81E-38B9-7560-621D-5A151A79DF9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19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1395669421"/>
      </p:ext>
    </p:extLst>
  </p:cSld>
</p:sld>
</file>

<file path=ppt/theme/theme1.xml><?xml version="1.0" encoding="utf-8"?>
<a:theme xmlns:a="http://schemas.openxmlformats.org/drawingml/2006/main" name="Serify">
  <a:themeElements>
    <a:clrScheme name="Serify">
      <a:dk1>
        <a:srgbClr val="111111"/>
      </a:dk1>
      <a:lt1>
        <a:srgbClr val="FFFFFF"/>
      </a:lt1>
      <a:dk2>
        <a:srgbClr val="48536D"/>
      </a:dk2>
      <a:lt2>
        <a:srgbClr val="F5F6F8"/>
      </a:lt2>
      <a:accent1>
        <a:srgbClr val="48536D"/>
      </a:accent1>
      <a:accent2>
        <a:srgbClr val="778198"/>
      </a:accent2>
      <a:accent3>
        <a:srgbClr val="A6ADBC"/>
      </a:accent3>
      <a:accent4>
        <a:srgbClr val="D4D7DE"/>
      </a:accent4>
      <a:accent5>
        <a:srgbClr val="767676"/>
      </a:accent5>
      <a:accent6>
        <a:srgbClr val="B34A3A"/>
      </a:accent6>
      <a:hlink>
        <a:srgbClr val="48536D"/>
      </a:hlink>
      <a:folHlink>
        <a:srgbClr val="767676"/>
      </a:folHlink>
    </a:clrScheme>
    <a:fontScheme name="Serify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erif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2026-09-04T12:52:39.2190000Z</dcterms:created>
  <dcterms:modified xsi:type="dcterms:W3CDTF">2026-09-04T12:52:39.2190000Z</dcterms:modified>
</coreProperties>
</file>