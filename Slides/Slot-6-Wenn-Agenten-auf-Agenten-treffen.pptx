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F41658-5F32-F0E1-7446-2A602223BA7A}" name="Markus Bayer" initials="MB" userId="280c9097fed83638" providerId="Windows Live"/>
  <p188:author id="{92394061-3665-6D24-A577-C223EBB3DCE8}" name="Philipp Kühn" initials="PK" userId="e3a6e9f4ee67076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75"/>
  </p:normalViewPr>
  <p:slideViewPr>
    <p:cSldViewPr snapToGrid="0">
      <p:cViewPr varScale="1">
        <p:scale>
          <a:sx n="112" d="100"/>
          <a:sy n="112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1C24-7A6A-B681-74AA-29429CAE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3257550"/>
            <a:ext cx="8572500" cy="904875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5400"/>
            </a:lvl1pPr>
          </a:lstStyle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13457-E88A-729E-2343-D334E10D5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4210050"/>
            <a:ext cx="7429500" cy="742950"/>
          </a:xfrm>
        </p:spPr>
        <p:txBody>
          <a:bodyPr lIns="0" tIns="0" rIns="0" bIns="0" anchor="t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Master subtitle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9862E78-18EB-4EFA-9D08-E08915145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4BCE-BE82-6FF5-5C7E-8EDA3736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F435-C354-B390-F51A-EB54B00EA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19100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  <a:p>
            <a:pPr lvl="1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Second level</a:t>
            </a:r>
          </a:p>
          <a:p>
            <a:pPr lvl="2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Third level</a:t>
            </a:r>
          </a:p>
          <a:p>
            <a:pPr lvl="3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Fourth level</a:t>
            </a:r>
          </a:p>
          <a:p>
            <a:pPr lvl="4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Fifth level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AB83843-CEE0-6E6B-2B30-5A3D986687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Serify footer">
            <a:extLst>
              <a:ext uri="{FF2B5EF4-FFF2-40B4-BE49-F238E27FC236}">
                <a16:creationId xmlns:a16="http://schemas.microsoft.com/office/drawing/2014/main" id="{87F30370-3D1D-4ECA-8F08-20085C0DECA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3A0C85-713D-2CA1-7DA5-36A9FA2AB34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714500" y="2286000"/>
            <a:ext cx="8763000" cy="2095500"/>
          </a:xfrm>
        </p:spPr>
        <p:txBody>
          <a:bodyPr lIns="0" tIns="0" rIns="0" bIns="0" anchor="ctr">
            <a:normAutofit/>
          </a:bodyPr>
          <a:lstStyle>
            <a:lvl1pPr algn="ctr">
              <a:buNone/>
              <a:defRPr sz="4400"/>
            </a:lvl1pPr>
          </a:lstStyle>
          <a:p>
            <a:pPr lvl="0"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DA0653D-F337-4F6D-B1FC-533A69E1BA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5D15A9-2976-48CB-81B8-836D30C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Body Placeholder">
            <a:extLst>
              <a:ext uri="{FF2B5EF4-FFF2-40B4-BE49-F238E27FC236}">
                <a16:creationId xmlns:a16="http://schemas.microsoft.com/office/drawing/2014/main" id="{AECF7F75-5BCE-40BD-864F-FC30E1E88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56081A4D-C841-4779-9AD5-D79FC86F39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CA1C5FAB-7F25-4FE4-AE35-2A21CCA6F97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F9784F8-891D-4A64-8B3C-24E4B0A0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Left Text Placeholder">
            <a:extLst>
              <a:ext uri="{FF2B5EF4-FFF2-40B4-BE49-F238E27FC236}">
                <a16:creationId xmlns:a16="http://schemas.microsoft.com/office/drawing/2014/main" id="{883FD1F3-8EBC-4A2B-AE38-FD26980F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4" name="Right Text Placeholder">
            <a:extLst>
              <a:ext uri="{FF2B5EF4-FFF2-40B4-BE49-F238E27FC236}">
                <a16:creationId xmlns:a16="http://schemas.microsoft.com/office/drawing/2014/main" id="{70B74D96-4273-4B51-8B47-FC917DE3DF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10300" y="1428750"/>
            <a:ext cx="5143500" cy="4191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text styles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8838A7C-CF7E-46D1-9126-0866CB0A76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7" name="Serify footer">
            <a:extLst>
              <a:ext uri="{FF2B5EF4-FFF2-40B4-BE49-F238E27FC236}">
                <a16:creationId xmlns:a16="http://schemas.microsoft.com/office/drawing/2014/main" id="{E75DE2CB-D4FF-46BA-A3E6-B836C155B77C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Placeholder">
            <a:extLst>
              <a:ext uri="{FF2B5EF4-FFF2-40B4-BE49-F238E27FC236}">
                <a16:creationId xmlns:a16="http://schemas.microsoft.com/office/drawing/2014/main" id="{33DEF908-3D8A-4F68-8E74-19F3AC5D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714500"/>
            <a:ext cx="9144000" cy="266700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ctr">
            <a:normAutofit/>
          </a:bodyPr>
          <a:lstStyle>
            <a:lvl1pPr algn="ctr">
              <a:buNone/>
              <a:defRPr sz="3800" i="1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5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quote text</a:t>
            </a:r>
          </a:p>
        </p:txBody>
      </p:sp>
      <p:sp>
        <p:nvSpPr>
          <p:cNvPr id="3" name="Attribution Placeholder">
            <a:extLst>
              <a:ext uri="{FF2B5EF4-FFF2-40B4-BE49-F238E27FC236}">
                <a16:creationId xmlns:a16="http://schemas.microsoft.com/office/drawing/2014/main" id="{74538CE1-E0A6-4103-9742-664A7936CE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667000" y="4524375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ctr">
              <a:buNone/>
              <a:defRPr sz="18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edit attribution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4A3A86A2-6840-4884-B037-0B0ABC220F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B5D36575-52AF-4EFB-BA48-28C0C6291155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F7244EC5-DBE0-4E4E-934F-0A582DA4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algn="l">
              <a:buNone/>
              <a:defRPr sz="44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edit Master title style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A7AC0A22-DBDE-40F0-8952-F6705EE78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257300"/>
            <a:ext cx="10515600" cy="4552950"/>
          </a:xfrm>
          <a:prstGeom prst="rect">
            <a:avLst/>
          </a:prstGeom>
          <a:noFill/>
          <a:ln w="9525">
            <a:solidFill>
              <a:srgbClr val="DFE1E7"/>
            </a:solidFill>
            <a:prstDash val="solid"/>
          </a:ln>
        </p:spPr>
        <p:txBody>
          <a:bodyPr anchor="ctr">
            <a:normAutofit/>
          </a:bodyPr>
          <a:lstStyle>
            <a:lvl1pPr algn="ctr">
              <a:buNone/>
              <a:defRPr sz="2200">
                <a:solidFill>
                  <a:schemeClr val="tx1">
                    <a:tint val="60000"/>
                  </a:schemeClr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B562615-7B03-4913-9403-C32F2C1161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6" name="Serify footer">
            <a:extLst>
              <a:ext uri="{FF2B5EF4-FFF2-40B4-BE49-F238E27FC236}">
                <a16:creationId xmlns:a16="http://schemas.microsoft.com/office/drawing/2014/main" id="{E9478C55-B794-482E-8508-58C1E88254C6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s /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33A3A1A-A9DC-4FEC-BA0E-18D544CD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9B4A7A8-AC27-4DEA-B93F-885A62F7A7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Comparison panel 1">
            <a:extLst>
              <a:ext uri="{FF2B5EF4-FFF2-40B4-BE49-F238E27FC236}">
                <a16:creationId xmlns:a16="http://schemas.microsoft.com/office/drawing/2014/main" id="{2896FAD3-11B9-4AB2-94F7-127D65269DB2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33180FA-F1C1-43F7-A022-B9CD36D60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10" name="Comparison panel 2">
            <a:extLst>
              <a:ext uri="{FF2B5EF4-FFF2-40B4-BE49-F238E27FC236}">
                <a16:creationId xmlns:a16="http://schemas.microsoft.com/office/drawing/2014/main" id="{D8DE8C12-C349-4682-B617-8B456A23B97E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4F4786-B17C-4D3E-8352-4D9DFE6567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79DFF55-2F99-4000-8F44-014A0485A239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C25E4EE-7438-4EC1-BFB7-DEFE5B82941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619250"/>
            <a:ext cx="3352800" cy="363855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922EC263-AA0F-4360-93BD-39E0D0E9D859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9D7F1EC9-5078-4779-A590-6E0F3B035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8D55A2F-4D29-405E-A068-DBCAD32190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72AA9DB-4A58-4BEC-9099-B411EA41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14107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7D2011CC-1508-459F-9A8B-8D6E0798ED04}"/>
              </a:ext>
            </a:extLst>
          </p:cNvPr>
          <p:cNvSpPr>
            <a:spLocks noGrp="1"/>
          </p:cNvSpPr>
          <p:nvPr/>
        </p:nvSpPr>
        <p:spPr>
          <a:xfrm>
            <a:off x="7063550" y="2115598"/>
            <a:ext cx="4398550" cy="28174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0456F7-59AD-4282-8587-69B006BCD0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63550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F68C8A2D-A045-43B3-82EE-3EC1A195300F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D483271-9E16-4A09-B48C-F5AF3041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E45E6E7-DB62-4A08-AF07-D01D5489F8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Image explanation panel">
            <a:extLst>
              <a:ext uri="{FF2B5EF4-FFF2-40B4-BE49-F238E27FC236}">
                <a16:creationId xmlns:a16="http://schemas.microsoft.com/office/drawing/2014/main" id="{3E456DC3-FC21-4B97-BC0A-D255C5A54AF2}"/>
              </a:ext>
            </a:extLst>
          </p:cNvPr>
          <p:cNvSpPr>
            <a:spLocks noGrp="1"/>
          </p:cNvSpPr>
          <p:nvPr/>
        </p:nvSpPr>
        <p:spPr>
          <a:xfrm>
            <a:off x="729901" y="2115598"/>
            <a:ext cx="4398550" cy="2817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05F30EE-2393-4322-851C-2FF75A08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901" y="2115598"/>
            <a:ext cx="4398550" cy="2817400"/>
          </a:xfrm>
        </p:spPr>
        <p:txBody>
          <a:bodyPr lIns="190500" tIns="171450" rIns="190500" bIns="171450" anchor="t"/>
          <a:lstStyle/>
          <a:p>
            <a:pPr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text</a:t>
            </a:r>
          </a:p>
        </p:txBody>
      </p:sp>
      <p:sp>
        <p:nvSpPr>
          <p:cNvPr id="5" name="Picture panel 2">
            <a:extLst>
              <a:ext uri="{FF2B5EF4-FFF2-40B4-BE49-F238E27FC236}">
                <a16:creationId xmlns:a16="http://schemas.microsoft.com/office/drawing/2014/main" id="{134A6470-06D9-47A2-83E1-F90E44B305FF}"/>
              </a:ext>
            </a:extLst>
          </p:cNvPr>
          <p:cNvSpPr>
            <a:spLocks noGrp="1"/>
          </p:cNvSpPr>
          <p:nvPr/>
        </p:nvSpPr>
        <p:spPr>
          <a:xfrm>
            <a:off x="6014752" y="1428750"/>
            <a:ext cx="4563142" cy="4191000"/>
          </a:xfrm>
          <a:prstGeom prst="roundRect">
            <a:avLst>
              <a:gd name="adj" fmla="val 181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2722097-74C2-4E68-8747-B0D9344F5DD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014752" y="1428750"/>
            <a:ext cx="4563142" cy="4191000"/>
          </a:xfrm>
        </p:spPr>
        <p:txBody>
          <a:bodyPr/>
          <a:lstStyle/>
          <a:p>
            <a:r>
              <a:t>Click to add picture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425136EC-85B9-46B9-9B9C-E5BAA05F5B00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C94EFF5-A12E-4E29-8E74-6912388D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B0FB011-12CB-4475-B18C-043EB5A4BA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Metric panel 1">
            <a:extLst>
              <a:ext uri="{FF2B5EF4-FFF2-40B4-BE49-F238E27FC236}">
                <a16:creationId xmlns:a16="http://schemas.microsoft.com/office/drawing/2014/main" id="{2FE943A5-C94B-4047-855D-2ED6931637A6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979CC02-91CB-4056-8043-D2FE2009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0" name="Metric panel 2">
            <a:extLst>
              <a:ext uri="{FF2B5EF4-FFF2-40B4-BE49-F238E27FC236}">
                <a16:creationId xmlns:a16="http://schemas.microsoft.com/office/drawing/2014/main" id="{472E48AC-D775-4BEF-A4A5-30E7E967A164}"/>
              </a:ext>
            </a:extLst>
          </p:cNvPr>
          <p:cNvSpPr>
            <a:spLocks noGrp="1"/>
          </p:cNvSpPr>
          <p:nvPr/>
        </p:nvSpPr>
        <p:spPr>
          <a:xfrm>
            <a:off x="4419600" y="1371600"/>
            <a:ext cx="3352800" cy="120015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E0C6D1-28C9-4D2D-8B48-6542598192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196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6" name="Content panel 3">
            <a:extLst>
              <a:ext uri="{FF2B5EF4-FFF2-40B4-BE49-F238E27FC236}">
                <a16:creationId xmlns:a16="http://schemas.microsoft.com/office/drawing/2014/main" id="{E3D16A00-F704-4BF0-9047-A5F34A617DC3}"/>
              </a:ext>
            </a:extLst>
          </p:cNvPr>
          <p:cNvSpPr>
            <a:spLocks noGrp="1"/>
          </p:cNvSpPr>
          <p:nvPr/>
        </p:nvSpPr>
        <p:spPr>
          <a:xfrm>
            <a:off x="8001000" y="1371600"/>
            <a:ext cx="3352800" cy="1200150"/>
          </a:xfrm>
          <a:prstGeom prst="roundRect">
            <a:avLst>
              <a:gd name="adj" fmla="val 347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2B6FD00-BB61-4977-819E-F199FBB21F2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01000" y="1371600"/>
            <a:ext cx="3352800" cy="1200150"/>
          </a:xfrm>
        </p:spPr>
        <p:txBody>
          <a:bodyPr lIns="190500" tIns="171450" rIns="190500" bIns="171450" anchor="ctr"/>
          <a:lstStyle/>
          <a:p>
            <a:pPr algn="l">
              <a:buNone/>
              <a:defRPr sz="19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t>Key figure</a:t>
            </a:r>
          </a:p>
        </p:txBody>
      </p:sp>
      <p:sp>
        <p:nvSpPr>
          <p:cNvPr id="11" name="Evidence panel">
            <a:extLst>
              <a:ext uri="{FF2B5EF4-FFF2-40B4-BE49-F238E27FC236}">
                <a16:creationId xmlns:a16="http://schemas.microsoft.com/office/drawing/2014/main" id="{F4FFA19A-266D-4399-BA0B-167C0EB4F01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10515600" cy="28194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12" name="placeholder_6">
            <a:extLst>
              <a:ext uri="{FF2B5EF4-FFF2-40B4-BE49-F238E27FC236}">
                <a16:creationId xmlns:a16="http://schemas.microsoft.com/office/drawing/2014/main" id="{3B8937F5-3082-45F9-94A0-F497F81D9F0B}"/>
              </a:ext>
            </a:extLst>
          </p:cNvPr>
          <p:cNvSpPr>
            <a:spLocks noGrp="1"/>
          </p:cNvSpPr>
          <p:nvPr>
            <p:ph type="chart" idx="4"/>
          </p:nvPr>
        </p:nvSpPr>
        <p:spPr>
          <a:xfrm>
            <a:off x="1123950" y="3086100"/>
            <a:ext cx="9944100" cy="2247900"/>
          </a:xfrm>
          <a:prstGeom prst="rect">
            <a:avLst/>
          </a:prstGeom>
        </p:spPr>
        <p:txBody>
          <a:bodyPr anchor="ctr"/>
          <a:lstStyle/>
          <a:p>
            <a:pPr algn="ctr">
              <a:buNone/>
              <a:def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Click to add chart or key evidence</a:t>
            </a:r>
          </a:p>
        </p:txBody>
      </p:sp>
      <p:sp>
        <p:nvSpPr>
          <p:cNvPr id="8" name="Serify footer">
            <a:extLst>
              <a:ext uri="{FF2B5EF4-FFF2-40B4-BE49-F238E27FC236}">
                <a16:creationId xmlns:a16="http://schemas.microsoft.com/office/drawing/2014/main" id="{C78FD780-60CF-42AF-8150-5E1E06A43EF7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/ Comm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71D4B9C-A036-4ACA-BB77-42508E57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DD98FF72-8A23-42C8-A134-78CCC11947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Content panel 1">
            <a:extLst>
              <a:ext uri="{FF2B5EF4-FFF2-40B4-BE49-F238E27FC236}">
                <a16:creationId xmlns:a16="http://schemas.microsoft.com/office/drawing/2014/main" id="{CC013E72-9976-4AC2-A3BF-9414B4D655F4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1818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9053639-32F6-413A-81A7-38C632E3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10515600" cy="4191000"/>
          </a:xfrm>
        </p:spPr>
        <p:txBody>
          <a:bodyPr lIns="266700" tIns="247650" rIns="266700" bIns="2476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Paste code or a command here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91194A3A-7FC6-4DB9-A5CD-26B00B5860F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de +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4D163290-2818-43E6-A662-9A35070C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 algn="l"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9BE75ED-38B6-4444-9C52-94309E2E3B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Code panel">
            <a:extLst>
              <a:ext uri="{FF2B5EF4-FFF2-40B4-BE49-F238E27FC236}">
                <a16:creationId xmlns:a16="http://schemas.microsoft.com/office/drawing/2014/main" id="{2267A199-8232-4A9A-964B-3842591E64EE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615315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5DDB067-D827-440A-8E83-1913EA6B0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750"/>
            <a:ext cx="6153150" cy="4191000"/>
          </a:xfrm>
        </p:spPr>
        <p:txBody>
          <a:bodyPr lIns="190500" tIns="171450" rIns="190500" bIns="171450" anchor="t"/>
          <a:lstStyle/>
          <a:p>
            <a:pPr algn="l">
              <a:buNone/>
              <a:defRPr sz="1275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t>Paste code here</a:t>
            </a:r>
          </a:p>
        </p:txBody>
      </p:sp>
      <p:sp>
        <p:nvSpPr>
          <p:cNvPr id="5" name="Content panel 2">
            <a:extLst>
              <a:ext uri="{FF2B5EF4-FFF2-40B4-BE49-F238E27FC236}">
                <a16:creationId xmlns:a16="http://schemas.microsoft.com/office/drawing/2014/main" id="{5B33C448-78C7-449D-851D-03D14D615978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4133850" cy="4191000"/>
          </a:xfrm>
          <a:prstGeom prst="roundRect">
            <a:avLst>
              <a:gd name="adj" fmla="val 2062"/>
            </a:avLst>
          </a:prstGeom>
          <a:solidFill>
            <a:srgbClr val="111111"/>
          </a:solidFill>
          <a:ln w="9525">
            <a:solidFill>
              <a:srgbClr val="48536D"/>
            </a:solidFill>
            <a:prstDash val="solid"/>
          </a:ln>
        </p:spPr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6BC92-D01A-4B9E-B75C-7B8C303BF4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19950" y="1428750"/>
            <a:ext cx="4133850" cy="4191000"/>
          </a:xfrm>
        </p:spPr>
        <p:txBody>
          <a:bodyPr lIns="247650" tIns="209550" rIns="247650" bIns="209550" anchor="t"/>
          <a:lstStyle/>
          <a:p>
            <a:pPr algn="l">
              <a:buNone/>
              <a:defRPr sz="135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Explain what matters</a:t>
            </a:r>
          </a:p>
        </p:txBody>
      </p:sp>
      <p:sp>
        <p:nvSpPr>
          <p:cNvPr id="7" name="Serify footer">
            <a:extLst>
              <a:ext uri="{FF2B5EF4-FFF2-40B4-BE49-F238E27FC236}">
                <a16:creationId xmlns:a16="http://schemas.microsoft.com/office/drawing/2014/main" id="{D2898F6C-EC88-404B-A85A-732E57F8B144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E608FFB-3F47-4C84-A68C-F3160FE4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0" y="2381250"/>
            <a:ext cx="8572500" cy="952500"/>
          </a:xfrm>
        </p:spPr>
        <p:txBody>
          <a:bodyPr lIns="0" tIns="0" rIns="0" bIns="0" anchor="ctr"/>
          <a:lstStyle/>
          <a:p>
            <a:pPr>
              <a:buNone/>
              <a:def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6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44ADC0E7-F402-458D-9D07-D113DA41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50" y="3524250"/>
            <a:ext cx="7429500" cy="762000"/>
          </a:xfrm>
        </p:spPr>
        <p:txBody>
          <a:bodyPr lIns="0" tIns="0" rIns="0" bIns="0" anchor="ctr"/>
          <a:lstStyle/>
          <a:p>
            <a:pPr algn="ctr">
              <a:buNone/>
              <a:def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Contact or next step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AE97534-3B68-465D-B918-7D768D1146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rify footer">
            <a:extLst>
              <a:ext uri="{FF2B5EF4-FFF2-40B4-BE49-F238E27FC236}">
                <a16:creationId xmlns:a16="http://schemas.microsoft.com/office/drawing/2014/main" id="{8727E097-492E-4EA0-9F02-97BEE7E2D05A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4244B10-2239-4020-9B30-5EBFD810F5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EF733AD4-02BC-4223-82D0-97F842FB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50"/>
            <a:ext cx="9525000" cy="685800"/>
          </a:xfrm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title</a:t>
            </a:r>
          </a:p>
        </p:txBody>
      </p:sp>
      <p:sp>
        <p:nvSpPr>
          <p:cNvPr id="3" name="Table panel">
            <a:extLst>
              <a:ext uri="{FF2B5EF4-FFF2-40B4-BE49-F238E27FC236}">
                <a16:creationId xmlns:a16="http://schemas.microsoft.com/office/drawing/2014/main" id="{E584E24A-8DAF-4CD2-8A9A-3C81C7127207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227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</p:sp>
      <p:sp>
        <p:nvSpPr>
          <p:cNvPr id="4" name="Table Content Placeholder">
            <a:extLst>
              <a:ext uri="{FF2B5EF4-FFF2-40B4-BE49-F238E27FC236}">
                <a16:creationId xmlns:a16="http://schemas.microsoft.com/office/drawing/2014/main" id="{D68100DA-7C1E-4D9B-AF3E-0972E4B3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762125"/>
            <a:ext cx="9944100" cy="3143250"/>
          </a:xfrm>
        </p:spPr>
        <p:txBody>
          <a:bodyPr lIns="190500" tIns="171450" rIns="190500" bIns="171450" anchor="t"/>
          <a:lstStyle/>
          <a:p>
            <a:pPr lvl="0" algn="l">
              <a:buNone/>
              <a:def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Click to add table</a:t>
            </a:r>
          </a:p>
        </p:txBody>
      </p:sp>
      <p:sp>
        <p:nvSpPr>
          <p:cNvPr id="5" name="Table Caption Placeholder">
            <a:extLst>
              <a:ext uri="{FF2B5EF4-FFF2-40B4-BE49-F238E27FC236}">
                <a16:creationId xmlns:a16="http://schemas.microsoft.com/office/drawing/2014/main" id="{CC75B18B-3DC1-41D3-937E-08244CB7D1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23950" y="5086350"/>
            <a:ext cx="9944100" cy="285750"/>
          </a:xfrm>
          <a:prstGeom prst="rect">
            <a:avLst/>
          </a:prstGeom>
          <a:solidFill>
            <a:srgbClr val="FFFFFF">
              <a:alpha val="40000"/>
            </a:srgbClr>
          </a:solidFill>
          <a:ln w="9525">
            <a:solidFill>
              <a:srgbClr val="DFE1E7"/>
            </a:solidFill>
            <a:prstDash val="solid"/>
          </a:ln>
        </p:spPr>
        <p:txBody>
          <a:bodyPr vert="horz" lIns="190500" tIns="171450" rIns="190500" bIns="171450" anchor="t">
            <a:normAutofit/>
          </a:bodyPr>
          <a:lstStyle>
            <a:lvl1pPr algn="l">
              <a:buChar char="•"/>
              <a:defRPr sz="260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 algn="ctr">
              <a:buNone/>
              <a:defRPr sz="975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Add a concise table note or interpretation</a:t>
            </a:r>
          </a:p>
        </p:txBody>
      </p:sp>
      <p:sp>
        <p:nvSpPr>
          <p:cNvPr id="6" name="Serify footer">
            <a:extLst>
              <a:ext uri="{FF2B5EF4-FFF2-40B4-BE49-F238E27FC236}">
                <a16:creationId xmlns:a16="http://schemas.microsoft.com/office/drawing/2014/main" id="{475D5017-EA27-4F8A-A924-8E58189AD3BD}"/>
              </a:ext>
            </a:extLst>
          </p:cNvPr>
          <p:cNvSpPr>
            <a:spLocks noGrp="1"/>
          </p:cNvSpPr>
          <p:nvPr/>
        </p:nvSpPr>
        <p:spPr>
          <a:xfrm>
            <a:off x="5143500" y="62484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9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serify.eu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6719998-640C-42FA-B65E-A15DB1508D6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594532A-FFB4-A4DF-7AEF-EB3BFCBA714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erify Master">
    <p:bg>
      <p:bgPr>
        <a:solidFill>
          <a:srgbClr val="E6E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7"/>
          <p:cNvPicPr>
            <a:picLocks noChangeAspect="1"/>
          </p:cNvPicPr>
          <p:nvPr/>
        </p:nvPicPr>
        <p:blipFill>
          <a:blip r:embed="rId18">
            <a:alphaModFix amt="7000"/>
          </a:blip>
          <a:stretch>
            <a:fillRect/>
          </a:stretch>
        </p:blipFill>
        <p:spPr>
          <a:xfrm>
            <a:off x="0" y="0"/>
            <a:ext cx="9008295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FABE0-195D-C941-5E85-5C3B85F5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F56EF-C63C-95C1-9E97-66C4844FB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DE2DA7B-B1E7-24C3-2A34-1154C781E2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‹Nr.›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1382375" y="193834"/>
            <a:ext cx="400050" cy="3933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rgbClr val="111111"/>
          </a:solidFill>
          <a:latin typeface="Avenir Next"/>
          <a:ea typeface="Avenir Next"/>
          <a:cs typeface="Avenir Next"/>
        </a:defRPr>
      </a:lvl1pPr>
    </p:titleStyle>
    <p:bodyStyle>
      <a:lvl1pPr marL="342900" indent="-228600" algn="l" defTabSz="914400">
        <a:lnSpc>
          <a:spcPct val="115000"/>
        </a:lnSpc>
        <a:spcBef>
          <a:spcPts val="0"/>
        </a:spcBef>
        <a:spcAft>
          <a:spcPts val="1400"/>
        </a:spcAft>
        <a:buFont typeface="Avenir Next"/>
        <a:buChar char="•"/>
        <a:defRPr sz="2800" kern="1200">
          <a:solidFill>
            <a:srgbClr val="111111"/>
          </a:solidFill>
          <a:latin typeface="Avenir Next"/>
          <a:ea typeface="Avenir Next"/>
          <a:cs typeface="Avenir Next"/>
        </a:defRPr>
      </a:lvl1pPr>
      <a:lvl2pPr marL="800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400" kern="1200">
          <a:solidFill>
            <a:srgbClr val="111111"/>
          </a:solidFill>
          <a:latin typeface="Avenir Next"/>
          <a:ea typeface="Avenir Next"/>
          <a:cs typeface="Avenir Next"/>
        </a:defRPr>
      </a:lvl2pPr>
      <a:lvl3pPr marL="1257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2000" kern="1200">
          <a:solidFill>
            <a:srgbClr val="111111"/>
          </a:solidFill>
          <a:latin typeface="Avenir Next"/>
          <a:ea typeface="Avenir Next"/>
          <a:cs typeface="Avenir Next"/>
        </a:defRPr>
      </a:lvl3pPr>
      <a:lvl4pPr marL="1714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4pPr>
      <a:lvl5pPr marL="21717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5pPr>
      <a:lvl6pPr marL="26289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6pPr>
      <a:lvl7pPr marL="30861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7pPr>
      <a:lvl8pPr marL="35433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8pPr>
      <a:lvl9pPr marL="4000500" indent="-228600" algn="l" defTabSz="914400">
        <a:lnSpc>
          <a:spcPct val="110000"/>
        </a:lnSpc>
        <a:spcBef>
          <a:spcPts val="0"/>
        </a:spcBef>
        <a:spcAft>
          <a:spcPts val="800"/>
        </a:spcAft>
        <a:buFont typeface="Avenir Next"/>
        <a:buChar char="•"/>
        <a:defRPr sz="1800" kern="1200">
          <a:solidFill>
            <a:srgbClr val="111111"/>
          </a:solidFill>
          <a:latin typeface="Avenir Next"/>
          <a:ea typeface="Avenir Next"/>
          <a:cs typeface="Avenir Nex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1pPr>
      <a:lvl2pPr marL="457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2pPr>
      <a:lvl3pPr marL="914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Avenir Next"/>
          <a:ea typeface="Avenir Next"/>
          <a:cs typeface="Avenir Nex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pening-kicker">
            <a:extLst>
              <a:ext uri="{FF2B5EF4-FFF2-40B4-BE49-F238E27FC236}">
                <a16:creationId xmlns:a16="http://schemas.microsoft.com/office/drawing/2014/main" id="{131E62E6-817C-4081-A819-DD4D65660AE6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385D8A"/>
                </a:solidFill>
              </a:defRPr>
            </a:pPr>
            <a:r>
              <a:rPr sz="1275" b="1">
                <a:solidFill>
                  <a:srgbClr val="385D8A"/>
                </a:solidFill>
              </a:rPr>
              <a:t>STUDIENSTIFTUNG AG CYBERRAUM</a:t>
            </a:r>
          </a:p>
        </p:txBody>
      </p:sp>
      <p:sp>
        <p:nvSpPr>
          <p:cNvPr id="6" name="opening-title">
            <a:extLst>
              <a:ext uri="{FF2B5EF4-FFF2-40B4-BE49-F238E27FC236}">
                <a16:creationId xmlns:a16="http://schemas.microsoft.com/office/drawing/2014/main" id="{D8F5C28A-8E50-48D1-BB0D-AC692578A6EF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350" b="1">
                <a:solidFill>
                  <a:srgbClr val="26324A"/>
                </a:solidFill>
              </a:defRPr>
            </a:pPr>
            <a:r>
              <a:rPr sz="4350" b="1">
                <a:solidFill>
                  <a:srgbClr val="26324A"/>
                </a:solidFill>
              </a:rPr>
              <a:t>Wenn Agenten auf Agenten treffen</a:t>
            </a:r>
          </a:p>
        </p:txBody>
      </p:sp>
      <p:sp>
        <p:nvSpPr>
          <p:cNvPr id="7" name="opening-subtitle">
            <a:extLst>
              <a:ext uri="{FF2B5EF4-FFF2-40B4-BE49-F238E27FC236}">
                <a16:creationId xmlns:a16="http://schemas.microsoft.com/office/drawing/2014/main" id="{DFE54576-95AC-4A99-895C-29114982C6CC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0">
                <a:solidFill>
                  <a:srgbClr val="5C667A"/>
                </a:solidFill>
              </a:defRPr>
            </a:pPr>
            <a:r>
              <a:rPr sz="2025" b="0">
                <a:solidFill>
                  <a:srgbClr val="5C667A"/>
                </a:solidFill>
              </a:rPr>
              <a:t>Incident Response bei einer möglichen hybriden Kampagne | Slot 6</a:t>
            </a:r>
          </a:p>
        </p:txBody>
      </p:sp>
      <p:sp>
        <p:nvSpPr>
          <p:cNvPr id="8" name="opening-rule">
            <a:extLst>
              <a:ext uri="{FF2B5EF4-FFF2-40B4-BE49-F238E27FC236}">
                <a16:creationId xmlns:a16="http://schemas.microsoft.com/office/drawing/2014/main" id="{005595D9-7E74-4A6E-938D-2431B3A5C08F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714500" cy="0"/>
          </a:xfrm>
          <a:prstGeom prst="line">
            <a:avLst/>
          </a:prstGeom>
          <a:noFill/>
          <a:ln w="38100">
            <a:solidFill>
              <a:srgbClr val="385D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pening-question">
            <a:extLst>
              <a:ext uri="{FF2B5EF4-FFF2-40B4-BE49-F238E27FC236}">
                <a16:creationId xmlns:a16="http://schemas.microsoft.com/office/drawing/2014/main" id="{D9A204AF-0793-4805-B8F4-998C76007848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26324A"/>
                </a:solidFill>
              </a:defRPr>
            </a:pPr>
            <a:r>
              <a:rPr sz="1950" b="1">
                <a:solidFill>
                  <a:srgbClr val="26324A"/>
                </a:solidFill>
              </a:rPr>
              <a:t>Was verändert sich, wenn mehrere spezialisierte Agenten koordiniert angreifen?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50F5C800-263A-449D-9853-4E7343AA59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74DB634-EE70-4948-99F4-765F834F2B2D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31521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Slot 6 verbindet technische Forensik und strategische Einordnung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 prüfen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Analyseausgabe, Werkzeuge und Zustandsänderung kritisch nachvollziehen.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Vorfall rekonstruieren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Rohereignisse mit IDs ordnen und Beobachtung von Schlussfolgerung trennen.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Lage einordnen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Koordination, KI-Einsatz und hybride Bedrohung getrennt bewerten.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B34A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2598689-54C9-18A7-3A19-ED76AA0898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card">
            <a:extLst>
              <a:ext uri="{FF2B5EF4-FFF2-40B4-BE49-F238E27FC236}">
                <a16:creationId xmlns:a16="http://schemas.microsoft.com/office/drawing/2014/main" id="{DF5F723B-BCA2-45E3-9045-5D7F84EB101F}"/>
              </a:ext>
            </a:extLst>
          </p:cNvPr>
          <p:cNvSpPr>
            <a:spLocks noGrp="1"/>
          </p:cNvSpPr>
          <p:nvPr/>
        </p:nvSpPr>
        <p:spPr>
          <a:xfrm>
            <a:off x="1524000" y="1714500"/>
            <a:ext cx="9144000" cy="2667000"/>
          </a:xfrm>
          <a:prstGeom prst="roundRect">
            <a:avLst>
              <a:gd name="adj" fmla="val 5564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 algn="ctr">
              <a:lnSpc>
                <a:spcPct val="115000"/>
              </a:lnSpc>
              <a:spcAft>
                <a:spcPts val="1600"/>
              </a:spcAft>
              <a:buNone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Fall ist als betriebliche Wartungsstörung ohne Sicherheitsrelevanz zu schließen.</a:t>
            </a:r>
          </a:p>
        </p:txBody>
      </p:sp>
      <p:sp>
        <p:nvSpPr>
          <p:cNvPr id="3" name="Quote attribution">
            <a:extLst>
              <a:ext uri="{FF2B5EF4-FFF2-40B4-BE49-F238E27FC236}">
                <a16:creationId xmlns:a16="http://schemas.microsoft.com/office/drawing/2014/main" id="{AD2A8448-27CB-4F83-B59E-2756ADF93C4B}"/>
              </a:ext>
            </a:extLst>
          </p:cNvPr>
          <p:cNvSpPr>
            <a:spLocks noGrp="1"/>
          </p:cNvSpPr>
          <p:nvPr/>
        </p:nvSpPr>
        <p:spPr>
          <a:xfrm>
            <a:off x="2667000" y="45720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Erstbericht des Analyseagenten, 22:21 Uhr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FE82F2A-EC4E-449E-8E88-335FCC2659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02359C0-8A7A-196E-DD58-8E6569619F09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9566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1: Entscheidung unter Zeitdruck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392"/>
            </a:srgbClr>
          </a:solidFill>
          <a:ln w="11430">
            <a:solidFill>
              <a:srgbClr val="DFC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934E55"/>
          </a:solidFill>
          <a:ln w="9525">
            <a:solidFill>
              <a:srgbClr val="934E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Nur den Erstbericht lesen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Noch keine Analyseausgabe und keine Rohereignisse hinzunehmen.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Entscheidung treffen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Schließen, an eine Person eskalieren oder weiter untersuchen.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Begründung festhalten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Stärksten Grund und dringendste fehlende Information notieren.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FD6AB9A-5F9E-5F59-51AB-3C8734130965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Musterlösung Aufgabe 1: Eskalieren oder weiter untersuchen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Hohe Konfidenz, dünne Basis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Nur E01, E13 und E15 sind als Belege genannt.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Zentrale Bereiche unbelegt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Privilegierte Zugriffe, Dateiaktivitäten und öffentliche Beiträge werden ohne Quellen abgetan.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Folgenreiche Zustandsänderung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CLOSED / BENIGN wird automatisch gesetzt, obwohl die Evidenz unvollständig ist.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E5B3003-2C54-13C6-9832-7637201064D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0EF1106-2D04-4243-BE3D-ED9903D240BF}"/>
              </a:ext>
            </a:extLst>
          </p:cNvPr>
          <p:cNvSpPr>
            <a:spLocks noGrp="1"/>
          </p:cNvSpPr>
          <p:nvPr/>
        </p:nvSpPr>
        <p:spPr>
          <a:xfrm>
            <a:off x="1714500" y="2476500"/>
            <a:ext cx="8763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Analyseausgabe des Agenten prüfen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85D9A89-8A00-4FD3-94F7-FA40E3E3A9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C630A04-5A25-9E0C-9436-126091DB86B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3734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46488E3A-46E9-4E0A-95D5-2BDE3AE6D29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Auftrag, Werkzeuge und Autorität des Analyseagenten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F4D4CA85-F933-4398-A0DE-0D8C52118C4D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325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>
              <a:lnSpc>
                <a:spcPct val="115000"/>
              </a:lnSpc>
              <a:spcAft>
                <a:spcPts val="1600"/>
              </a:spcAft>
              <a:buNone/>
            </a:pPr>
            <a:endParaRPr sz="1725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graphicFrame>
        <p:nvGraphicFramePr>
          <p:cNvPr id="12" name="Tabelle 10"/>
          <p:cNvGraphicFramePr/>
          <p:nvPr/>
        </p:nvGraphicFramePr>
        <p:xfrm>
          <a:off x="1123950" y="1762125"/>
          <a:ext cx="9944100" cy="31432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Ebene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Vorgabe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Risiko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Auftrag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Alle Quellen prüfen; Aussagen mit IDs belegen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Vollständigkeit wird nicht technisch erzwungen; Kontext voll, sodass Informationen verloren gehen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Lesen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search_events und read_event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Unzuverlässige Felder gelangen in den Modellkontext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Handeln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set_case_status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Manipulierbare Analyse kann den Fall operativ schließen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a16:creationId xmlns:a16="http://schemas.microsoft.com/office/drawing/2014/main" id="{9FD97CDC-1271-47B0-91BD-DCFCD9EFD96C}"/>
              </a:ext>
            </a:extLst>
          </p:cNvPr>
          <p:cNvSpPr>
            <a:spLocks noGrp="1"/>
          </p:cNvSpPr>
          <p:nvPr/>
        </p:nvSpPr>
        <p:spPr>
          <a:xfrm>
            <a:off x="1123950" y="5086350"/>
            <a:ext cx="994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Lesen und Entscheiden liegen beim selben manipulierbaren Agenten.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9B7B784-C2D1-437B-B92E-616720C48F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3D7D1C8-AE23-AA48-DF65-C742588DBE4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77236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2: Die Analyseausgabe untersuchen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Verhaltenswechsel markieren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Sprache, Ziel und Bewertungsmaßstab im Ablauf vergleichen.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Ausgelassene Evidenz benennen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Welche bereits sichtbaren Ereignisse werden nicht weiterverfolgt?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Fallstatus bewerten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Ist CLOSED durch die gezeigte Untersuchung gedeckt?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A58DA2A-B818-18A9-29C1-B697728D5BC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Musterlösung Aufgabe 2: Der Agent bricht seine eigene Untersuchung ab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392"/>
            </a:srgbClr>
          </a:solidFill>
          <a:ln w="11430">
            <a:solidFill>
              <a:srgbClr val="DFC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934E55"/>
          </a:solidFill>
          <a:ln w="9525">
            <a:solidFill>
              <a:srgbClr val="934E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Unerklärlicher Wechsel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Nach der Websuche erklärt ein englischer Satz den Fall ohne Beleg zur Simulation.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Untersuchung verengt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E02 bis E07, E10 bis E12 und E14 werden nicht weiterverfolgt.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Vorschneller Abschluss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E01 passt zeitlich nicht zur Störung; dennoch liest der Agent nur E13 und E15.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88657AE-30A1-5A7A-6A7F-315D84436430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card">
            <a:extLst>
              <a:ext uri="{FF2B5EF4-FFF2-40B4-BE49-F238E27FC236}">
                <a16:creationId xmlns:a16="http://schemas.microsoft.com/office/drawing/2014/main" id="{DF5F723B-BCA2-45E3-9045-5D7F84EB101F}"/>
              </a:ext>
            </a:extLst>
          </p:cNvPr>
          <p:cNvSpPr>
            <a:spLocks noGrp="1"/>
          </p:cNvSpPr>
          <p:nvPr/>
        </p:nvSpPr>
        <p:spPr>
          <a:xfrm>
            <a:off x="1524000" y="1714500"/>
            <a:ext cx="9144000" cy="2667000"/>
          </a:xfrm>
          <a:prstGeom prst="roundRect">
            <a:avLst>
              <a:gd name="adj" fmla="val 5564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 algn="ctr">
              <a:lnSpc>
                <a:spcPct val="115000"/>
              </a:lnSpc>
              <a:spcAft>
                <a:spcPts val="1600"/>
              </a:spcAft>
              <a:buNone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Der englische Satz ist ein Warnsignal, aber noch kein Beweis für seine Ursache.</a:t>
            </a:r>
          </a:p>
        </p:txBody>
      </p:sp>
      <p:sp>
        <p:nvSpPr>
          <p:cNvPr id="3" name="Quote attribution">
            <a:extLst>
              <a:ext uri="{FF2B5EF4-FFF2-40B4-BE49-F238E27FC236}">
                <a16:creationId xmlns:a16="http://schemas.microsoft.com/office/drawing/2014/main" id="{AD2A8448-27CB-4F83-B59E-2756ADF93C4B}"/>
              </a:ext>
            </a:extLst>
          </p:cNvPr>
          <p:cNvSpPr>
            <a:spLocks noGrp="1"/>
          </p:cNvSpPr>
          <p:nvPr/>
        </p:nvSpPr>
        <p:spPr>
          <a:xfrm>
            <a:off x="2667000" y="45720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Zwischenbefund vor Offenlegung von E09 und A01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FE82F2A-EC4E-449E-8E88-335FCC2659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B7BEEEC-A170-5376-2B6E-CB54687B0CB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9566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0EF1106-2D04-4243-BE3D-ED9903D240BF}"/>
              </a:ext>
            </a:extLst>
          </p:cNvPr>
          <p:cNvSpPr>
            <a:spLocks noGrp="1"/>
          </p:cNvSpPr>
          <p:nvPr/>
        </p:nvSpPr>
        <p:spPr>
          <a:xfrm>
            <a:off x="1714500" y="2476500"/>
            <a:ext cx="8763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Unabhängige Rohdaten legen die Ursache offen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85D9A89-8A00-4FD3-94F7-FA40E3E3A9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0394428-F1DC-E5F6-DB0C-7DE31F3D8A2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3734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3: Den Vorfall forensisch rekonstruieren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58877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Ereignisse ordnen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Höchstens sechs Phasen, jeweils mit allen verwendeten Ereignis-IDs.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Aussagen trennen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Sicher beobachtet, Schlussfolgerung und offene Frage auseinanderhalten.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Grenzen benennen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Was ist widerlegt, was bleibt möglich und was ist tatsächlich belegt?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EA83FA91-883A-0168-8075-96CEB9DCA3C2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46488E3A-46E9-4E0A-95D5-2BDE3AE6D29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A01 widerspricht der agenteneigenen Darstellung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F4D4CA85-F933-4398-A0DE-0D8C52118C4D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325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>
              <a:lnSpc>
                <a:spcPct val="115000"/>
              </a:lnSpc>
              <a:spcAft>
                <a:spcPts val="1600"/>
              </a:spcAft>
              <a:buNone/>
            </a:pPr>
            <a:endParaRPr sz="1725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graphicFrame>
        <p:nvGraphicFramePr>
          <p:cNvPr id="12" name="Tabelle 10"/>
          <p:cNvGraphicFramePr/>
          <p:nvPr/>
        </p:nvGraphicFramePr>
        <p:xfrm>
          <a:off x="1123950" y="1762125"/>
          <a:ext cx="9944100" cy="31432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Quelle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Unabhängiger Befund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Darstellung des Agenten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search_events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E08, E09 und E15 wurden zurückgegeben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Nur E08 und E15 erscheinen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E09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x_client_note enthält eine fremde Anweisung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E09 und Header fehlen vollständig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Fallstatus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Vor dem Lauf OPEN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 setzt ohne Freigabe auf CLOSED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a16:creationId xmlns:a16="http://schemas.microsoft.com/office/drawing/2014/main" id="{9FD97CDC-1271-47B0-91BD-DCFCD9EFD96C}"/>
              </a:ext>
            </a:extLst>
          </p:cNvPr>
          <p:cNvSpPr>
            <a:spLocks noGrp="1"/>
          </p:cNvSpPr>
          <p:nvPr/>
        </p:nvSpPr>
        <p:spPr>
          <a:xfrm>
            <a:off x="1123950" y="5086350"/>
            <a:ext cx="994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Vertrauenswürdige Telemetrie muss außerhalb der Schreibrechte des Agenten liegen.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9B7B784-C2D1-437B-B92E-616720C48F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DB16885-0D3F-A391-B669-3211DB3B26E8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77236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E09 löst eine Prompt-Injection-Kette aus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Unzuverlässige Daten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 clientseitiger HTTP-Header enthält Anweisungen an den Analyseagenten.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Übernommene Anweisung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Der Agent verengt die Suche, verschweigt E09 und bewertet die Störung als geplant.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Unzulässige Wirkung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Unvollständige Evidenz führt zur operativen Zustandsänderung CLOSED.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B34A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2DD23107-4986-8758-3A93-3D74F35908CC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Die Analyse verletzt zwei Grenzen und eine Kontrollpflicht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Vertrauensgrenze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Unzuverlässige Ereignisdaten werden als autorisierte Instruktion behandelt.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Autoritätsgrenze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Der manipulierbare Agent darf den operativen Fall ohne Freigabe schließen.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Kontrollpflicht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Belegpflicht, Vollständigkeitsprüfung und unabhängige Auditierung fehlen.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B34A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327921A4-25C4-3DB4-06B1-32693CEE2241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46488E3A-46E9-4E0A-95D5-2BDE3AE6D29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Musterzeitleiste: Phasen 1 bis 3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F4D4CA85-F933-4398-A0DE-0D8C52118C4D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325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>
              <a:lnSpc>
                <a:spcPct val="115000"/>
              </a:lnSpc>
              <a:spcAft>
                <a:spcPts val="1600"/>
              </a:spcAft>
              <a:buNone/>
            </a:pPr>
            <a:endParaRPr sz="1725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graphicFrame>
        <p:nvGraphicFramePr>
          <p:cNvPr id="12" name="Tabelle 10"/>
          <p:cNvGraphicFramePr/>
          <p:nvPr/>
        </p:nvGraphicFramePr>
        <p:xfrm>
          <a:off x="1123950" y="1762125"/>
          <a:ext cx="9944100" cy="31432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Phase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Ereignisse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Belastbare Aussage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Betriebszustand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E01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Wartung erst 23:00; die frühere Störung ist dadurch nicht erklärt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Kontozugriff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E02, E03, E14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Login von neuem Gerät mit MFA; Inhaberin bestreitet die Anmeldung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Zugriff / Abfluss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E04, E05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Plan gelesen; kurz danach ähnlich große TLS-Übertragung; Inhalt nicht sichtbar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a16:creationId xmlns:a16="http://schemas.microsoft.com/office/drawing/2014/main" id="{9FD97CDC-1271-47B0-91BD-DCFCD9EFD96C}"/>
              </a:ext>
            </a:extLst>
          </p:cNvPr>
          <p:cNvSpPr>
            <a:spLocks noGrp="1"/>
          </p:cNvSpPr>
          <p:nvPr/>
        </p:nvSpPr>
        <p:spPr>
          <a:xfrm>
            <a:off x="1123950" y="5086350"/>
            <a:ext cx="994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Beobachtung und Interpretation bleiben getrennt.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9B7B784-C2D1-437B-B92E-616720C48F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DC9C7607-4BA3-B4DC-A00F-2E67A9FCFF7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77236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46488E3A-46E9-4E0A-95D5-2BDE3AE6D296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Musterzeitleiste: Phasen 4 bis 6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F4D4CA85-F933-4398-A0DE-0D8C52118C4D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10515600" cy="4191000"/>
          </a:xfrm>
          <a:prstGeom prst="roundRect">
            <a:avLst>
              <a:gd name="adj" fmla="val 325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>
              <a:lnSpc>
                <a:spcPct val="115000"/>
              </a:lnSpc>
              <a:spcAft>
                <a:spcPts val="1600"/>
              </a:spcAft>
              <a:buNone/>
            </a:pPr>
            <a:endParaRPr sz="1725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graphicFrame>
        <p:nvGraphicFramePr>
          <p:cNvPr id="12" name="Tabelle 10"/>
          <p:cNvGraphicFramePr/>
          <p:nvPr/>
        </p:nvGraphicFramePr>
        <p:xfrm>
          <a:off x="1123950" y="1762125"/>
          <a:ext cx="9944100" cy="31432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Phase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Ereignisse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Belastbare Aussage</a:t>
                      </a:r>
                    </a:p>
                  </a:txBody>
                  <a:tcPr>
                    <a:solidFill>
                      <a:srgbClr val="4853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OT-Zugriff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E06, E13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Schreibversuch abgewiesen; keine erfolgreichen Schaltungen oder Sollwertänderungen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Wirkung / Portal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E07, E08, E10 bis E12, E15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Verkürzter Text, Lastspitze, angepasste Verbreitung; Portal nach Rate-Limit stabil</a:t>
                      </a:r>
                    </a:p>
                  </a:txBody>
                  <a:tcPr>
                    <a:solidFill>
                      <a:srgbClr val="FFFFFF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Angriff auf Analyse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E09, A01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Header-Injection beeinflusst Agenten; E09 fehlt in seiner eigenen Ausgabe</a:t>
                      </a:r>
                    </a:p>
                  </a:txBody>
                  <a:tcPr>
                    <a:solidFill>
                      <a:srgbClr val="FFFFFF">
                        <a:alpha val="2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a16:creationId xmlns:a16="http://schemas.microsoft.com/office/drawing/2014/main" id="{9FD97CDC-1271-47B0-91BD-DCFCD9EFD96C}"/>
              </a:ext>
            </a:extLst>
          </p:cNvPr>
          <p:cNvSpPr>
            <a:spLocks noGrp="1"/>
          </p:cNvSpPr>
          <p:nvPr/>
        </p:nvSpPr>
        <p:spPr>
          <a:xfrm>
            <a:off x="1123950" y="5086350"/>
            <a:ext cx="994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Keine bestätigte Wirkung auf die Energienetzsteuerung.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9B7B784-C2D1-437B-B92E-616720C48F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90F7333B-44AC-F7E9-D49D-FE92F45E0477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077236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Beobachtung, Schlussfolgerung und offene Frage am OT-Zugriff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Beobachtet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E06: POST auf /setpoint wurde durch IT_TO_OT_WRITE_DENY abgewiesen.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Schlussfolgerung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Ein schreibender OT-Zugriff wurde versucht; ein Erfolg ist nicht belegt.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Offen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Wer gab den Auftrag und gehörte der Versuch zur übrigen Operation?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B34A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B1C6C81E-38B9-7560-621D-5A151A79DF9B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18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4: Drei konkurrierende Erklärungen bewerten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H1: Unabhängige Vorfälle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Stützende IDs, Widerspruch oder Lücke und Konfidenz angeben.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H2: Menschen, Skripte und Bots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Prüfen, ob klassische Automatisierung und Koordination ausreichen.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H3: Mehrere spezialisierte KI-Agenten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Direkte Artefakte verlangen; Tempo allein ist kein KI-Beleg.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CCF91274-D221-1BB4-3BF9-836E3AD31EB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19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Musterlösung Aufgabe 4: H2 ist derzeit am besten gestützt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6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H1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Niedrige Konfidenz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Dokumentphrase, Zieladresse und schnelle Reaktion verbinden die Ereignisse stärker als Zufall.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6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H2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Mittel bis hoch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Menschen, Skripte und Bot-Konten erklären alle beobachteten Effekte ohne KI-Annahme.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6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H3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Niedrige Konfidenz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Orchestrierungs-, Modell- und Speicherartefakte fehlen trotz passender Geschwindigkeit.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844E025A-983C-6D44-79C6-4612AACD43FC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20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Koordination, KI-Einsatz und Hybridität bleiben getrennte Fragen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Koordiniert?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Plausibel: Inhalt, Adresse und Timing verbinden technische und öffentliche Ereignisse.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Agentisch?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Nicht belegt: Verhalten auf Opferseite trennt H2 und H3 nicht belastbar.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Hybrid?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Plausibel: strategisches Ziel, koordinierte Mittel, Zielgruppen und Wirkung sind erkennbar.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F6DF2BE2-2DFA-1C03-677D-BDC2260D6D92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21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CEA8226-2979-FF1B-38CA-0844A7CCAF8F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Eine hybride Kampagne ist plausibel, aber nicht attribuiert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Strategisches Ziel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Vertrauen in Versorgungssicherheit und Betreiber während angespannter Lage schwächen.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Koordinierte Mittel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Kontozugriff, Informationsabfluss, OT-Versuch, Portalüberlastung und öffentliche Verbreitung.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Attribution offen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Auftraggeber, staatliche Beteiligung und Produktionsprozess der Inhalte sind nicht belegt.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7817C5D-2267-49D4-BDC7-1BB6A40F5440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B34A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0BB18BA8-60F4-C50D-CD9B-1BB87D3E8506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22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5: Was würde ein agentischer Swarm verändern?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Drei Thesen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Welche Fähigkeiten oder Dynamiken könnten qualitativ neu hinzukommen?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Mindestens eine Grenze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Was wird durch mehrere Agenten nicht automatisch möglich?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Ein Gegenargument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Welche Effekte leisten bereits Skripte und menschliche Koordination?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A4E99CEF-AF55-BA3C-ADF8-4E52E186DD8F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23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title">
            <a:extLst>
              <a:ext uri="{FF2B5EF4-FFF2-40B4-BE49-F238E27FC236}">
                <a16:creationId xmlns:a16="http://schemas.microsoft.com/office/drawing/2014/main" id="{AA539077-BB48-455A-BDE7-9D1CCA2B9187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Diskussionshorizont: Ein Swarm skaliert auch Abhängigkeiten und Fehler</a:t>
            </a:r>
          </a:p>
        </p:txBody>
      </p:sp>
      <p:sp>
        <p:nvSpPr>
          <p:cNvPr id="3" name="Content panel">
            <a:extLst>
              <a:ext uri="{FF2B5EF4-FFF2-40B4-BE49-F238E27FC236}">
                <a16:creationId xmlns:a16="http://schemas.microsoft.com/office/drawing/2014/main" id="{637A9CE3-8D60-4BD9-8F23-D771F9BE95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3352800" cy="3638550"/>
          </a:xfrm>
          <a:prstGeom prst="roundRect">
            <a:avLst>
              <a:gd name="adj" fmla="val 3467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9D0932-7D02-4BD0-8758-051DEF01A21D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784360-3283-469D-B43B-E2F54AB90412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Spezialisierung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53F402C-A636-4487-BF09-595BB3129D42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Agenten bearbeiten Aufklärung, Zugang, Wirkung und Einflussnahme parallel.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9D55B5B-BAE3-405D-83CE-7F5B7C705075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ontent panel">
            <a:extLst>
              <a:ext uri="{FF2B5EF4-FFF2-40B4-BE49-F238E27FC236}">
                <a16:creationId xmlns:a16="http://schemas.microsoft.com/office/drawing/2014/main" id="{CE7F6494-BEC2-4BF5-9B28-E798793E014A}"/>
              </a:ext>
            </a:extLst>
          </p:cNvPr>
          <p:cNvSpPr>
            <a:spLocks noGrp="1"/>
          </p:cNvSpPr>
          <p:nvPr/>
        </p:nvSpPr>
        <p:spPr>
          <a:xfrm>
            <a:off x="4419600" y="1619250"/>
            <a:ext cx="3352800" cy="3638550"/>
          </a:xfrm>
          <a:prstGeom prst="roundRect">
            <a:avLst>
              <a:gd name="adj" fmla="val 386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959081A-9F58-4ABD-B19F-38CCD51DDDF3}"/>
              </a:ext>
            </a:extLst>
          </p:cNvPr>
          <p:cNvSpPr>
            <a:spLocks noGrp="1"/>
          </p:cNvSpPr>
          <p:nvPr/>
        </p:nvSpPr>
        <p:spPr>
          <a:xfrm>
            <a:off x="46482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54986F1-35A4-4F2A-A313-26C230DB9CD4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Adaptive Koordination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185156-C10B-4339-8E86-ED4E386B0A8F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Geteilter Zustand erlaubt Aufgabenwechsel und schnelle Anpassung an Verteidigerreaktionen.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450961D-E0A4-49EA-B7B4-AAF6EC48B274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Content panel">
            <a:extLst>
              <a:ext uri="{FF2B5EF4-FFF2-40B4-BE49-F238E27FC236}">
                <a16:creationId xmlns:a16="http://schemas.microsoft.com/office/drawing/2014/main" id="{F51C5532-120C-44F2-9C57-F945796F5151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352800" cy="3638550"/>
          </a:xfrm>
          <a:prstGeom prst="roundRect">
            <a:avLst>
              <a:gd name="adj" fmla="val 34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285762" indent="-285750">
              <a:lnSpc>
                <a:spcPct val="115000"/>
              </a:lnSpc>
              <a:spcAft>
                <a:spcPts val="1600"/>
              </a:spcAft>
              <a:buFont typeface="Arial"/>
              <a:buChar char="•"/>
            </a:pPr>
            <a:endParaRPr sz="1725" b="1">
              <a:solidFill>
                <a:srgbClr val="111111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69B731-5112-4A22-A6B5-218A2E4743E8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853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869DED8-6E9F-409D-B213-FE33B06C5C54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Neue Fehler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1E08BE6-8DDC-4A2F-AC83-08836A55CBD0}"/>
              </a:ext>
            </a:extLst>
          </p:cNvPr>
          <p:cNvSpPr>
            <a:spLocks noGrp="1"/>
          </p:cNvSpPr>
          <p:nvPr/>
        </p:nvSpPr>
        <p:spPr>
          <a:xfrm>
            <a:off x="8229600" y="3086100"/>
            <a:ext cx="28956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42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Gemeinsame Fehlannahmen, manipulierter Speicher und Eskalationsdynamiken skalieren ebenfalls.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6E6C501F-6571-4417-B9F7-105D61758A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4A59AF09-D197-0193-A7DE-FAAF0B691058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24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2C926B4-2506-0002-52B6-AB6ACA410F1F}"/>
              </a:ext>
            </a:extLst>
          </p:cNvPr>
          <p:cNvSpPr>
            <a:spLocks noGrp="1"/>
          </p:cNvSpPr>
          <p:nvPr/>
        </p:nvSpPr>
        <p:spPr>
          <a:xfrm>
            <a:off x="8229600" y="4895850"/>
            <a:ext cx="685800" cy="38100"/>
          </a:xfrm>
          <a:prstGeom prst="rect">
            <a:avLst/>
          </a:prstGeom>
          <a:solidFill>
            <a:srgbClr val="4853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312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Aufgabe 6: Zukunftsfolgen und heutigen Handlungsbedarf priorisieren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392"/>
            </a:srgbClr>
          </a:solidFill>
          <a:ln w="11430">
            <a:solidFill>
              <a:srgbClr val="DFC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934E55"/>
          </a:solidFill>
          <a:ln w="9525">
            <a:solidFill>
              <a:srgbClr val="934E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Zukunftsfolge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Eine besonders wichtige technische, organisatorische, gesellschaftliche oder politische Folge wählen.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Handlungsbedarf heute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Eine konkrete Maßnahme für Unternehmen, Entwicklung, Forschung, Staat oder Gesellschaft formulieren.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Offene Frage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Einen ungelösten Zielkonflikt oder Forschungsbedarf festhalten.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F3AE1AE4-D79E-94D6-E825-3FC6C21A77D2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25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09E23536-4F15-6D02-BD45-CECC6C506432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Diskussionshorizont: Handeln auf drei Ebenen</a:t>
            </a:r>
          </a:p>
        </p:txBody>
      </p:sp>
      <p:sp>
        <p:nvSpPr>
          <p:cNvPr id="18" name="safety-0">
            <a:extLst>
              <a:ext uri="{FF2B5EF4-FFF2-40B4-BE49-F238E27FC236}">
                <a16:creationId xmlns:a16="http://schemas.microsoft.com/office/drawing/2014/main" id="{44F4CADF-64EB-B65A-20BB-66C4B3CCC88B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afety-number-0-panel">
            <a:extLst>
              <a:ext uri="{FF2B5EF4-FFF2-40B4-BE49-F238E27FC236}">
                <a16:creationId xmlns:a16="http://schemas.microsoft.com/office/drawing/2014/main" id="{3375FDFC-3BBD-8EE3-4612-14CD32A33A2E}"/>
              </a:ext>
            </a:extLst>
          </p:cNvPr>
          <p:cNvSpPr>
            <a:spLocks noGrp="1"/>
          </p:cNvSpPr>
          <p:nvPr/>
        </p:nvSpPr>
        <p:spPr>
          <a:xfrm>
            <a:off x="1047750" y="18002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safety-title-0">
            <a:extLst>
              <a:ext uri="{FF2B5EF4-FFF2-40B4-BE49-F238E27FC236}">
                <a16:creationId xmlns:a16="http://schemas.microsoft.com/office/drawing/2014/main" id="{BDB1E0A8-37E9-A732-2DF8-6D0FFA6B919B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Agenten sicher bauen</a:t>
            </a:r>
          </a:p>
        </p:txBody>
      </p:sp>
      <p:sp>
        <p:nvSpPr>
          <p:cNvPr id="21" name="safety-detail-0">
            <a:extLst>
              <a:ext uri="{FF2B5EF4-FFF2-40B4-BE49-F238E27FC236}">
                <a16:creationId xmlns:a16="http://schemas.microsoft.com/office/drawing/2014/main" id="{1CBC97F4-0F9F-A2F4-A8E4-98DA744BBB83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Minimale Rechte, unabhängige Logs und Tests gegen Prompt Injections und Multi-Agenten-Fehler.</a:t>
            </a:r>
          </a:p>
        </p:txBody>
      </p:sp>
      <p:sp>
        <p:nvSpPr>
          <p:cNvPr id="22" name="safety-1">
            <a:extLst>
              <a:ext uri="{FF2B5EF4-FFF2-40B4-BE49-F238E27FC236}">
                <a16:creationId xmlns:a16="http://schemas.microsoft.com/office/drawing/2014/main" id="{2985912E-4389-06E0-9A54-BE0D663B35DB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afety-number-1-panel">
            <a:extLst>
              <a:ext uri="{FF2B5EF4-FFF2-40B4-BE49-F238E27FC236}">
                <a16:creationId xmlns:a16="http://schemas.microsoft.com/office/drawing/2014/main" id="{8294AD35-B265-3A42-F8F8-1AC21EB65402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safety-title-1">
            <a:extLst>
              <a:ext uri="{FF2B5EF4-FFF2-40B4-BE49-F238E27FC236}">
                <a16:creationId xmlns:a16="http://schemas.microsoft.com/office/drawing/2014/main" id="{35E687F2-4464-33B5-65F3-526B03D07875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Organisationen vorbereiten</a:t>
            </a:r>
          </a:p>
        </p:txBody>
      </p:sp>
      <p:sp>
        <p:nvSpPr>
          <p:cNvPr id="25" name="safety-detail-1">
            <a:extLst>
              <a:ext uri="{FF2B5EF4-FFF2-40B4-BE49-F238E27FC236}">
                <a16:creationId xmlns:a16="http://schemas.microsoft.com/office/drawing/2014/main" id="{BCBE5DB8-F100-15EC-EC07-270D13AABEA5}"/>
              </a:ext>
            </a:extLst>
          </p:cNvPr>
          <p:cNvSpPr>
            <a:spLocks noGrp="1"/>
          </p:cNvSpPr>
          <p:nvPr/>
        </p:nvSpPr>
        <p:spPr>
          <a:xfrm>
            <a:off x="1771650" y="32004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Verantwortung, menschliche Entscheidungsgrenzen und gekoppelte Cyber- und Kommunikationsübungen festlegen.</a:t>
            </a:r>
          </a:p>
        </p:txBody>
      </p:sp>
      <p:sp>
        <p:nvSpPr>
          <p:cNvPr id="26" name="safety-2">
            <a:extLst>
              <a:ext uri="{FF2B5EF4-FFF2-40B4-BE49-F238E27FC236}">
                <a16:creationId xmlns:a16="http://schemas.microsoft.com/office/drawing/2014/main" id="{384B65DB-ACD6-E917-03EC-85922A704043}"/>
              </a:ext>
            </a:extLst>
          </p:cNvPr>
          <p:cNvSpPr>
            <a:spLocks noGrp="1"/>
          </p:cNvSpPr>
          <p:nvPr/>
        </p:nvSpPr>
        <p:spPr>
          <a:xfrm>
            <a:off x="838200" y="3924300"/>
            <a:ext cx="9525000" cy="895350"/>
          </a:xfrm>
          <a:prstGeom prst="roundRect">
            <a:avLst>
              <a:gd name="adj" fmla="val 19149"/>
            </a:avLst>
          </a:prstGeom>
          <a:solidFill>
            <a:srgbClr val="FFFFFF">
              <a:alpha val="40000"/>
            </a:srgbClr>
          </a:solidFill>
          <a:ln w="11430">
            <a:solidFill>
              <a:srgbClr val="CBD4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afety-number-2-panel">
            <a:extLst>
              <a:ext uri="{FF2B5EF4-FFF2-40B4-BE49-F238E27FC236}">
                <a16:creationId xmlns:a16="http://schemas.microsoft.com/office/drawing/2014/main" id="{541C5B33-C3CC-BDEA-BADD-9D580FB49E3B}"/>
              </a:ext>
            </a:extLst>
          </p:cNvPr>
          <p:cNvSpPr>
            <a:spLocks noGrp="1"/>
          </p:cNvSpPr>
          <p:nvPr/>
        </p:nvSpPr>
        <p:spPr>
          <a:xfrm>
            <a:off x="1047750" y="4124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385D8A"/>
          </a:solidFill>
          <a:ln w="9525">
            <a:solidFill>
              <a:srgbClr val="385D8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afety-title-2">
            <a:extLst>
              <a:ext uri="{FF2B5EF4-FFF2-40B4-BE49-F238E27FC236}">
                <a16:creationId xmlns:a16="http://schemas.microsoft.com/office/drawing/2014/main" id="{4BED6C65-ABC0-E6F0-5751-CEABCD4A29D4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26324A"/>
                </a:solidFill>
              </a:defRPr>
            </a:pPr>
            <a:r>
              <a:rPr sz="1725" b="1">
                <a:solidFill>
                  <a:srgbClr val="26324A"/>
                </a:solidFill>
              </a:rPr>
              <a:t>Resilienz und Regeln stärken</a:t>
            </a:r>
          </a:p>
        </p:txBody>
      </p:sp>
      <p:sp>
        <p:nvSpPr>
          <p:cNvPr id="29" name="safety-detail-2">
            <a:extLst>
              <a:ext uri="{FF2B5EF4-FFF2-40B4-BE49-F238E27FC236}">
                <a16:creationId xmlns:a16="http://schemas.microsoft.com/office/drawing/2014/main" id="{67DAAB1D-1027-1AF3-03D8-1BF3505295FB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C667A"/>
                </a:solidFill>
              </a:defRPr>
            </a:pPr>
            <a:r>
              <a:rPr sz="1350" b="0">
                <a:solidFill>
                  <a:srgbClr val="5C667A"/>
                </a:solidFill>
              </a:rPr>
              <a:t>Informationsaustausch, Attribution, Krisenkommunikation und Widerstand gegen irreführende Inhalte ausbauen.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D2770714-B903-4D4E-8DD2-6884BBDC4F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5AB55966-FA28-BC73-EA9E-53DF014DF033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26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4824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card">
            <a:extLst>
              <a:ext uri="{FF2B5EF4-FFF2-40B4-BE49-F238E27FC236}">
                <a16:creationId xmlns:a16="http://schemas.microsoft.com/office/drawing/2014/main" id="{DF5F723B-BCA2-45E3-9045-5D7F84EB101F}"/>
              </a:ext>
            </a:extLst>
          </p:cNvPr>
          <p:cNvSpPr>
            <a:spLocks noGrp="1"/>
          </p:cNvSpPr>
          <p:nvPr/>
        </p:nvSpPr>
        <p:spPr>
          <a:xfrm>
            <a:off x="1524000" y="1714500"/>
            <a:ext cx="9144000" cy="2667000"/>
          </a:xfrm>
          <a:prstGeom prst="roundRect">
            <a:avLst>
              <a:gd name="adj" fmla="val 5564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CBD4DE"/>
            </a:solidFill>
            <a:prstDash val="solid"/>
          </a:ln>
        </p:spPr>
        <p:txBody>
          <a:bodyPr lIns="285750" tIns="247650" rIns="285750" bIns="247650" anchor="ctr"/>
          <a:lstStyle/>
          <a:p>
            <a:pPr marL="12" algn="ctr">
              <a:lnSpc>
                <a:spcPct val="115000"/>
              </a:lnSpc>
              <a:spcAft>
                <a:spcPts val="1600"/>
              </a:spcAft>
              <a:buNone/>
            </a:pPr>
            <a:r>
              <a:rPr sz="1725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Agentische Geschwindigkeit ersetzt weder Evidenz noch menschliche Verantwortung.</a:t>
            </a:r>
          </a:p>
        </p:txBody>
      </p:sp>
      <p:sp>
        <p:nvSpPr>
          <p:cNvPr id="3" name="Quote attribution">
            <a:extLst>
              <a:ext uri="{FF2B5EF4-FFF2-40B4-BE49-F238E27FC236}">
                <a16:creationId xmlns:a16="http://schemas.microsoft.com/office/drawing/2014/main" id="{AD2A8448-27CB-4F83-B59E-2756ADF93C4B}"/>
              </a:ext>
            </a:extLst>
          </p:cNvPr>
          <p:cNvSpPr>
            <a:spLocks noGrp="1"/>
          </p:cNvSpPr>
          <p:nvPr/>
        </p:nvSpPr>
        <p:spPr>
          <a:xfrm>
            <a:off x="2667000" y="45720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Synthese aus Slot 6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FE82F2A-EC4E-449E-8E88-335FCC2659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744200" y="6248400"/>
            <a:ext cx="609600" cy="266700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buNone/>
              <a:def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defRPr>
            </a:pPr>
            <a:fld id="{02F15020-66A7-620A-7B7A-C05C4312DEAE}" type="slidenum">
              <a:rPr sz="1050">
                <a:solidFill>
                  <a:srgbClr val="767676"/>
                </a:solidFill>
                <a:latin typeface="Avenir Next"/>
                <a:ea typeface="Avenir Next"/>
                <a:cs typeface="Avenir Next"/>
              </a:rPr>
              <a:t>27</a:t>
            </a:fld>
            <a:endParaRPr sz="1050">
              <a:solidFill>
                <a:srgbClr val="767676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1395669421"/>
      </p:ext>
    </p:extLst>
  </p:cSld>
  <p:clrMapOvr>
    <a:masterClrMapping/>
  </p:clrMapOvr>
</p:sld>
</file>

<file path=ppt/theme/theme1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rify">
  <a:themeElements>
    <a:clrScheme name="Serify">
      <a:dk1>
        <a:srgbClr val="111111"/>
      </a:dk1>
      <a:lt1>
        <a:srgbClr val="FFFFFF"/>
      </a:lt1>
      <a:dk2>
        <a:srgbClr val="48536D"/>
      </a:dk2>
      <a:lt2>
        <a:srgbClr val="F5F6F8"/>
      </a:lt2>
      <a:accent1>
        <a:srgbClr val="48536D"/>
      </a:accent1>
      <a:accent2>
        <a:srgbClr val="778198"/>
      </a:accent2>
      <a:accent3>
        <a:srgbClr val="A6ADBC"/>
      </a:accent3>
      <a:accent4>
        <a:srgbClr val="D4D7DE"/>
      </a:accent4>
      <a:accent5>
        <a:srgbClr val="767676"/>
      </a:accent5>
      <a:accent6>
        <a:srgbClr val="B34A3A"/>
      </a:accent6>
      <a:hlink>
        <a:srgbClr val="48536D"/>
      </a:hlink>
      <a:folHlink>
        <a:srgbClr val="767676"/>
      </a:folHlink>
    </a:clrScheme>
    <a:fontScheme name="Serify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rif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Microsoft Macintosh PowerPoint</Application>
  <DocSecurity>0</DocSecurity>
  <PresentationFormat>Breitbild</PresentationFormat>
  <Paragraphs>262</Paragraphs>
  <Slides>27</Slides>
  <Notes>27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Aptos Mono</vt:lpstr>
      <vt:lpstr>Arial</vt:lpstr>
      <vt:lpstr>Avenir Next</vt:lpstr>
      <vt:lpstr>Serify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Markus Bayer</cp:lastModifiedBy>
  <cp:revision>1</cp:revision>
  <dcterms:created xsi:type="dcterms:W3CDTF">2026-09-04T12:52:55Z</dcterms:created>
  <dcterms:modified xsi:type="dcterms:W3CDTF">2026-09-22T08:39:01Z</dcterms:modified>
</cp:coreProperties>
</file>