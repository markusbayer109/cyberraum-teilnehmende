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F41658-5F32-F0E1-7446-2A602223BA7A}" name="Markus Bayer" initials="MB" userId="280c9097fed83638" providerId="Windows Live"/>
  <p188:author id="{92394061-3665-6D24-A577-C223EBB3DCE8}" name="Philipp Kühn" initials="PK" userId="e3a6e9f4ee67076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75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Dauer: 2 Minuten. Die Leitfrage als roten Faden setzen: Wir behandeln Webanfragen als kleine Experimente. Vorerfahrung ist nicht nötig. Die Brücke zu Agenten folgt erst am Ende des Slots.</a:t>
            </a:r>
          </a:p>
          <a:p>
            <a:endParaRPr/>
          </a:p>
          <a:p>
            <a:r>
              <a:t>[Sources]</a:t>
            </a:r>
          </a:p>
          <a:p>
            <a:r>
              <a:t>- Internal: Workshopplan.md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
[Sources]
- Illustration generated with OpenAI ImageGen on 2026-08-21.
- Prompt: Conceptual click-to-response request flow through layered web-application components, premium softly isometric editorial technology illustration, pale gray background, navy blue green and rust palette, no text or logos.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Ergebnisse werden im Aufgabenblatt, Abschnitt Slot 1, dokumentiert.</a:t>
            </a:r>
          </a:p>
          <a:p>
            <a:r>
              <a:t>[Sources]</a:t>
            </a:r>
          </a:p>
          <a:p>
            <a:r>
              <a:t>- Challenges/Aufgabenblatt.md, Abschnitt „Werkzeugübung: Browseranfrage mit curl reproduzieren“.</a:t>
            </a:r>
          </a:p>
          <a:p>
            <a:r>
              <a:t>
[Sources]
- Worksheet-reference pattern adapted from Slot-0-Cyberoperationen-im-Kontext-hybrider-Bedrohungen_Todos-umgesetzt.pptx, slide 12.
- Section title from Challenges/Aufgabenblatt.md, ‘Slot 1: HTTP und Web Security’.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
[Sources]
- Illustration generated with OpenAI ImageGen on 2026-08-21.
- Prompt: Magnifying lens scans layered web request and response cards and reveals an exposed document, a broken access-control boundary, and an unsafe input path, softly isometric editorial technology illustration, pale gray background, no text or logos.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
[Sources]
- Illustration generated with OpenAI ImageGen on 2026-08-21.
- Prompt: Two stylized university learners collaborate at laptops around a shared web-security investigation puzzle and small flag, premium low-poly paper-and-glass editorial 3D illustration, pale gray background, navy blue green and rust palette, no text or logos.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Falls Instanzen zentral bereitgestellt werden, stattdessen die zugeteilte Basis-URL verwenden.</a:t>
            </a:r>
          </a:p>
          <a:p>
            <a:r>
              <a:t>[Sources]</a:t>
            </a:r>
          </a:p>
          <a:p>
            <a:r>
              <a:t>- Challenges/README.md, Abschnitte „Lokaler Start für Lehrende“ und „Betrieb im Workshop“.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Für Confidential Document gestufte Hilfen früh anbieten. Login Admin wird gemeinsam moderiert.</a:t>
            </a:r>
          </a:p>
          <a:p>
            <a:r>
              <a:t>[Sources]</a:t>
            </a:r>
          </a:p>
          <a:p>
            <a:r>
              <a:t>- Challenges/Aufgabenblatt.md, Abschnitt „Slot 1: HTTP und Web Security“.</a:t>
            </a:r>
          </a:p>
          <a:p>
            <a:r>
              <a:t>- Challenges/Lehrendenhinweise.md, Abschnitt „Moderationsplan für Slot 1“.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Eine Person bedient Browser oder Terminal. Die Gruppe bestimmt Hypothese, nächste Aktion und Auswertung.</a:t>
            </a:r>
          </a:p>
          <a:p>
            <a:r>
              <a:t>[Sources]</a:t>
            </a:r>
          </a:p>
          <a:p>
            <a:r>
              <a:t>- Challenges/Lehrendenhinweise.md, Abschnitt „Gemeinsame Aufgabe: Login Admin“.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Zuerst eine reguläre, fehlgeschlagene Anmeldung senden. Keine Statuszahl vorwegnehmen, sondern die tatsächliche Antwort der Instanz lesen.</a:t>
            </a:r>
          </a:p>
          <a:p>
            <a:r>
              <a:t>[Sources]</a:t>
            </a:r>
          </a:p>
          <a:p>
            <a:r>
              <a:t>- Challenges/Lehrendenhinweise.md, erwarteter Lösungsweg für „Login Admin“, Schritte 1 bis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Den Testwert nur gegen die freigegebene Juice-Shop-Instanz verwenden.</a:t>
            </a:r>
          </a:p>
          <a:p>
            <a:r>
              <a:t>[Sources]</a:t>
            </a:r>
          </a:p>
          <a:p>
            <a:r>
              <a:t>- Challenges/Lehrendenhinweise.md, Moderationsimpulse und geprüfte Musteranfrage für „Login Admin“.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Geprüfte Musteranfrage für die Moderation:</a:t>
            </a:r>
          </a:p>
          <a:p>
            <a:r>
              <a:t>curl -v -sS -H 'Content-Type: application/json' --data "{\"email\":\"' OR 1=1--\",\"password\":\"test\"}" "$BASE_URL/rest/user/login"</a:t>
            </a:r>
          </a:p>
          <a:p>
            <a:r>
              <a:t>Der sichtbare Erfolg besteht aus HTTP 200, Token und admin@juice-sh.op. Diesen Lauf in Slot 2 auf ReAct übertragen.</a:t>
            </a:r>
          </a:p>
          <a:p>
            <a:r>
              <a:t>[Sources]</a:t>
            </a:r>
          </a:p>
          <a:p>
            <a:r>
              <a:t>- Challenges/Lehrendenhinweise.md, geprüfte Musteranfrage und erwartete Erfolgssignale.</a:t>
            </a:r>
          </a:p>
          <a:p>
            <a:r>
              <a:t>- Challenges/Aufgabenblatt.md, Abschnitt „Gemeinsame Aufgabe: Login Admin“.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21C24-7A6A-B681-74AA-29429CAEE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9750" y="3257550"/>
            <a:ext cx="8572500" cy="904875"/>
          </a:xfrm>
        </p:spPr>
        <p:txBody>
          <a:bodyPr lIns="0" tIns="0" rIns="0" bIns="0" anchor="ctr">
            <a:normAutofit/>
          </a:bodyPr>
          <a:lstStyle>
            <a:lvl1pPr algn="ctr">
              <a:buNone/>
              <a:defRPr sz="5400"/>
            </a:lvl1pPr>
          </a:lstStyle>
          <a:p>
            <a:pPr>
              <a:buNone/>
              <a:def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13457-E88A-729E-2343-D334E10D5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1250" y="4210050"/>
            <a:ext cx="7429500" cy="742950"/>
          </a:xfrm>
        </p:spPr>
        <p:txBody>
          <a:bodyPr lIns="0" tIns="0" rIns="0" bIns="0" anchor="t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ctr">
              <a:buNone/>
              <a:def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edit Master subtitle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9862E78-18EB-4EFA-9D08-E089151459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4BCE-BE82-6FF5-5C7E-8EDA3736F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7F435-C354-B390-F51A-EB54B00EA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750"/>
            <a:ext cx="10515600" cy="4191000"/>
          </a:xfrm>
        </p:spPr>
        <p:txBody>
          <a:bodyPr lIns="190500" tIns="171450" rIns="190500" bIns="171450" anchor="t"/>
          <a:lstStyle/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  <a:p>
            <a:pPr lvl="1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Second level</a:t>
            </a:r>
          </a:p>
          <a:p>
            <a:pPr lvl="2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Third level</a:t>
            </a:r>
          </a:p>
          <a:p>
            <a:pPr lvl="3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Fourth level</a:t>
            </a:r>
          </a:p>
          <a:p>
            <a:pPr lvl="4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Fifth level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0AB83843-CEE0-6E6B-2B30-5A3D986687F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Serify footer">
            <a:extLst>
              <a:ext uri="{FF2B5EF4-FFF2-40B4-BE49-F238E27FC236}">
                <a16:creationId xmlns:a16="http://schemas.microsoft.com/office/drawing/2014/main" id="{87F30370-3D1D-4ECA-8F08-20085C0DECA4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3A0C85-713D-2CA1-7DA5-36A9FA2AB34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714500" y="2286000"/>
            <a:ext cx="8763000" cy="2095500"/>
          </a:xfrm>
        </p:spPr>
        <p:txBody>
          <a:bodyPr lIns="0" tIns="0" rIns="0" bIns="0" anchor="ctr">
            <a:normAutofit/>
          </a:bodyPr>
          <a:lstStyle>
            <a:lvl1pPr algn="ctr">
              <a:buNone/>
              <a:defRPr sz="4400"/>
            </a:lvl1pPr>
          </a:lstStyle>
          <a:p>
            <a:pPr lvl="0" algn="ctr">
              <a:buNone/>
              <a:def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ADA0653D-F337-4F6D-B1FC-533A69E1BA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35D15A9-2976-48CB-81B8-836D30CE6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lIns="0" tIns="0" rIns="0" bIns="0" anchor="ctr">
            <a:normAutofit/>
          </a:bodyPr>
          <a:lstStyle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Body Placeholder">
            <a:extLst>
              <a:ext uri="{FF2B5EF4-FFF2-40B4-BE49-F238E27FC236}">
                <a16:creationId xmlns:a16="http://schemas.microsoft.com/office/drawing/2014/main" id="{AECF7F75-5BCE-40BD-864F-FC30E1E88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8750"/>
            <a:ext cx="10515600" cy="419100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t">
            <a:normAutofit/>
          </a:bodyPr>
          <a:lstStyle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56081A4D-C841-4779-9AD5-D79FC86F397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>
              <a:ext uri="{FF2B5EF4-FFF2-40B4-BE49-F238E27FC236}">
                <a16:creationId xmlns:a16="http://schemas.microsoft.com/office/drawing/2014/main" id="{CA1C5FAB-7F25-4FE4-AE35-2A21CCA6F979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4F9784F8-891D-4A64-8B3C-24E4B0A0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lIns="0" tIns="0" rIns="0" bIns="0" anchor="ctr">
            <a:normAutofit/>
          </a:bodyPr>
          <a:lstStyle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Left Text Placeholder">
            <a:extLst>
              <a:ext uri="{FF2B5EF4-FFF2-40B4-BE49-F238E27FC236}">
                <a16:creationId xmlns:a16="http://schemas.microsoft.com/office/drawing/2014/main" id="{883FD1F3-8EBC-4A2B-AE38-FD26980F9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8750"/>
            <a:ext cx="5143500" cy="419100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t">
            <a:normAutofit/>
          </a:bodyPr>
          <a:lstStyle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4" name="Right Text Placeholder">
            <a:extLst>
              <a:ext uri="{FF2B5EF4-FFF2-40B4-BE49-F238E27FC236}">
                <a16:creationId xmlns:a16="http://schemas.microsoft.com/office/drawing/2014/main" id="{70B74D96-4273-4B51-8B47-FC917DE3DF7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10300" y="1428750"/>
            <a:ext cx="5143500" cy="419100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t">
            <a:normAutofit/>
          </a:bodyPr>
          <a:lstStyle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48838A7C-CF7E-46D1-9126-0866CB0A7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7" name="Serify footer">
            <a:extLst>
              <a:ext uri="{FF2B5EF4-FFF2-40B4-BE49-F238E27FC236}">
                <a16:creationId xmlns:a16="http://schemas.microsoft.com/office/drawing/2014/main" id="{E75DE2CB-D4FF-46BA-A3E6-B836C155B77C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 Placeholder">
            <a:extLst>
              <a:ext uri="{FF2B5EF4-FFF2-40B4-BE49-F238E27FC236}">
                <a16:creationId xmlns:a16="http://schemas.microsoft.com/office/drawing/2014/main" id="{33DEF908-3D8A-4F68-8E74-19F3AC5D2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1714500"/>
            <a:ext cx="9144000" cy="266700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ctr">
            <a:normAutofit/>
          </a:bodyPr>
          <a:lstStyle>
            <a:lvl1pPr algn="ctr">
              <a:buNone/>
              <a:defRPr sz="3800" i="1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ctr">
              <a:buNone/>
              <a:defRPr sz="25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5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quote text</a:t>
            </a:r>
          </a:p>
        </p:txBody>
      </p:sp>
      <p:sp>
        <p:nvSpPr>
          <p:cNvPr id="3" name="Attribution Placeholder">
            <a:extLst>
              <a:ext uri="{FF2B5EF4-FFF2-40B4-BE49-F238E27FC236}">
                <a16:creationId xmlns:a16="http://schemas.microsoft.com/office/drawing/2014/main" id="{74538CE1-E0A6-4103-9742-664A7936CE7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667000" y="4524375"/>
            <a:ext cx="685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lIns="0" tIns="0" rIns="0" bIns="0" anchor="ctr">
            <a:normAutofit/>
          </a:bodyPr>
          <a:lstStyle>
            <a:lvl1pPr algn="ctr">
              <a:buNone/>
              <a:defRPr sz="18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ctr">
              <a:buNone/>
              <a:def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edit attribution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4A3A86A2-6840-4884-B037-0B0ABC220FC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>
              <a:ext uri="{FF2B5EF4-FFF2-40B4-BE49-F238E27FC236}">
                <a16:creationId xmlns:a16="http://schemas.microsoft.com/office/drawing/2014/main" id="{B5D36575-52AF-4EFB-BA48-28C0C6291155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F7244EC5-DBE0-4E4E-934F-0A582DA4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lIns="0" tIns="0" rIns="0" bIns="0" anchor="ctr">
            <a:normAutofit/>
          </a:bodyPr>
          <a:lstStyle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7AC0A22-DBDE-40F0-8952-F6705EE78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1257300"/>
            <a:ext cx="10515600" cy="4552950"/>
          </a:xfrm>
          <a:prstGeom prst="rect">
            <a:avLst/>
          </a:prstGeom>
          <a:noFill/>
          <a:ln w="9525">
            <a:solidFill>
              <a:srgbClr val="DFE1E7"/>
            </a:solidFill>
            <a:prstDash val="solid"/>
          </a:ln>
        </p:spPr>
        <p:txBody>
          <a:bodyPr anchor="ctr">
            <a:normAutofit/>
          </a:bodyPr>
          <a:lstStyle>
            <a:lvl1pPr algn="ctr">
              <a:buNone/>
              <a:defRPr sz="2200">
                <a:solidFill>
                  <a:schemeClr val="tx1">
                    <a:tint val="60000"/>
                  </a:schemeClr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FB562615-7B03-4913-9403-C32F2C1161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>
              <a:ext uri="{FF2B5EF4-FFF2-40B4-BE49-F238E27FC236}">
                <a16:creationId xmlns:a16="http://schemas.microsoft.com/office/drawing/2014/main" id="{E9478C55-B794-482E-8508-58C1E88254C6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ree Columns /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33A3A1A-A9DC-4FEC-BA0E-18D544CD9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49B4A7A8-AC27-4DEA-B93F-885A62F7A7C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Comparison panel 1">
            <a:extLst>
              <a:ext uri="{FF2B5EF4-FFF2-40B4-BE49-F238E27FC236}">
                <a16:creationId xmlns:a16="http://schemas.microsoft.com/office/drawing/2014/main" id="{2896FAD3-11B9-4AB2-94F7-127D65269DB2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3352800" cy="36385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B33180FA-F1C1-43F7-A022-B9CD36D60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19250"/>
            <a:ext cx="3352800" cy="363855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10" name="Comparison panel 2">
            <a:extLst>
              <a:ext uri="{FF2B5EF4-FFF2-40B4-BE49-F238E27FC236}">
                <a16:creationId xmlns:a16="http://schemas.microsoft.com/office/drawing/2014/main" id="{D8DE8C12-C349-4682-B617-8B456A23B97E}"/>
              </a:ext>
            </a:extLst>
          </p:cNvPr>
          <p:cNvSpPr>
            <a:spLocks noGrp="1"/>
          </p:cNvSpPr>
          <p:nvPr/>
        </p:nvSpPr>
        <p:spPr>
          <a:xfrm>
            <a:off x="4419600" y="1619250"/>
            <a:ext cx="3352800" cy="36385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4F4786-B17C-4D3E-8352-4D9DFE65673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19600" y="1619250"/>
            <a:ext cx="3352800" cy="363855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6" name="Content panel 3">
            <a:extLst>
              <a:ext uri="{FF2B5EF4-FFF2-40B4-BE49-F238E27FC236}">
                <a16:creationId xmlns:a16="http://schemas.microsoft.com/office/drawing/2014/main" id="{E79DFF55-2F99-4000-8F44-014A0485A239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3352800" cy="36385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C25E4EE-7438-4EC1-BFB7-DEFE5B82941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001000" y="1619250"/>
            <a:ext cx="3352800" cy="363855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8" name="Serify footer">
            <a:extLst>
              <a:ext uri="{FF2B5EF4-FFF2-40B4-BE49-F238E27FC236}">
                <a16:creationId xmlns:a16="http://schemas.microsoft.com/office/drawing/2014/main" id="{922EC263-AA0F-4360-93BD-39E0D0E9D859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9D7F1EC9-5078-4779-A590-6E0F3B035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8D55A2F-4D29-405E-A068-DBCAD321907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472AA9DB-4A58-4BEC-9099-B411EA413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614107" y="1428750"/>
            <a:ext cx="4563142" cy="4191000"/>
          </a:xfrm>
        </p:spPr>
        <p:txBody>
          <a:bodyPr/>
          <a:lstStyle/>
          <a:p>
            <a:r>
              <a:t>Click to add picture</a:t>
            </a:r>
          </a:p>
        </p:txBody>
      </p:sp>
      <p:sp>
        <p:nvSpPr>
          <p:cNvPr id="5" name="Content panel 2">
            <a:extLst>
              <a:ext uri="{FF2B5EF4-FFF2-40B4-BE49-F238E27FC236}">
                <a16:creationId xmlns:a16="http://schemas.microsoft.com/office/drawing/2014/main" id="{7D2011CC-1508-459F-9A8B-8D6E0798ED04}"/>
              </a:ext>
            </a:extLst>
          </p:cNvPr>
          <p:cNvSpPr>
            <a:spLocks noGrp="1"/>
          </p:cNvSpPr>
          <p:nvPr/>
        </p:nvSpPr>
        <p:spPr>
          <a:xfrm>
            <a:off x="7063550" y="2115598"/>
            <a:ext cx="4398550" cy="2817400"/>
          </a:xfrm>
          <a:prstGeom prst="roundRect">
            <a:avLst>
              <a:gd name="adj" fmla="val 181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0456F7-59AD-4282-8587-69B006BCD0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063550" y="2115598"/>
            <a:ext cx="4398550" cy="281740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7" name="Serify footer">
            <a:extLst>
              <a:ext uri="{FF2B5EF4-FFF2-40B4-BE49-F238E27FC236}">
                <a16:creationId xmlns:a16="http://schemas.microsoft.com/office/drawing/2014/main" id="{F68C8A2D-A045-43B3-82EE-3EC1A195300F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D483271-9E16-4A09-B48C-F5AF30416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E45E6E7-DB62-4A08-AF07-D01D5489F8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Image explanation panel">
            <a:extLst>
              <a:ext uri="{FF2B5EF4-FFF2-40B4-BE49-F238E27FC236}">
                <a16:creationId xmlns:a16="http://schemas.microsoft.com/office/drawing/2014/main" id="{3E456DC3-FC21-4B97-BC0A-D255C5A54AF2}"/>
              </a:ext>
            </a:extLst>
          </p:cNvPr>
          <p:cNvSpPr>
            <a:spLocks noGrp="1"/>
          </p:cNvSpPr>
          <p:nvPr/>
        </p:nvSpPr>
        <p:spPr>
          <a:xfrm>
            <a:off x="729901" y="2115598"/>
            <a:ext cx="4398550" cy="281740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05F30EE-2393-4322-851C-2FF75A085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901" y="2115598"/>
            <a:ext cx="4398550" cy="281740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5" name="Picture panel 2">
            <a:extLst>
              <a:ext uri="{FF2B5EF4-FFF2-40B4-BE49-F238E27FC236}">
                <a16:creationId xmlns:a16="http://schemas.microsoft.com/office/drawing/2014/main" id="{134A6470-06D9-47A2-83E1-F90E44B305FF}"/>
              </a:ext>
            </a:extLst>
          </p:cNvPr>
          <p:cNvSpPr>
            <a:spLocks noGrp="1"/>
          </p:cNvSpPr>
          <p:nvPr/>
        </p:nvSpPr>
        <p:spPr>
          <a:xfrm>
            <a:off x="6014752" y="1428750"/>
            <a:ext cx="4563142" cy="4191000"/>
          </a:xfrm>
          <a:prstGeom prst="roundRect">
            <a:avLst>
              <a:gd name="adj" fmla="val 181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82722097-74C2-4E68-8747-B0D9344F5DD5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6014752" y="1428750"/>
            <a:ext cx="4563142" cy="4191000"/>
          </a:xfrm>
        </p:spPr>
        <p:txBody>
          <a:bodyPr/>
          <a:lstStyle/>
          <a:p>
            <a:r>
              <a:t>Click to add picture</a:t>
            </a:r>
          </a:p>
        </p:txBody>
      </p:sp>
      <p:sp>
        <p:nvSpPr>
          <p:cNvPr id="7" name="Serify footer">
            <a:extLst>
              <a:ext uri="{FF2B5EF4-FFF2-40B4-BE49-F238E27FC236}">
                <a16:creationId xmlns:a16="http://schemas.microsoft.com/office/drawing/2014/main" id="{425136EC-85B9-46B9-9B9C-E5BAA05F5B00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C94EFF5-A12E-4E29-8E74-6912388DE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B0FB011-12CB-4475-B18C-043EB5A4BA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Metric panel 1">
            <a:extLst>
              <a:ext uri="{FF2B5EF4-FFF2-40B4-BE49-F238E27FC236}">
                <a16:creationId xmlns:a16="http://schemas.microsoft.com/office/drawing/2014/main" id="{2FE943A5-C94B-4047-855D-2ED6931637A6}"/>
              </a:ext>
            </a:extLst>
          </p:cNvPr>
          <p:cNvSpPr>
            <a:spLocks noGrp="1"/>
          </p:cNvSpPr>
          <p:nvPr/>
        </p:nvSpPr>
        <p:spPr>
          <a:xfrm>
            <a:off x="838200" y="1371600"/>
            <a:ext cx="3352800" cy="12001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8979CC02-91CB-4056-8043-D2FE20093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1600"/>
            <a:ext cx="3352800" cy="1200150"/>
          </a:xfrm>
        </p:spPr>
        <p:txBody>
          <a:bodyPr lIns="190500" tIns="171450" rIns="190500" bIns="171450" anchor="ctr"/>
          <a:lstStyle/>
          <a:p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10" name="Metric panel 2">
            <a:extLst>
              <a:ext uri="{FF2B5EF4-FFF2-40B4-BE49-F238E27FC236}">
                <a16:creationId xmlns:a16="http://schemas.microsoft.com/office/drawing/2014/main" id="{472E48AC-D775-4BEF-A4A5-30E7E967A164}"/>
              </a:ext>
            </a:extLst>
          </p:cNvPr>
          <p:cNvSpPr>
            <a:spLocks noGrp="1"/>
          </p:cNvSpPr>
          <p:nvPr/>
        </p:nvSpPr>
        <p:spPr>
          <a:xfrm>
            <a:off x="4419600" y="1371600"/>
            <a:ext cx="3352800" cy="12001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FE0C6D1-28C9-4D2D-8B48-65425981929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19600" y="1371600"/>
            <a:ext cx="3352800" cy="1200150"/>
          </a:xfrm>
        </p:spPr>
        <p:txBody>
          <a:bodyPr lIns="190500" tIns="171450" rIns="190500" bIns="171450" anchor="ctr"/>
          <a:lstStyle/>
          <a:p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6" name="Content panel 3">
            <a:extLst>
              <a:ext uri="{FF2B5EF4-FFF2-40B4-BE49-F238E27FC236}">
                <a16:creationId xmlns:a16="http://schemas.microsoft.com/office/drawing/2014/main" id="{E3D16A00-F704-4BF0-9047-A5F34A617DC3}"/>
              </a:ext>
            </a:extLst>
          </p:cNvPr>
          <p:cNvSpPr>
            <a:spLocks noGrp="1"/>
          </p:cNvSpPr>
          <p:nvPr/>
        </p:nvSpPr>
        <p:spPr>
          <a:xfrm>
            <a:off x="8001000" y="1371600"/>
            <a:ext cx="3352800" cy="1200150"/>
          </a:xfrm>
          <a:prstGeom prst="roundRect">
            <a:avLst>
              <a:gd name="adj" fmla="val 347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2B6FD00-BB61-4977-819E-F199FBB21F2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001000" y="1371600"/>
            <a:ext cx="3352800" cy="1200150"/>
          </a:xfrm>
        </p:spPr>
        <p:txBody>
          <a:bodyPr lIns="190500" tIns="171450" rIns="190500" bIns="171450" anchor="ctr"/>
          <a:lstStyle/>
          <a:p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11" name="Evidence panel">
            <a:extLst>
              <a:ext uri="{FF2B5EF4-FFF2-40B4-BE49-F238E27FC236}">
                <a16:creationId xmlns:a16="http://schemas.microsoft.com/office/drawing/2014/main" id="{F4FFA19A-266D-4399-BA0B-167C0EB4F019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10515600" cy="281940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12" name="placeholder_6">
            <a:extLst>
              <a:ext uri="{FF2B5EF4-FFF2-40B4-BE49-F238E27FC236}">
                <a16:creationId xmlns:a16="http://schemas.microsoft.com/office/drawing/2014/main" id="{3B8937F5-3082-45F9-94A0-F497F81D9F0B}"/>
              </a:ext>
            </a:extLst>
          </p:cNvPr>
          <p:cNvSpPr>
            <a:spLocks noGrp="1"/>
          </p:cNvSpPr>
          <p:nvPr>
            <p:ph type="chart" idx="4"/>
          </p:nvPr>
        </p:nvSpPr>
        <p:spPr>
          <a:xfrm>
            <a:off x="1123950" y="3086100"/>
            <a:ext cx="9944100" cy="22479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add chart or key evidence</a:t>
            </a:r>
          </a:p>
        </p:txBody>
      </p:sp>
      <p:sp>
        <p:nvSpPr>
          <p:cNvPr id="8" name="Serify footer">
            <a:extLst>
              <a:ext uri="{FF2B5EF4-FFF2-40B4-BE49-F238E27FC236}">
                <a16:creationId xmlns:a16="http://schemas.microsoft.com/office/drawing/2014/main" id="{C78FD780-60CF-42AF-8150-5E1E06A43EF7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de / Comm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71D4B9C-A036-4ACA-BB77-42508E57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DD98FF72-8A23-42C8-A134-78CCC119474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Content panel 1">
            <a:extLst>
              <a:ext uri="{FF2B5EF4-FFF2-40B4-BE49-F238E27FC236}">
                <a16:creationId xmlns:a16="http://schemas.microsoft.com/office/drawing/2014/main" id="{CC013E72-9976-4AC2-A3BF-9414B4D655F4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10515600" cy="4191000"/>
          </a:xfrm>
          <a:prstGeom prst="roundRect">
            <a:avLst>
              <a:gd name="adj" fmla="val 1818"/>
            </a:avLst>
          </a:prstGeom>
          <a:solidFill>
            <a:srgbClr val="111111"/>
          </a:solidFill>
          <a:ln w="9525">
            <a:solidFill>
              <a:srgbClr val="48536D"/>
            </a:solidFill>
            <a:prstDash val="solid"/>
          </a:ln>
        </p:spPr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29053639-32F6-413A-81A7-38C632E3E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8750"/>
            <a:ext cx="10515600" cy="4191000"/>
          </a:xfrm>
        </p:spPr>
        <p:txBody>
          <a:bodyPr lIns="266700" tIns="247650" rIns="266700" bIns="247650" anchor="t"/>
          <a:lstStyle/>
          <a:p>
            <a:pPr algn="l">
              <a:buNone/>
              <a:defRPr sz="135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Paste code or a command here</a:t>
            </a:r>
          </a:p>
        </p:txBody>
      </p:sp>
      <p:sp>
        <p:nvSpPr>
          <p:cNvPr id="6" name="Serify footer">
            <a:extLst>
              <a:ext uri="{FF2B5EF4-FFF2-40B4-BE49-F238E27FC236}">
                <a16:creationId xmlns:a16="http://schemas.microsoft.com/office/drawing/2014/main" id="{91194A3A-7FC6-4DB9-A5CD-26B00B5860FD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de + 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4D163290-2818-43E6-A662-9A35070CD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9BE75ED-38B6-4444-9C52-94309E2E3BE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Code panel">
            <a:extLst>
              <a:ext uri="{FF2B5EF4-FFF2-40B4-BE49-F238E27FC236}">
                <a16:creationId xmlns:a16="http://schemas.microsoft.com/office/drawing/2014/main" id="{2267A199-8232-4A9A-964B-3842591E64EE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6153150" cy="419100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C5DDB067-D827-440A-8E83-1913EA6B0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8750"/>
            <a:ext cx="6153150" cy="4191000"/>
          </a:xfrm>
        </p:spPr>
        <p:txBody>
          <a:bodyPr lIns="190500" tIns="171450" rIns="190500" bIns="171450" anchor="t"/>
          <a:lstStyle/>
          <a:p>
            <a:pPr algn="l">
              <a:buNone/>
              <a:defRPr sz="1275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t>Paste code here</a:t>
            </a:r>
          </a:p>
        </p:txBody>
      </p:sp>
      <p:sp>
        <p:nvSpPr>
          <p:cNvPr id="5" name="Content panel 2">
            <a:extLst>
              <a:ext uri="{FF2B5EF4-FFF2-40B4-BE49-F238E27FC236}">
                <a16:creationId xmlns:a16="http://schemas.microsoft.com/office/drawing/2014/main" id="{5B33C448-78C7-449D-851D-03D14D615978}"/>
              </a:ext>
            </a:extLst>
          </p:cNvPr>
          <p:cNvSpPr>
            <a:spLocks noGrp="1"/>
          </p:cNvSpPr>
          <p:nvPr/>
        </p:nvSpPr>
        <p:spPr>
          <a:xfrm>
            <a:off x="7219950" y="1428750"/>
            <a:ext cx="4133850" cy="4191000"/>
          </a:xfrm>
          <a:prstGeom prst="roundRect">
            <a:avLst>
              <a:gd name="adj" fmla="val 2062"/>
            </a:avLst>
          </a:prstGeom>
          <a:solidFill>
            <a:srgbClr val="111111"/>
          </a:solidFill>
          <a:ln w="9525">
            <a:solidFill>
              <a:srgbClr val="48536D"/>
            </a:solidFill>
            <a:prstDash val="solid"/>
          </a:ln>
        </p:spPr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56BC92-D01A-4B9E-B75C-7B8C303BF4B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219950" y="1428750"/>
            <a:ext cx="4133850" cy="4191000"/>
          </a:xfrm>
        </p:spPr>
        <p:txBody>
          <a:bodyPr lIns="247650" tIns="209550" rIns="247650" bIns="209550" anchor="t"/>
          <a:lstStyle/>
          <a:p>
            <a:pPr algn="l">
              <a:buNone/>
              <a:defRPr sz="135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Explain what matters</a:t>
            </a:r>
          </a:p>
        </p:txBody>
      </p:sp>
      <p:sp>
        <p:nvSpPr>
          <p:cNvPr id="7" name="Serify footer">
            <a:extLst>
              <a:ext uri="{FF2B5EF4-FFF2-40B4-BE49-F238E27FC236}">
                <a16:creationId xmlns:a16="http://schemas.microsoft.com/office/drawing/2014/main" id="{D2898F6C-EC88-404B-A85A-732E57F8B144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 /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EE608FFB-3F47-4C84-A68C-F3160FE4C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0" y="2381250"/>
            <a:ext cx="8572500" cy="952500"/>
          </a:xfrm>
        </p:spPr>
        <p:txBody>
          <a:bodyPr lIns="0" tIns="0" rIns="0" bIns="0" anchor="ctr"/>
          <a:lstStyle/>
          <a:p>
            <a:pPr>
              <a:buNone/>
              <a:def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44ADC0E7-F402-458D-9D07-D113DA417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1250" y="3524250"/>
            <a:ext cx="7429500" cy="762000"/>
          </a:xfrm>
        </p:spPr>
        <p:txBody>
          <a:bodyPr lIns="0" tIns="0" rIns="0" bIns="0" anchor="ctr"/>
          <a:lstStyle/>
          <a:p>
            <a:pPr algn="ctr">
              <a:buNone/>
              <a:def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Contact or next step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5AE97534-3B68-465D-B918-7D768D1146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rify footer">
            <a:extLst>
              <a:ext uri="{FF2B5EF4-FFF2-40B4-BE49-F238E27FC236}">
                <a16:creationId xmlns:a16="http://schemas.microsoft.com/office/drawing/2014/main" id="{8727E097-492E-4EA0-9F02-97BEE7E2D05A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4244B10-2239-4020-9B30-5EBFD810F59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EF733AD4-02BC-4223-82D0-97F842FBB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Table panel">
            <a:extLst>
              <a:ext uri="{FF2B5EF4-FFF2-40B4-BE49-F238E27FC236}">
                <a16:creationId xmlns:a16="http://schemas.microsoft.com/office/drawing/2014/main" id="{E584E24A-8DAF-4CD2-8A9A-3C81C7127207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10515600" cy="419100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Table Content Placeholder">
            <a:extLst>
              <a:ext uri="{FF2B5EF4-FFF2-40B4-BE49-F238E27FC236}">
                <a16:creationId xmlns:a16="http://schemas.microsoft.com/office/drawing/2014/main" id="{D68100DA-7C1E-4D9B-AF3E-0972E4B36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950" y="1762125"/>
            <a:ext cx="9944100" cy="3143250"/>
          </a:xfrm>
        </p:spPr>
        <p:txBody>
          <a:bodyPr lIns="190500" tIns="171450" rIns="190500" bIns="171450" anchor="t"/>
          <a:lstStyle/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table</a:t>
            </a:r>
          </a:p>
        </p:txBody>
      </p:sp>
      <p:sp>
        <p:nvSpPr>
          <p:cNvPr id="5" name="Table Caption Placeholder">
            <a:extLst>
              <a:ext uri="{FF2B5EF4-FFF2-40B4-BE49-F238E27FC236}">
                <a16:creationId xmlns:a16="http://schemas.microsoft.com/office/drawing/2014/main" id="{CC75B18B-3DC1-41D3-937E-08244CB7D15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123950" y="5086350"/>
            <a:ext cx="9944100" cy="28575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t">
            <a:normAutofit/>
          </a:bodyPr>
          <a:lstStyle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ctr">
              <a:buNone/>
              <a:defRPr sz="9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Add a concise table note or interpretation</a:t>
            </a:r>
          </a:p>
        </p:txBody>
      </p:sp>
      <p:sp>
        <p:nvSpPr>
          <p:cNvPr id="6" name="Serify footer">
            <a:extLst>
              <a:ext uri="{FF2B5EF4-FFF2-40B4-BE49-F238E27FC236}">
                <a16:creationId xmlns:a16="http://schemas.microsoft.com/office/drawing/2014/main" id="{475D5017-EA27-4F8A-A924-8E58189AD3BD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A6719998-640C-42FA-B65E-A15DB1508D6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erify Master">
    <p:bg>
      <p:bgPr>
        <a:solidFill>
          <a:srgbClr val="E6E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17"/>
          <p:cNvPicPr>
            <a:picLocks noChangeAspect="1"/>
          </p:cNvPicPr>
          <p:nvPr/>
        </p:nvPicPr>
        <p:blipFill>
          <a:blip r:embed="rId18">
            <a:alphaModFix amt="7000"/>
          </a:blip>
          <a:stretch>
            <a:fillRect/>
          </a:stretch>
        </p:blipFill>
        <p:spPr>
          <a:xfrm>
            <a:off x="0" y="0"/>
            <a:ext cx="9008295" cy="6857999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BFABE0-195D-C941-5E85-5C3B85F59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F56EF-C63C-95C1-9E97-66C4844FB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DE2DA7B-B1E7-24C3-2A34-1154C781E2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11382375" y="193834"/>
            <a:ext cx="400050" cy="39338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b="0" i="0" kern="1200">
          <a:solidFill>
            <a:srgbClr val="111111"/>
          </a:solidFill>
          <a:latin typeface="Avenir Next"/>
          <a:ea typeface="Avenir Next"/>
          <a:cs typeface="Avenir Next"/>
        </a:defRPr>
      </a:lvl1pPr>
    </p:titleStyle>
    <p:bodyStyle>
      <a:lvl1pPr marL="342900" indent="-228600" algn="l" defTabSz="914400">
        <a:lnSpc>
          <a:spcPct val="115000"/>
        </a:lnSpc>
        <a:spcBef>
          <a:spcPts val="0"/>
        </a:spcBef>
        <a:spcAft>
          <a:spcPts val="1400"/>
        </a:spcAft>
        <a:buFont typeface="Avenir Next"/>
        <a:buChar char="•"/>
        <a:defRPr sz="2800" kern="1200">
          <a:solidFill>
            <a:srgbClr val="111111"/>
          </a:solidFill>
          <a:latin typeface="Avenir Next"/>
          <a:ea typeface="Avenir Next"/>
          <a:cs typeface="Avenir Next"/>
        </a:defRPr>
      </a:lvl1pPr>
      <a:lvl2pPr marL="8001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2400" kern="1200">
          <a:solidFill>
            <a:srgbClr val="111111"/>
          </a:solidFill>
          <a:latin typeface="Avenir Next"/>
          <a:ea typeface="Avenir Next"/>
          <a:cs typeface="Avenir Next"/>
        </a:defRPr>
      </a:lvl2pPr>
      <a:lvl3pPr marL="12573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2000" kern="1200">
          <a:solidFill>
            <a:srgbClr val="111111"/>
          </a:solidFill>
          <a:latin typeface="Avenir Next"/>
          <a:ea typeface="Avenir Next"/>
          <a:cs typeface="Avenir Next"/>
        </a:defRPr>
      </a:lvl3pPr>
      <a:lvl4pPr marL="17145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4pPr>
      <a:lvl5pPr marL="21717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5pPr>
      <a:lvl6pPr marL="26289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6pPr>
      <a:lvl7pPr marL="30861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7pPr>
      <a:lvl8pPr marL="35433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8pPr>
      <a:lvl9pPr marL="40005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1pPr>
      <a:lvl2pPr marL="4572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2pPr>
      <a:lvl3pPr marL="9144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pening-kicker">
            <a:extLst>
              <a:ext uri="{FF2B5EF4-FFF2-40B4-BE49-F238E27FC236}">
                <a16:creationId xmlns:a16="http://schemas.microsoft.com/office/drawing/2014/main" id="{E9234281-9DBC-45F2-B3FE-894EC4F1BBD4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809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385D8A"/>
                </a:solidFill>
              </a:defRPr>
            </a:pPr>
            <a:r>
              <a:rPr sz="1275" b="1">
                <a:solidFill>
                  <a:srgbClr val="385D8A"/>
                </a:solidFill>
              </a:rPr>
              <a:t>STUDIENSTIFTUNG AG CYBERRAUM</a:t>
            </a:r>
          </a:p>
        </p:txBody>
      </p:sp>
      <p:sp>
        <p:nvSpPr>
          <p:cNvPr id="6" name="opening-title">
            <a:extLst>
              <a:ext uri="{FF2B5EF4-FFF2-40B4-BE49-F238E27FC236}">
                <a16:creationId xmlns:a16="http://schemas.microsoft.com/office/drawing/2014/main" id="{307C3D78-BA77-482F-90B8-F05ABF9F97F0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857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350" b="1">
                <a:solidFill>
                  <a:srgbClr val="26324A"/>
                </a:solidFill>
              </a:defRPr>
            </a:pPr>
            <a:r>
              <a:rPr sz="4350" b="1">
                <a:solidFill>
                  <a:srgbClr val="26324A"/>
                </a:solidFill>
              </a:rPr>
              <a:t>Web Security verstehen</a:t>
            </a:r>
          </a:p>
        </p:txBody>
      </p:sp>
      <p:sp>
        <p:nvSpPr>
          <p:cNvPr id="7" name="opening-subtitle">
            <a:extLst>
              <a:ext uri="{FF2B5EF4-FFF2-40B4-BE49-F238E27FC236}">
                <a16:creationId xmlns:a16="http://schemas.microsoft.com/office/drawing/2014/main" id="{3FCEE0BB-EFD5-458F-A03E-25B20ED6D92F}"/>
              </a:ext>
            </a:extLst>
          </p:cNvPr>
          <p:cNvSpPr>
            <a:spLocks noGrp="1"/>
          </p:cNvSpPr>
          <p:nvPr/>
        </p:nvSpPr>
        <p:spPr>
          <a:xfrm>
            <a:off x="876300" y="2438400"/>
            <a:ext cx="8191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0">
                <a:solidFill>
                  <a:srgbClr val="5C667A"/>
                </a:solidFill>
              </a:defRPr>
            </a:pPr>
            <a:r>
              <a:rPr sz="2025" b="0">
                <a:solidFill>
                  <a:srgbClr val="5C667A"/>
                </a:solidFill>
              </a:rPr>
              <a:t>Die gemeinsame Grundlage für unsere CTF-Runde und den späteren Agentenvergleich</a:t>
            </a:r>
          </a:p>
        </p:txBody>
      </p:sp>
      <p:sp>
        <p:nvSpPr>
          <p:cNvPr id="8" name="opening-rule">
            <a:extLst>
              <a:ext uri="{FF2B5EF4-FFF2-40B4-BE49-F238E27FC236}">
                <a16:creationId xmlns:a16="http://schemas.microsoft.com/office/drawing/2014/main" id="{E0574B73-B312-4DC9-A195-CB17D8C2ECE3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0" cy="0"/>
          </a:xfrm>
          <a:prstGeom prst="line">
            <a:avLst/>
          </a:prstGeom>
          <a:noFill/>
          <a:ln w="38100">
            <a:solidFill>
              <a:srgbClr val="385D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opening-question">
            <a:extLst>
              <a:ext uri="{FF2B5EF4-FFF2-40B4-BE49-F238E27FC236}">
                <a16:creationId xmlns:a16="http://schemas.microsoft.com/office/drawing/2014/main" id="{221451FF-ECFF-44E1-85B9-06C59A540D5B}"/>
              </a:ext>
            </a:extLst>
          </p:cNvPr>
          <p:cNvSpPr>
            <a:spLocks noGrp="1"/>
          </p:cNvSpPr>
          <p:nvPr/>
        </p:nvSpPr>
        <p:spPr>
          <a:xfrm>
            <a:off x="876300" y="3924300"/>
            <a:ext cx="7810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26324A"/>
                </a:solidFill>
              </a:defRPr>
            </a:pPr>
            <a:r>
              <a:rPr sz="1950" b="1">
                <a:solidFill>
                  <a:srgbClr val="26324A"/>
                </a:solidFill>
              </a:rPr>
              <a:t>Wie wird aus einer Beobachtung ein begründeter nächster Schritt?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E52881E6-D01C-4CF2-8B0E-1ACF589820F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4090751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01C6FA20-8C7A-45A2-97DB-E5412B287F48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Einblick in Schwachstellen</a:t>
            </a:r>
          </a:p>
        </p:txBody>
      </p:sp>
      <p:sp>
        <p:nvSpPr>
          <p:cNvPr id="2" name="Example body card">
            <a:extLst>
              <a:ext uri="{FF2B5EF4-FFF2-40B4-BE49-F238E27FC236}">
                <a16:creationId xmlns:a16="http://schemas.microsoft.com/office/drawing/2014/main" id="{0E91AD81-0852-40FB-82EC-69811C3FB236}"/>
              </a:ext>
            </a:extLst>
          </p:cNvPr>
          <p:cNvSpPr>
            <a:spLocks noGrp="1"/>
          </p:cNvSpPr>
          <p:nvPr/>
        </p:nvSpPr>
        <p:spPr>
          <a:xfrm>
            <a:off x="1123950" y="2103120"/>
            <a:ext cx="9944100" cy="2373630"/>
          </a:xfrm>
          <a:prstGeom prst="roundRect">
            <a:avLst>
              <a:gd name="adj" fmla="val 484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r>
              <a:rPr sz="17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Webanwendung in Browser, Server und Datenbank zerlegen</a:t>
            </a:r>
          </a:p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r>
              <a:rPr sz="17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Anfrage, Antwort und Zugriffskontrolle unterscheiden </a:t>
            </a:r>
          </a:p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r>
              <a:rPr sz="17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Schwachstellen identifizieren</a:t>
            </a:r>
          </a:p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r>
              <a:rPr sz="17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Kleine Versuche beobachten, begründen und dokumentieren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A15F3C25-735F-605C-7E59-9D5C7D30F6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020038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369C0886-DDAF-C990-6752-F805EA7D8D7C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Capture The Flag: Voraussetzungen</a:t>
            </a:r>
          </a:p>
        </p:txBody>
      </p:sp>
      <p:sp>
        <p:nvSpPr>
          <p:cNvPr id="3" name="safety-0">
            <a:extLst>
              <a:ext uri="{FF2B5EF4-FFF2-40B4-BE49-F238E27FC236}">
                <a16:creationId xmlns:a16="http://schemas.microsoft.com/office/drawing/2014/main" id="{3747E731-FDF3-0D29-DBBC-F10E46A7964E}"/>
              </a:ext>
            </a:extLst>
          </p:cNvPr>
          <p:cNvSpPr>
            <a:spLocks noGrp="1"/>
          </p:cNvSpPr>
          <p:nvPr/>
        </p:nvSpPr>
        <p:spPr>
          <a:xfrm>
            <a:off x="838200" y="16002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392"/>
            </a:srgbClr>
          </a:solidFill>
          <a:ln w="11430">
            <a:solidFill>
              <a:srgbClr val="DFC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afety-number-0-panel">
            <a:extLst>
              <a:ext uri="{FF2B5EF4-FFF2-40B4-BE49-F238E27FC236}">
                <a16:creationId xmlns:a16="http://schemas.microsoft.com/office/drawing/2014/main" id="{86DD42C2-3BBB-22D4-E747-D91F91FDCEE2}"/>
              </a:ext>
            </a:extLst>
          </p:cNvPr>
          <p:cNvSpPr>
            <a:spLocks noGrp="1"/>
          </p:cNvSpPr>
          <p:nvPr/>
        </p:nvSpPr>
        <p:spPr>
          <a:xfrm>
            <a:off x="1047750" y="18002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934E55"/>
          </a:solidFill>
          <a:ln w="9525">
            <a:solidFill>
              <a:srgbClr val="934E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afety-title-0">
            <a:extLst>
              <a:ext uri="{FF2B5EF4-FFF2-40B4-BE49-F238E27FC236}">
                <a16:creationId xmlns:a16="http://schemas.microsoft.com/office/drawing/2014/main" id="{50A8D920-32FD-F8CD-B002-88FBED5DF5AB}"/>
              </a:ext>
            </a:extLst>
          </p:cNvPr>
          <p:cNvSpPr>
            <a:spLocks noGrp="1"/>
          </p:cNvSpPr>
          <p:nvPr/>
        </p:nvSpPr>
        <p:spPr>
          <a:xfrm>
            <a:off x="1771650" y="16954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Workshopinstanz</a:t>
            </a:r>
          </a:p>
        </p:txBody>
      </p:sp>
      <p:sp>
        <p:nvSpPr>
          <p:cNvPr id="8" name="safety-detail-0">
            <a:extLst>
              <a:ext uri="{FF2B5EF4-FFF2-40B4-BE49-F238E27FC236}">
                <a16:creationId xmlns:a16="http://schemas.microsoft.com/office/drawing/2014/main" id="{ED782415-1B2A-6D00-35A3-5953BEDC1D1B}"/>
              </a:ext>
            </a:extLst>
          </p:cNvPr>
          <p:cNvSpPr>
            <a:spLocks noGrp="1"/>
          </p:cNvSpPr>
          <p:nvPr/>
        </p:nvSpPr>
        <p:spPr>
          <a:xfrm>
            <a:off x="1771650" y="20383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Wir arbeiten in der Juice Shop CTF-Umgebung.</a:t>
            </a:r>
          </a:p>
        </p:txBody>
      </p:sp>
      <p:sp>
        <p:nvSpPr>
          <p:cNvPr id="9" name="safety-1">
            <a:extLst>
              <a:ext uri="{FF2B5EF4-FFF2-40B4-BE49-F238E27FC236}">
                <a16:creationId xmlns:a16="http://schemas.microsoft.com/office/drawing/2014/main" id="{CF3D8E3F-A893-0381-E080-F599B1CA7846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afety-number-1-panel">
            <a:extLst>
              <a:ext uri="{FF2B5EF4-FFF2-40B4-BE49-F238E27FC236}">
                <a16:creationId xmlns:a16="http://schemas.microsoft.com/office/drawing/2014/main" id="{EAA8A301-B799-C0E5-35E0-F5F747CF774B}"/>
              </a:ext>
            </a:extLst>
          </p:cNvPr>
          <p:cNvSpPr>
            <a:spLocks noGrp="1"/>
          </p:cNvSpPr>
          <p:nvPr/>
        </p:nvSpPr>
        <p:spPr>
          <a:xfrm>
            <a:off x="1047750" y="29622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afety-title-1">
            <a:extLst>
              <a:ext uri="{FF2B5EF4-FFF2-40B4-BE49-F238E27FC236}">
                <a16:creationId xmlns:a16="http://schemas.microsoft.com/office/drawing/2014/main" id="{3BA9C96C-A254-C21A-9BB7-8D29170FF4CE}"/>
              </a:ext>
            </a:extLst>
          </p:cNvPr>
          <p:cNvSpPr>
            <a:spLocks noGrp="1"/>
          </p:cNvSpPr>
          <p:nvPr/>
        </p:nvSpPr>
        <p:spPr>
          <a:xfrm>
            <a:off x="1771650" y="28575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Werkzeuge</a:t>
            </a:r>
          </a:p>
        </p:txBody>
      </p:sp>
      <p:sp>
        <p:nvSpPr>
          <p:cNvPr id="12" name="safety-detail-1">
            <a:extLst>
              <a:ext uri="{FF2B5EF4-FFF2-40B4-BE49-F238E27FC236}">
                <a16:creationId xmlns:a16="http://schemas.microsoft.com/office/drawing/2014/main" id="{E123064A-B205-B204-9E87-6F2A746F3E55}"/>
              </a:ext>
            </a:extLst>
          </p:cNvPr>
          <p:cNvSpPr>
            <a:spLocks noGrp="1"/>
          </p:cNvSpPr>
          <p:nvPr/>
        </p:nvSpPr>
        <p:spPr>
          <a:xfrm>
            <a:off x="1771650" y="32004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Browser und Terminal reichen für alle Aufgaben aus.</a:t>
            </a:r>
          </a:p>
        </p:txBody>
      </p:sp>
      <p:sp>
        <p:nvSpPr>
          <p:cNvPr id="13" name="safety-2">
            <a:extLst>
              <a:ext uri="{FF2B5EF4-FFF2-40B4-BE49-F238E27FC236}">
                <a16:creationId xmlns:a16="http://schemas.microsoft.com/office/drawing/2014/main" id="{8E06BB66-E85F-798B-63F3-F11EFB5C6A8F}"/>
              </a:ext>
            </a:extLst>
          </p:cNvPr>
          <p:cNvSpPr>
            <a:spLocks noGrp="1"/>
          </p:cNvSpPr>
          <p:nvPr/>
        </p:nvSpPr>
        <p:spPr>
          <a:xfrm>
            <a:off x="838200" y="39243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afety-number-2-panel">
            <a:extLst>
              <a:ext uri="{FF2B5EF4-FFF2-40B4-BE49-F238E27FC236}">
                <a16:creationId xmlns:a16="http://schemas.microsoft.com/office/drawing/2014/main" id="{32458B77-21C4-7724-AD00-42BCDA113F2B}"/>
              </a:ext>
            </a:extLst>
          </p:cNvPr>
          <p:cNvSpPr>
            <a:spLocks noGrp="1"/>
          </p:cNvSpPr>
          <p:nvPr/>
        </p:nvSpPr>
        <p:spPr>
          <a:xfrm>
            <a:off x="1047750" y="41243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safety-title-2">
            <a:extLst>
              <a:ext uri="{FF2B5EF4-FFF2-40B4-BE49-F238E27FC236}">
                <a16:creationId xmlns:a16="http://schemas.microsoft.com/office/drawing/2014/main" id="{1BA2ACB3-D706-4207-0F4D-ABC89D6A4D07}"/>
              </a:ext>
            </a:extLst>
          </p:cNvPr>
          <p:cNvSpPr>
            <a:spLocks noGrp="1"/>
          </p:cNvSpPr>
          <p:nvPr/>
        </p:nvSpPr>
        <p:spPr>
          <a:xfrm>
            <a:off x="1771650" y="40195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Lösungsweg</a:t>
            </a:r>
          </a:p>
        </p:txBody>
      </p:sp>
      <p:sp>
        <p:nvSpPr>
          <p:cNvPr id="16" name="safety-detail-2">
            <a:extLst>
              <a:ext uri="{FF2B5EF4-FFF2-40B4-BE49-F238E27FC236}">
                <a16:creationId xmlns:a16="http://schemas.microsoft.com/office/drawing/2014/main" id="{76C92C51-F8BA-3FD7-E23F-9361A24E8277}"/>
              </a:ext>
            </a:extLst>
          </p:cNvPr>
          <p:cNvSpPr>
            <a:spLocks noGrp="1"/>
          </p:cNvSpPr>
          <p:nvPr/>
        </p:nvSpPr>
        <p:spPr>
          <a:xfrm>
            <a:off x="1771650" y="43624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Beobachtung und Begründung sind wichtiger als Tempo.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9113B82D-1958-5E8B-7471-2A7C84B416F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3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2922972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2C900360-F192-5649-EDE7-44D025A6C611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Was geschieht zwischen Klick und Antwort?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C2AA182-E603-1D41-0E23-38A50BDAF85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4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9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241558"/>
            <a:ext cx="7772400" cy="437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210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17BA8204-143A-E937-E14E-5E54731F6FC6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Anfragen schematisch</a:t>
            </a:r>
          </a:p>
        </p:txBody>
      </p:sp>
      <p:sp>
        <p:nvSpPr>
          <p:cNvPr id="2" name="web-node-0">
            <a:extLst>
              <a:ext uri="{FF2B5EF4-FFF2-40B4-BE49-F238E27FC236}">
                <a16:creationId xmlns:a16="http://schemas.microsoft.com/office/drawing/2014/main" id="{3A934B30-EF97-C8E4-AFCF-924E7E4DA905}"/>
              </a:ext>
            </a:extLst>
          </p:cNvPr>
          <p:cNvSpPr>
            <a:spLocks noGrp="1"/>
          </p:cNvSpPr>
          <p:nvPr/>
        </p:nvSpPr>
        <p:spPr>
          <a:xfrm>
            <a:off x="838200" y="2344737"/>
            <a:ext cx="2381250" cy="1352550"/>
          </a:xfrm>
          <a:prstGeom prst="roundRect">
            <a:avLst>
              <a:gd name="adj" fmla="val 12676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web-node-title-0">
            <a:extLst>
              <a:ext uri="{FF2B5EF4-FFF2-40B4-BE49-F238E27FC236}">
                <a16:creationId xmlns:a16="http://schemas.microsoft.com/office/drawing/2014/main" id="{68345CD9-A721-03C7-6F0C-5161C8C7FBE6}"/>
              </a:ext>
            </a:extLst>
          </p:cNvPr>
          <p:cNvSpPr>
            <a:spLocks noGrp="1"/>
          </p:cNvSpPr>
          <p:nvPr/>
        </p:nvSpPr>
        <p:spPr>
          <a:xfrm>
            <a:off x="1028700" y="2592387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>
                <a:solidFill>
                  <a:srgbClr val="26324A"/>
                </a:solidFill>
              </a:defRPr>
            </a:pPr>
            <a:r>
              <a:rPr sz="2025" b="1">
                <a:solidFill>
                  <a:srgbClr val="26324A"/>
                </a:solidFill>
              </a:rPr>
              <a:t>Browser</a:t>
            </a:r>
          </a:p>
        </p:txBody>
      </p:sp>
      <p:sp>
        <p:nvSpPr>
          <p:cNvPr id="18" name="web-node-detail-0">
            <a:extLst>
              <a:ext uri="{FF2B5EF4-FFF2-40B4-BE49-F238E27FC236}">
                <a16:creationId xmlns:a16="http://schemas.microsoft.com/office/drawing/2014/main" id="{C78EF7D8-411F-663F-BA02-24D866551FE6}"/>
              </a:ext>
            </a:extLst>
          </p:cNvPr>
          <p:cNvSpPr>
            <a:spLocks noGrp="1"/>
          </p:cNvSpPr>
          <p:nvPr/>
        </p:nvSpPr>
        <p:spPr>
          <a:xfrm>
            <a:off x="1028700" y="3059112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sichtbare Oberfläche</a:t>
            </a:r>
          </a:p>
        </p:txBody>
      </p:sp>
      <p:sp>
        <p:nvSpPr>
          <p:cNvPr id="19" name="web-node-1">
            <a:extLst>
              <a:ext uri="{FF2B5EF4-FFF2-40B4-BE49-F238E27FC236}">
                <a16:creationId xmlns:a16="http://schemas.microsoft.com/office/drawing/2014/main" id="{AB1D2CE4-E302-7882-7567-B4248F72A72C}"/>
              </a:ext>
            </a:extLst>
          </p:cNvPr>
          <p:cNvSpPr>
            <a:spLocks noGrp="1"/>
          </p:cNvSpPr>
          <p:nvPr/>
        </p:nvSpPr>
        <p:spPr>
          <a:xfrm>
            <a:off x="5042535" y="2316162"/>
            <a:ext cx="2381250" cy="1352550"/>
          </a:xfrm>
          <a:prstGeom prst="roundRect">
            <a:avLst>
              <a:gd name="adj" fmla="val 12676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web-node-title-1">
            <a:extLst>
              <a:ext uri="{FF2B5EF4-FFF2-40B4-BE49-F238E27FC236}">
                <a16:creationId xmlns:a16="http://schemas.microsoft.com/office/drawing/2014/main" id="{55984EC2-E6D5-EB5C-A577-38ABE9937EC3}"/>
              </a:ext>
            </a:extLst>
          </p:cNvPr>
          <p:cNvSpPr>
            <a:spLocks noGrp="1"/>
          </p:cNvSpPr>
          <p:nvPr/>
        </p:nvSpPr>
        <p:spPr>
          <a:xfrm>
            <a:off x="5233035" y="2563812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>
                <a:solidFill>
                  <a:srgbClr val="26324A"/>
                </a:solidFill>
              </a:defRPr>
            </a:pPr>
            <a:r>
              <a:rPr sz="2025" b="1">
                <a:solidFill>
                  <a:srgbClr val="26324A"/>
                </a:solidFill>
              </a:rPr>
              <a:t>Webserver</a:t>
            </a:r>
          </a:p>
        </p:txBody>
      </p:sp>
      <p:sp>
        <p:nvSpPr>
          <p:cNvPr id="21" name="web-node-detail-1">
            <a:extLst>
              <a:ext uri="{FF2B5EF4-FFF2-40B4-BE49-F238E27FC236}">
                <a16:creationId xmlns:a16="http://schemas.microsoft.com/office/drawing/2014/main" id="{DDA1539A-BB12-4508-F200-A468DDC1B684}"/>
              </a:ext>
            </a:extLst>
          </p:cNvPr>
          <p:cNvSpPr>
            <a:spLocks noGrp="1"/>
          </p:cNvSpPr>
          <p:nvPr/>
        </p:nvSpPr>
        <p:spPr>
          <a:xfrm>
            <a:off x="5233035" y="3030537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Logik und Regeln</a:t>
            </a:r>
          </a:p>
        </p:txBody>
      </p:sp>
      <p:sp>
        <p:nvSpPr>
          <p:cNvPr id="22" name="web-node-2">
            <a:extLst>
              <a:ext uri="{FF2B5EF4-FFF2-40B4-BE49-F238E27FC236}">
                <a16:creationId xmlns:a16="http://schemas.microsoft.com/office/drawing/2014/main" id="{6969EC29-6E03-5275-3CB3-A291B0DB3CB0}"/>
              </a:ext>
            </a:extLst>
          </p:cNvPr>
          <p:cNvSpPr>
            <a:spLocks noGrp="1"/>
          </p:cNvSpPr>
          <p:nvPr/>
        </p:nvSpPr>
        <p:spPr>
          <a:xfrm>
            <a:off x="9246870" y="2318067"/>
            <a:ext cx="2381250" cy="1352550"/>
          </a:xfrm>
          <a:prstGeom prst="roundRect">
            <a:avLst>
              <a:gd name="adj" fmla="val 12676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web-node-title-2">
            <a:extLst>
              <a:ext uri="{FF2B5EF4-FFF2-40B4-BE49-F238E27FC236}">
                <a16:creationId xmlns:a16="http://schemas.microsoft.com/office/drawing/2014/main" id="{9DA87222-3E18-6E31-8539-DBEE9AAED74D}"/>
              </a:ext>
            </a:extLst>
          </p:cNvPr>
          <p:cNvSpPr>
            <a:spLocks noGrp="1"/>
          </p:cNvSpPr>
          <p:nvPr/>
        </p:nvSpPr>
        <p:spPr>
          <a:xfrm>
            <a:off x="9437370" y="2565717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>
                <a:solidFill>
                  <a:srgbClr val="26324A"/>
                </a:solidFill>
              </a:defRPr>
            </a:pPr>
            <a:r>
              <a:rPr sz="2025" b="1">
                <a:solidFill>
                  <a:srgbClr val="26324A"/>
                </a:solidFill>
              </a:rPr>
              <a:t>Datenbank</a:t>
            </a:r>
          </a:p>
        </p:txBody>
      </p:sp>
      <p:sp>
        <p:nvSpPr>
          <p:cNvPr id="24" name="web-node-detail-2">
            <a:extLst>
              <a:ext uri="{FF2B5EF4-FFF2-40B4-BE49-F238E27FC236}">
                <a16:creationId xmlns:a16="http://schemas.microsoft.com/office/drawing/2014/main" id="{ACD0AE86-BDA3-9D66-D5AC-C80DC57200AD}"/>
              </a:ext>
            </a:extLst>
          </p:cNvPr>
          <p:cNvSpPr>
            <a:spLocks noGrp="1"/>
          </p:cNvSpPr>
          <p:nvPr/>
        </p:nvSpPr>
        <p:spPr>
          <a:xfrm>
            <a:off x="9437370" y="3032442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gespeicherte Daten</a:t>
            </a:r>
          </a:p>
        </p:txBody>
      </p:sp>
      <p:sp>
        <p:nvSpPr>
          <p:cNvPr id="25" name="request-arrow">
            <a:extLst>
              <a:ext uri="{FF2B5EF4-FFF2-40B4-BE49-F238E27FC236}">
                <a16:creationId xmlns:a16="http://schemas.microsoft.com/office/drawing/2014/main" id="{E8B8366F-1724-07EA-5704-D20B1BFF28AE}"/>
              </a:ext>
            </a:extLst>
          </p:cNvPr>
          <p:cNvSpPr>
            <a:spLocks noGrp="1"/>
          </p:cNvSpPr>
          <p:nvPr/>
        </p:nvSpPr>
        <p:spPr>
          <a:xfrm>
            <a:off x="3118485" y="2487612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385D8A"/>
                </a:solidFill>
              </a:defRPr>
            </a:pPr>
            <a:r>
              <a:rPr sz="1425" b="1">
                <a:solidFill>
                  <a:srgbClr val="385D8A"/>
                </a:solidFill>
              </a:rPr>
              <a:t>HTTP-Anfrage  →</a:t>
            </a:r>
          </a:p>
        </p:txBody>
      </p:sp>
      <p:sp>
        <p:nvSpPr>
          <p:cNvPr id="26" name="response-arrow">
            <a:extLst>
              <a:ext uri="{FF2B5EF4-FFF2-40B4-BE49-F238E27FC236}">
                <a16:creationId xmlns:a16="http://schemas.microsoft.com/office/drawing/2014/main" id="{79E63782-4873-9E80-DB52-C8BC73B970AD}"/>
              </a:ext>
            </a:extLst>
          </p:cNvPr>
          <p:cNvSpPr>
            <a:spLocks noGrp="1"/>
          </p:cNvSpPr>
          <p:nvPr/>
        </p:nvSpPr>
        <p:spPr>
          <a:xfrm>
            <a:off x="3017520" y="3306762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477A68"/>
                </a:solidFill>
              </a:defRPr>
            </a:pPr>
            <a:r>
              <a:rPr sz="1425" b="1">
                <a:solidFill>
                  <a:srgbClr val="477A68"/>
                </a:solidFill>
              </a:rPr>
              <a:t>←  HTTP-Antwort</a:t>
            </a:r>
          </a:p>
        </p:txBody>
      </p:sp>
      <p:sp>
        <p:nvSpPr>
          <p:cNvPr id="27" name="data-arrow">
            <a:extLst>
              <a:ext uri="{FF2B5EF4-FFF2-40B4-BE49-F238E27FC236}">
                <a16:creationId xmlns:a16="http://schemas.microsoft.com/office/drawing/2014/main" id="{1C555CCA-5A6A-8000-5C79-11456AE78CE3}"/>
              </a:ext>
            </a:extLst>
          </p:cNvPr>
          <p:cNvSpPr>
            <a:spLocks noGrp="1"/>
          </p:cNvSpPr>
          <p:nvPr/>
        </p:nvSpPr>
        <p:spPr>
          <a:xfrm>
            <a:off x="7144703" y="28448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A56838"/>
                </a:solidFill>
              </a:defRPr>
            </a:pPr>
            <a:r>
              <a:rPr sz="1425" b="1">
                <a:solidFill>
                  <a:srgbClr val="A56838"/>
                </a:solidFill>
              </a:rPr>
              <a:t>Abfrage  ⇄  Ergebnis</a:t>
            </a:r>
          </a:p>
        </p:txBody>
      </p:sp>
      <p:sp>
        <p:nvSpPr>
          <p:cNvPr id="28" name="web-takeaway">
            <a:extLst>
              <a:ext uri="{FF2B5EF4-FFF2-40B4-BE49-F238E27FC236}">
                <a16:creationId xmlns:a16="http://schemas.microsoft.com/office/drawing/2014/main" id="{FBAC4C63-78A1-CAB8-FC44-152277DF865E}"/>
              </a:ext>
            </a:extLst>
          </p:cNvPr>
          <p:cNvSpPr>
            <a:spLocks noGrp="1"/>
          </p:cNvSpPr>
          <p:nvPr/>
        </p:nvSpPr>
        <p:spPr>
          <a:xfrm>
            <a:off x="1899285" y="4965700"/>
            <a:ext cx="847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6324A"/>
                </a:solidFill>
              </a:defRPr>
            </a:pPr>
            <a:r>
              <a:rPr sz="1800" b="1">
                <a:solidFill>
                  <a:srgbClr val="26324A"/>
                </a:solidFill>
              </a:rPr>
              <a:t>Die Oberfläche zeigt nur einen Ausschnitt dessen, was technisch erreichbar sein kann.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D39029B0-8B0B-7A10-4911-FCBD898EB1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5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4178849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8141E7CB-69B3-CF1A-13C8-1CFEF40C633F}"/>
              </a:ext>
            </a:extLst>
          </p:cNvPr>
          <p:cNvSpPr>
            <a:spLocks noGrp="1"/>
          </p:cNvSpPr>
          <p:nvPr/>
        </p:nvSpPr>
        <p:spPr>
          <a:xfrm>
            <a:off x="838200" y="37338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Sichtbare Anfragen</a:t>
            </a:r>
          </a:p>
        </p:txBody>
      </p:sp>
      <p:sp>
        <p:nvSpPr>
          <p:cNvPr id="3" name="request-panel">
            <a:extLst>
              <a:ext uri="{FF2B5EF4-FFF2-40B4-BE49-F238E27FC236}">
                <a16:creationId xmlns:a16="http://schemas.microsoft.com/office/drawing/2014/main" id="{C5F6D6E3-67B6-8813-1B71-087DBB884C65}"/>
              </a:ext>
            </a:extLst>
          </p:cNvPr>
          <p:cNvSpPr>
            <a:spLocks noGrp="1"/>
          </p:cNvSpPr>
          <p:nvPr/>
        </p:nvSpPr>
        <p:spPr>
          <a:xfrm>
            <a:off x="838200" y="1775460"/>
            <a:ext cx="4629150" cy="3105150"/>
          </a:xfrm>
          <a:prstGeom prst="roundRect">
            <a:avLst>
              <a:gd name="adj" fmla="val 5521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sponse-panel">
            <a:extLst>
              <a:ext uri="{FF2B5EF4-FFF2-40B4-BE49-F238E27FC236}">
                <a16:creationId xmlns:a16="http://schemas.microsoft.com/office/drawing/2014/main" id="{5D23DAAA-A9A8-8BB9-1F90-53CE1509B485}"/>
              </a:ext>
            </a:extLst>
          </p:cNvPr>
          <p:cNvSpPr>
            <a:spLocks noGrp="1"/>
          </p:cNvSpPr>
          <p:nvPr/>
        </p:nvSpPr>
        <p:spPr>
          <a:xfrm>
            <a:off x="5734050" y="1775460"/>
            <a:ext cx="4629150" cy="3105150"/>
          </a:xfrm>
          <a:prstGeom prst="roundRect">
            <a:avLst>
              <a:gd name="adj" fmla="val 5521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quest-label-panel">
            <a:extLst>
              <a:ext uri="{FF2B5EF4-FFF2-40B4-BE49-F238E27FC236}">
                <a16:creationId xmlns:a16="http://schemas.microsoft.com/office/drawing/2014/main" id="{2446EFA6-EF4F-EA4F-2ED7-F4F6F9C2B6D5}"/>
              </a:ext>
            </a:extLst>
          </p:cNvPr>
          <p:cNvSpPr>
            <a:spLocks noGrp="1"/>
          </p:cNvSpPr>
          <p:nvPr/>
        </p:nvSpPr>
        <p:spPr>
          <a:xfrm>
            <a:off x="1066800" y="2004060"/>
            <a:ext cx="1257300" cy="400050"/>
          </a:xfrm>
          <a:prstGeom prst="roundRect">
            <a:avLst>
              <a:gd name="adj" fmla="val 33333"/>
            </a:avLst>
          </a:prstGeom>
          <a:solidFill>
            <a:srgbClr val="EAF1F7"/>
          </a:solidFill>
          <a:ln w="9525">
            <a:solidFill>
              <a:srgbClr val="EAF1F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385D8A"/>
                </a:solidFill>
              </a:defRPr>
            </a:pPr>
            <a:r>
              <a:rPr sz="1500" b="1">
                <a:solidFill>
                  <a:srgbClr val="385D8A"/>
                </a:solidFill>
              </a:rPr>
              <a:t>ANFRAGE</a:t>
            </a:r>
          </a:p>
        </p:txBody>
      </p:sp>
      <p:sp>
        <p:nvSpPr>
          <p:cNvPr id="8" name="request-line">
            <a:extLst>
              <a:ext uri="{FF2B5EF4-FFF2-40B4-BE49-F238E27FC236}">
                <a16:creationId xmlns:a16="http://schemas.microsoft.com/office/drawing/2014/main" id="{917E4C32-D312-85DB-2B67-43C3B2970A46}"/>
              </a:ext>
            </a:extLst>
          </p:cNvPr>
          <p:cNvSpPr>
            <a:spLocks noGrp="1"/>
          </p:cNvSpPr>
          <p:nvPr/>
        </p:nvSpPr>
        <p:spPr>
          <a:xfrm>
            <a:off x="1143000" y="2594610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26324A"/>
                </a:solidFill>
              </a:defRPr>
            </a:pPr>
            <a:r>
              <a:rPr sz="2250" b="1">
                <a:solidFill>
                  <a:srgbClr val="26324A"/>
                </a:solidFill>
              </a:rPr>
              <a:t>GET  /ressource?id=42</a:t>
            </a:r>
          </a:p>
        </p:txBody>
      </p:sp>
      <p:sp>
        <p:nvSpPr>
          <p:cNvPr id="9" name="request-url">
            <a:extLst>
              <a:ext uri="{FF2B5EF4-FFF2-40B4-BE49-F238E27FC236}">
                <a16:creationId xmlns:a16="http://schemas.microsoft.com/office/drawing/2014/main" id="{0775711B-9347-1CB1-CA71-E5ED48FA27F1}"/>
              </a:ext>
            </a:extLst>
          </p:cNvPr>
          <p:cNvSpPr>
            <a:spLocks noGrp="1"/>
          </p:cNvSpPr>
          <p:nvPr/>
        </p:nvSpPr>
        <p:spPr>
          <a:xfrm>
            <a:off x="1143000" y="3242310"/>
            <a:ext cx="36957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5C667A"/>
                </a:solidFill>
              </a:defRPr>
            </a:pPr>
            <a:r>
              <a:rPr sz="1575" b="0">
                <a:solidFill>
                  <a:srgbClr val="5C667A"/>
                </a:solidFill>
              </a:rPr>
              <a:t>Methode und Pfad</a:t>
            </a:r>
          </a:p>
          <a:p>
            <a:pPr algn="l">
              <a:buNone/>
              <a:defRPr sz="1575" b="0">
                <a:solidFill>
                  <a:srgbClr val="5C667A"/>
                </a:solidFill>
              </a:defRPr>
            </a:pPr>
            <a:r>
              <a:rPr sz="1575" b="0">
                <a:solidFill>
                  <a:srgbClr val="5C667A"/>
                </a:solidFill>
              </a:rPr>
              <a:t>Header</a:t>
            </a:r>
          </a:p>
          <a:p>
            <a:pPr algn="l">
              <a:buNone/>
              <a:defRPr sz="1575" b="0">
                <a:solidFill>
                  <a:srgbClr val="5C667A"/>
                </a:solidFill>
              </a:defRPr>
            </a:pPr>
            <a:r>
              <a:rPr sz="1575" b="0">
                <a:solidFill>
                  <a:srgbClr val="5C667A"/>
                </a:solidFill>
              </a:rPr>
              <a:t>Parameter oder Daten</a:t>
            </a:r>
          </a:p>
        </p:txBody>
      </p:sp>
      <p:sp>
        <p:nvSpPr>
          <p:cNvPr id="10" name="response-label-panel">
            <a:extLst>
              <a:ext uri="{FF2B5EF4-FFF2-40B4-BE49-F238E27FC236}">
                <a16:creationId xmlns:a16="http://schemas.microsoft.com/office/drawing/2014/main" id="{35544B73-935C-35D1-72A2-D9BA255D1C7B}"/>
              </a:ext>
            </a:extLst>
          </p:cNvPr>
          <p:cNvSpPr>
            <a:spLocks noGrp="1"/>
          </p:cNvSpPr>
          <p:nvPr/>
        </p:nvSpPr>
        <p:spPr>
          <a:xfrm>
            <a:off x="5962650" y="2004060"/>
            <a:ext cx="1257300" cy="400050"/>
          </a:xfrm>
          <a:prstGeom prst="roundRect">
            <a:avLst>
              <a:gd name="adj" fmla="val 33333"/>
            </a:avLst>
          </a:prstGeom>
          <a:solidFill>
            <a:srgbClr val="EAF3EF"/>
          </a:solidFill>
          <a:ln w="9525">
            <a:solidFill>
              <a:srgbClr val="EAF3E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77A68"/>
                </a:solidFill>
              </a:defRPr>
            </a:pPr>
            <a:r>
              <a:rPr sz="1500" b="1">
                <a:solidFill>
                  <a:srgbClr val="477A68"/>
                </a:solidFill>
              </a:rPr>
              <a:t>ANTWORT</a:t>
            </a:r>
          </a:p>
        </p:txBody>
      </p:sp>
      <p:sp>
        <p:nvSpPr>
          <p:cNvPr id="11" name="response-line">
            <a:extLst>
              <a:ext uri="{FF2B5EF4-FFF2-40B4-BE49-F238E27FC236}">
                <a16:creationId xmlns:a16="http://schemas.microsoft.com/office/drawing/2014/main" id="{5EF3D88D-49F4-BFCC-BEF7-86C06F42979A}"/>
              </a:ext>
            </a:extLst>
          </p:cNvPr>
          <p:cNvSpPr>
            <a:spLocks noGrp="1"/>
          </p:cNvSpPr>
          <p:nvPr/>
        </p:nvSpPr>
        <p:spPr>
          <a:xfrm>
            <a:off x="6038850" y="2594610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26324A"/>
                </a:solidFill>
              </a:defRPr>
            </a:pPr>
            <a:r>
              <a:rPr sz="2250" b="1">
                <a:solidFill>
                  <a:srgbClr val="26324A"/>
                </a:solidFill>
              </a:rPr>
              <a:t>200  OK</a:t>
            </a:r>
          </a:p>
        </p:txBody>
      </p:sp>
      <p:sp>
        <p:nvSpPr>
          <p:cNvPr id="12" name="response-info">
            <a:extLst>
              <a:ext uri="{FF2B5EF4-FFF2-40B4-BE49-F238E27FC236}">
                <a16:creationId xmlns:a16="http://schemas.microsoft.com/office/drawing/2014/main" id="{23B9F74D-74A7-6939-9E8F-802E5EB505F6}"/>
              </a:ext>
            </a:extLst>
          </p:cNvPr>
          <p:cNvSpPr>
            <a:spLocks noGrp="1"/>
          </p:cNvSpPr>
          <p:nvPr/>
        </p:nvSpPr>
        <p:spPr>
          <a:xfrm>
            <a:off x="6038850" y="3242310"/>
            <a:ext cx="38290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5C667A"/>
                </a:solidFill>
              </a:defRPr>
            </a:pPr>
            <a:r>
              <a:rPr sz="1575" b="0">
                <a:solidFill>
                  <a:srgbClr val="5C667A"/>
                </a:solidFill>
              </a:rPr>
              <a:t>Antwort zeigt die Wirkung</a:t>
            </a:r>
          </a:p>
          <a:p>
            <a:pPr algn="l">
              <a:buNone/>
              <a:defRPr sz="1575" b="0">
                <a:solidFill>
                  <a:srgbClr val="5C667A"/>
                </a:solidFill>
              </a:defRPr>
            </a:pPr>
            <a:r>
              <a:rPr sz="1575" b="0">
                <a:solidFill>
                  <a:srgbClr val="5C667A"/>
                </a:solidFill>
              </a:rPr>
              <a:t>Statuscode und Inhalt</a:t>
            </a:r>
          </a:p>
          <a:p>
            <a:pPr algn="l">
              <a:buNone/>
              <a:defRPr sz="1575" b="0">
                <a:solidFill>
                  <a:srgbClr val="5C667A"/>
                </a:solidFill>
              </a:defRPr>
            </a:pPr>
            <a:r>
              <a:rPr sz="1575" b="0">
                <a:solidFill>
                  <a:srgbClr val="5C667A"/>
                </a:solidFill>
              </a:rPr>
              <a:t>beweisen noch keinen Schutz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2291AE5-C634-6A0A-F420-714F71FAB6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6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3420842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B785D837-5672-C7C2-CEC3-A747DF300D47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Anfragen beobachten: Werkzeuge</a:t>
            </a:r>
          </a:p>
        </p:txBody>
      </p:sp>
      <p:sp>
        <p:nvSpPr>
          <p:cNvPr id="2" name="demo-num-0-panel">
            <a:extLst>
              <a:ext uri="{FF2B5EF4-FFF2-40B4-BE49-F238E27FC236}">
                <a16:creationId xmlns:a16="http://schemas.microsoft.com/office/drawing/2014/main" id="{049781F5-EE05-D91A-7317-C956EB25C29E}"/>
              </a:ext>
            </a:extLst>
          </p:cNvPr>
          <p:cNvSpPr>
            <a:spLocks noGrp="1"/>
          </p:cNvSpPr>
          <p:nvPr/>
        </p:nvSpPr>
        <p:spPr>
          <a:xfrm>
            <a:off x="838200" y="177800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" name="demo-step-0">
            <a:extLst>
              <a:ext uri="{FF2B5EF4-FFF2-40B4-BE49-F238E27FC236}">
                <a16:creationId xmlns:a16="http://schemas.microsoft.com/office/drawing/2014/main" id="{C4FB3E45-3AB9-356D-16CF-10D8A0BE1D2C}"/>
              </a:ext>
            </a:extLst>
          </p:cNvPr>
          <p:cNvSpPr>
            <a:spLocks noGrp="1"/>
          </p:cNvSpPr>
          <p:nvPr/>
        </p:nvSpPr>
        <p:spPr>
          <a:xfrm>
            <a:off x="1562100" y="1758950"/>
            <a:ext cx="504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26324A"/>
                </a:solidFill>
              </a:defRPr>
            </a:pPr>
            <a:r>
              <a:rPr sz="1725" b="0">
                <a:solidFill>
                  <a:srgbClr val="26324A"/>
                </a:solidFill>
              </a:rPr>
              <a:t>Netzwerkansicht öffnen</a:t>
            </a:r>
          </a:p>
        </p:txBody>
      </p:sp>
      <p:sp>
        <p:nvSpPr>
          <p:cNvPr id="6" name="demo-num-1-panel">
            <a:extLst>
              <a:ext uri="{FF2B5EF4-FFF2-40B4-BE49-F238E27FC236}">
                <a16:creationId xmlns:a16="http://schemas.microsoft.com/office/drawing/2014/main" id="{F9D1840F-9C45-16C3-8056-EDF4ED2BBF5C}"/>
              </a:ext>
            </a:extLst>
          </p:cNvPr>
          <p:cNvSpPr>
            <a:spLocks noGrp="1"/>
          </p:cNvSpPr>
          <p:nvPr/>
        </p:nvSpPr>
        <p:spPr>
          <a:xfrm>
            <a:off x="838200" y="25209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demo-step-1">
            <a:extLst>
              <a:ext uri="{FF2B5EF4-FFF2-40B4-BE49-F238E27FC236}">
                <a16:creationId xmlns:a16="http://schemas.microsoft.com/office/drawing/2014/main" id="{D051A105-A9CD-62B5-4C34-2C8B69F52244}"/>
              </a:ext>
            </a:extLst>
          </p:cNvPr>
          <p:cNvSpPr>
            <a:spLocks noGrp="1"/>
          </p:cNvSpPr>
          <p:nvPr/>
        </p:nvSpPr>
        <p:spPr>
          <a:xfrm>
            <a:off x="1562100" y="2501900"/>
            <a:ext cx="504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26324A"/>
                </a:solidFill>
              </a:defRPr>
            </a:pPr>
            <a:r>
              <a:rPr sz="1725" b="0">
                <a:solidFill>
                  <a:srgbClr val="26324A"/>
                </a:solidFill>
              </a:rPr>
              <a:t>Normale Aktion ausführen</a:t>
            </a:r>
          </a:p>
        </p:txBody>
      </p:sp>
      <p:sp>
        <p:nvSpPr>
          <p:cNvPr id="8" name="demo-num-2-panel">
            <a:extLst>
              <a:ext uri="{FF2B5EF4-FFF2-40B4-BE49-F238E27FC236}">
                <a16:creationId xmlns:a16="http://schemas.microsoft.com/office/drawing/2014/main" id="{2DFC3DA3-36D2-3532-3AD5-59140B43D09F}"/>
              </a:ext>
            </a:extLst>
          </p:cNvPr>
          <p:cNvSpPr>
            <a:spLocks noGrp="1"/>
          </p:cNvSpPr>
          <p:nvPr/>
        </p:nvSpPr>
        <p:spPr>
          <a:xfrm>
            <a:off x="838200" y="326390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demo-step-2">
            <a:extLst>
              <a:ext uri="{FF2B5EF4-FFF2-40B4-BE49-F238E27FC236}">
                <a16:creationId xmlns:a16="http://schemas.microsoft.com/office/drawing/2014/main" id="{B9A31426-F2D4-87DA-3A95-7194B612F97D}"/>
              </a:ext>
            </a:extLst>
          </p:cNvPr>
          <p:cNvSpPr>
            <a:spLocks noGrp="1"/>
          </p:cNvSpPr>
          <p:nvPr/>
        </p:nvSpPr>
        <p:spPr>
          <a:xfrm>
            <a:off x="1562100" y="3244850"/>
            <a:ext cx="504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26324A"/>
                </a:solidFill>
              </a:defRPr>
            </a:pPr>
            <a:r>
              <a:rPr sz="1725" b="0">
                <a:solidFill>
                  <a:srgbClr val="26324A"/>
                </a:solidFill>
              </a:rPr>
              <a:t>Methode, Pfad und Status lesen</a:t>
            </a:r>
          </a:p>
        </p:txBody>
      </p:sp>
      <p:sp>
        <p:nvSpPr>
          <p:cNvPr id="10" name="demo-num-3-panel">
            <a:extLst>
              <a:ext uri="{FF2B5EF4-FFF2-40B4-BE49-F238E27FC236}">
                <a16:creationId xmlns:a16="http://schemas.microsoft.com/office/drawing/2014/main" id="{3278D062-9919-D6A0-3294-277795BE75B3}"/>
              </a:ext>
            </a:extLst>
          </p:cNvPr>
          <p:cNvSpPr>
            <a:spLocks noGrp="1"/>
          </p:cNvSpPr>
          <p:nvPr/>
        </p:nvSpPr>
        <p:spPr>
          <a:xfrm>
            <a:off x="838200" y="40068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477A68"/>
          </a:solidFill>
          <a:ln w="9525">
            <a:solidFill>
              <a:srgbClr val="477A6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demo-step-3">
            <a:extLst>
              <a:ext uri="{FF2B5EF4-FFF2-40B4-BE49-F238E27FC236}">
                <a16:creationId xmlns:a16="http://schemas.microsoft.com/office/drawing/2014/main" id="{956D5567-0001-6ADD-7D0E-DA6D570C2895}"/>
              </a:ext>
            </a:extLst>
          </p:cNvPr>
          <p:cNvSpPr>
            <a:spLocks noGrp="1"/>
          </p:cNvSpPr>
          <p:nvPr/>
        </p:nvSpPr>
        <p:spPr>
          <a:xfrm>
            <a:off x="1562100" y="3987800"/>
            <a:ext cx="504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Dieselbe Startseite mit curl abrufen</a:t>
            </a:r>
          </a:p>
        </p:txBody>
      </p:sp>
      <p:sp>
        <p:nvSpPr>
          <p:cNvPr id="12" name="curl-panel">
            <a:extLst>
              <a:ext uri="{FF2B5EF4-FFF2-40B4-BE49-F238E27FC236}">
                <a16:creationId xmlns:a16="http://schemas.microsoft.com/office/drawing/2014/main" id="{0C9A86C2-BC1C-E214-E70B-8870E8E8E575}"/>
              </a:ext>
            </a:extLst>
          </p:cNvPr>
          <p:cNvSpPr>
            <a:spLocks noGrp="1"/>
          </p:cNvSpPr>
          <p:nvPr/>
        </p:nvSpPr>
        <p:spPr>
          <a:xfrm>
            <a:off x="6877050" y="2044700"/>
            <a:ext cx="3390900" cy="1981200"/>
          </a:xfrm>
          <a:prstGeom prst="roundRect">
            <a:avLst>
              <a:gd name="adj" fmla="val 8654"/>
            </a:avLst>
          </a:prstGeom>
          <a:solidFill>
            <a:srgbClr val="29364D"/>
          </a:solidFill>
          <a:ln w="11430">
            <a:solidFill>
              <a:srgbClr val="29364D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TERMINAL</a:t>
            </a:r>
          </a:p>
          <a:p>
            <a:endParaRPr sz="1800" b="1">
              <a:solidFill>
                <a:srgbClr val="FFFFFF"/>
              </a:solidFill>
            </a:endParaRPr>
          </a:p>
          <a:p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curl -</a:t>
            </a:r>
            <a:r>
              <a:rPr b="1">
                <a:solidFill>
                  <a:srgbClr val="FFFFFF"/>
                </a:solidFill>
              </a:rPr>
              <a:t>v</a:t>
            </a:r>
            <a:endParaRPr sz="1800" b="1">
              <a:solidFill>
                <a:srgbClr val="FFFFFF"/>
              </a:solidFill>
            </a:endParaRPr>
          </a:p>
          <a:p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"http://example.com/"</a:t>
            </a:r>
          </a:p>
        </p:txBody>
      </p:sp>
      <p:sp>
        <p:nvSpPr>
          <p:cNvPr id="13" name="demo-question">
            <a:extLst>
              <a:ext uri="{FF2B5EF4-FFF2-40B4-BE49-F238E27FC236}">
                <a16:creationId xmlns:a16="http://schemas.microsoft.com/office/drawing/2014/main" id="{1B51F741-97FF-2D6D-2371-FE5F95A70734}"/>
              </a:ext>
            </a:extLst>
          </p:cNvPr>
          <p:cNvSpPr>
            <a:spLocks noGrp="1"/>
          </p:cNvSpPr>
          <p:nvPr/>
        </p:nvSpPr>
        <p:spPr>
          <a:xfrm>
            <a:off x="2000250" y="5251450"/>
            <a:ext cx="819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26324A"/>
                </a:solidFill>
              </a:defRPr>
            </a:pPr>
            <a:r>
              <a:rPr sz="1875" b="1">
                <a:solidFill>
                  <a:srgbClr val="26324A"/>
                </a:solidFill>
              </a:rPr>
              <a:t>Was war unsere Aktion, und was können wir beobachten?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16430018-446D-7189-102C-A5E97B41AD7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7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415995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369C0886-DDAF-C990-6752-F805EA7D8D7C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Jetzt seid ihr dran: Eine Anfrage mit curl reproduzieren</a:t>
            </a:r>
          </a:p>
        </p:txBody>
      </p:sp>
      <p:sp>
        <p:nvSpPr>
          <p:cNvPr id="3" name="safety-0">
            <a:extLst>
              <a:ext uri="{FF2B5EF4-FFF2-40B4-BE49-F238E27FC236}">
                <a16:creationId xmlns:a16="http://schemas.microsoft.com/office/drawing/2014/main" id="{3747E731-FDF3-0D29-DBBC-F10E46A7964E}"/>
              </a:ext>
            </a:extLst>
          </p:cNvPr>
          <p:cNvSpPr>
            <a:spLocks noGrp="1"/>
          </p:cNvSpPr>
          <p:nvPr/>
        </p:nvSpPr>
        <p:spPr>
          <a:xfrm>
            <a:off x="838200" y="16002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392"/>
            </a:srgbClr>
          </a:solidFill>
          <a:ln w="11430">
            <a:solidFill>
              <a:srgbClr val="DFC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afety-number-0-panel">
            <a:extLst>
              <a:ext uri="{FF2B5EF4-FFF2-40B4-BE49-F238E27FC236}">
                <a16:creationId xmlns:a16="http://schemas.microsoft.com/office/drawing/2014/main" id="{86DD42C2-3BBB-22D4-E747-D91F91FDCEE2}"/>
              </a:ext>
            </a:extLst>
          </p:cNvPr>
          <p:cNvSpPr>
            <a:spLocks noGrp="1"/>
          </p:cNvSpPr>
          <p:nvPr/>
        </p:nvSpPr>
        <p:spPr>
          <a:xfrm>
            <a:off x="1047750" y="18002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934E55"/>
          </a:solidFill>
          <a:ln w="9525">
            <a:solidFill>
              <a:srgbClr val="934E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afety-title-0">
            <a:extLst>
              <a:ext uri="{FF2B5EF4-FFF2-40B4-BE49-F238E27FC236}">
                <a16:creationId xmlns:a16="http://schemas.microsoft.com/office/drawing/2014/main" id="{50A8D920-32FD-F8CD-B002-88FBED5DF5AB}"/>
              </a:ext>
            </a:extLst>
          </p:cNvPr>
          <p:cNvSpPr>
            <a:spLocks noGrp="1"/>
          </p:cNvSpPr>
          <p:nvPr/>
        </p:nvSpPr>
        <p:spPr>
          <a:xfrm>
            <a:off x="1771650" y="16954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Aufgabenblatt</a:t>
            </a:r>
          </a:p>
        </p:txBody>
      </p:sp>
      <p:sp>
        <p:nvSpPr>
          <p:cNvPr id="8" name="safety-detail-0">
            <a:extLst>
              <a:ext uri="{FF2B5EF4-FFF2-40B4-BE49-F238E27FC236}">
                <a16:creationId xmlns:a16="http://schemas.microsoft.com/office/drawing/2014/main" id="{ED782415-1B2A-6D00-35A3-5953BEDC1D1B}"/>
              </a:ext>
            </a:extLst>
          </p:cNvPr>
          <p:cNvSpPr>
            <a:spLocks noGrp="1"/>
          </p:cNvSpPr>
          <p:nvPr/>
        </p:nvSpPr>
        <p:spPr>
          <a:xfrm>
            <a:off x="1771650" y="20383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 b="0">
                <a:solidFill>
                  <a:srgbClr val="5C667A"/>
                </a:solidFill>
              </a:defRPr>
            </a:pPr>
            <a:r>
              <a:rPr sz="1350">
                <a:solidFill>
                  <a:srgbClr val="5C667A"/>
                </a:solidFill>
              </a:rPr>
              <a:t>Öffnet im Aufgabenblatt den Abschnitt „Slot 1: HTTP und Web Security“.</a:t>
            </a:r>
          </a:p>
        </p:txBody>
      </p:sp>
      <p:sp>
        <p:nvSpPr>
          <p:cNvPr id="9" name="safety-1">
            <a:extLst>
              <a:ext uri="{FF2B5EF4-FFF2-40B4-BE49-F238E27FC236}">
                <a16:creationId xmlns:a16="http://schemas.microsoft.com/office/drawing/2014/main" id="{CF3D8E3F-A893-0381-E080-F599B1CA7846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afety-number-1-panel">
            <a:extLst>
              <a:ext uri="{FF2B5EF4-FFF2-40B4-BE49-F238E27FC236}">
                <a16:creationId xmlns:a16="http://schemas.microsoft.com/office/drawing/2014/main" id="{EAA8A301-B799-C0E5-35E0-F5F747CF774B}"/>
              </a:ext>
            </a:extLst>
          </p:cNvPr>
          <p:cNvSpPr>
            <a:spLocks noGrp="1"/>
          </p:cNvSpPr>
          <p:nvPr/>
        </p:nvSpPr>
        <p:spPr>
          <a:xfrm>
            <a:off x="1047750" y="29622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afety-title-1">
            <a:extLst>
              <a:ext uri="{FF2B5EF4-FFF2-40B4-BE49-F238E27FC236}">
                <a16:creationId xmlns:a16="http://schemas.microsoft.com/office/drawing/2014/main" id="{3BA9C96C-A254-C21A-9BB7-8D29170FF4CE}"/>
              </a:ext>
            </a:extLst>
          </p:cNvPr>
          <p:cNvSpPr>
            <a:spLocks noGrp="1"/>
          </p:cNvSpPr>
          <p:nvPr/>
        </p:nvSpPr>
        <p:spPr>
          <a:xfrm>
            <a:off x="1771650" y="28575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Netzwerkansicht</a:t>
            </a:r>
          </a:p>
        </p:txBody>
      </p:sp>
      <p:sp>
        <p:nvSpPr>
          <p:cNvPr id="12" name="safety-detail-1">
            <a:extLst>
              <a:ext uri="{FF2B5EF4-FFF2-40B4-BE49-F238E27FC236}">
                <a16:creationId xmlns:a16="http://schemas.microsoft.com/office/drawing/2014/main" id="{E123064A-B205-B204-9E87-6F2A746F3E55}"/>
              </a:ext>
            </a:extLst>
          </p:cNvPr>
          <p:cNvSpPr>
            <a:spLocks noGrp="1"/>
          </p:cNvSpPr>
          <p:nvPr/>
        </p:nvSpPr>
        <p:spPr>
          <a:xfrm>
            <a:off x="1771650" y="32004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 b="0">
                <a:solidFill>
                  <a:srgbClr val="5C667A"/>
                </a:solidFill>
              </a:defRPr>
            </a:pPr>
            <a:r>
              <a:rPr sz="1350">
                <a:solidFill>
                  <a:srgbClr val="5C667A"/>
                </a:solidFill>
              </a:rPr>
              <a:t>Wählt die GET-Anfrage und lest Methode, Pfad, Statuscode und Antwortdaten.</a:t>
            </a:r>
          </a:p>
        </p:txBody>
      </p:sp>
      <p:sp>
        <p:nvSpPr>
          <p:cNvPr id="13" name="safety-2">
            <a:extLst>
              <a:ext uri="{FF2B5EF4-FFF2-40B4-BE49-F238E27FC236}">
                <a16:creationId xmlns:a16="http://schemas.microsoft.com/office/drawing/2014/main" id="{8E06BB66-E85F-798B-63F3-F11EFB5C6A8F}"/>
              </a:ext>
            </a:extLst>
          </p:cNvPr>
          <p:cNvSpPr>
            <a:spLocks noGrp="1"/>
          </p:cNvSpPr>
          <p:nvPr/>
        </p:nvSpPr>
        <p:spPr>
          <a:xfrm>
            <a:off x="838200" y="39243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afety-number-2-panel">
            <a:extLst>
              <a:ext uri="{FF2B5EF4-FFF2-40B4-BE49-F238E27FC236}">
                <a16:creationId xmlns:a16="http://schemas.microsoft.com/office/drawing/2014/main" id="{32458B77-21C4-7724-AD00-42BCDA113F2B}"/>
              </a:ext>
            </a:extLst>
          </p:cNvPr>
          <p:cNvSpPr>
            <a:spLocks noGrp="1"/>
          </p:cNvSpPr>
          <p:nvPr/>
        </p:nvSpPr>
        <p:spPr>
          <a:xfrm>
            <a:off x="1047750" y="41243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safety-title-2">
            <a:extLst>
              <a:ext uri="{FF2B5EF4-FFF2-40B4-BE49-F238E27FC236}">
                <a16:creationId xmlns:a16="http://schemas.microsoft.com/office/drawing/2014/main" id="{1BA2ACB3-D706-4207-0F4D-ABC89D6A4D07}"/>
              </a:ext>
            </a:extLst>
          </p:cNvPr>
          <p:cNvSpPr>
            <a:spLocks noGrp="1"/>
          </p:cNvSpPr>
          <p:nvPr/>
        </p:nvSpPr>
        <p:spPr>
          <a:xfrm>
            <a:off x="1771650" y="40195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curl -v ausführen</a:t>
            </a:r>
          </a:p>
        </p:txBody>
      </p:sp>
      <p:sp>
        <p:nvSpPr>
          <p:cNvPr id="16" name="safety-detail-2">
            <a:extLst>
              <a:ext uri="{FF2B5EF4-FFF2-40B4-BE49-F238E27FC236}">
                <a16:creationId xmlns:a16="http://schemas.microsoft.com/office/drawing/2014/main" id="{76C92C51-F8BA-3FD7-E23F-9361A24E8277}"/>
              </a:ext>
            </a:extLst>
          </p:cNvPr>
          <p:cNvSpPr>
            <a:spLocks noGrp="1"/>
          </p:cNvSpPr>
          <p:nvPr/>
        </p:nvSpPr>
        <p:spPr>
          <a:xfrm>
            <a:off x="1771650" y="43624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Reproduziert dieselbe Anfrage und vergleicht beide Antworten.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9113B82D-1958-5E8B-7471-2A7C84B416F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BA58DA2A-B818-18A9-29C1-B697728D5BC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8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7" name="safety-2">
            <a:extLst>
              <a:ext uri="{FF2B5EF4-FFF2-40B4-BE49-F238E27FC236}">
                <a16:creationId xmlns:a16="http://schemas.microsoft.com/office/drawing/2014/main" id="{10E368A2-8EBF-2577-22D1-D4D6101B2ECD}"/>
              </a:ext>
            </a:extLst>
          </p:cNvPr>
          <p:cNvSpPr>
            <a:spLocks noGrp="1"/>
          </p:cNvSpPr>
          <p:nvPr/>
        </p:nvSpPr>
        <p:spPr>
          <a:xfrm>
            <a:off x="838200" y="508635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afety-number-2-panel">
            <a:extLst>
              <a:ext uri="{FF2B5EF4-FFF2-40B4-BE49-F238E27FC236}">
                <a16:creationId xmlns:a16="http://schemas.microsoft.com/office/drawing/2014/main" id="{3917DB57-48F8-A200-2A58-371B1FE7FE43}"/>
              </a:ext>
            </a:extLst>
          </p:cNvPr>
          <p:cNvSpPr>
            <a:spLocks noGrp="1"/>
          </p:cNvSpPr>
          <p:nvPr/>
        </p:nvSpPr>
        <p:spPr>
          <a:xfrm>
            <a:off x="1047750" y="52863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safety-title-2">
            <a:extLst>
              <a:ext uri="{FF2B5EF4-FFF2-40B4-BE49-F238E27FC236}">
                <a16:creationId xmlns:a16="http://schemas.microsoft.com/office/drawing/2014/main" id="{2BEB10EC-0AA8-3E01-5E75-39DC6C63D8AA}"/>
              </a:ext>
            </a:extLst>
          </p:cNvPr>
          <p:cNvSpPr>
            <a:spLocks noGrp="1"/>
          </p:cNvSpPr>
          <p:nvPr/>
        </p:nvSpPr>
        <p:spPr>
          <a:xfrm>
            <a:off x="1771650" y="51816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GET und POST unterscheiden</a:t>
            </a:r>
          </a:p>
        </p:txBody>
      </p:sp>
      <p:sp>
        <p:nvSpPr>
          <p:cNvPr id="23" name="safety-detail-2">
            <a:extLst>
              <a:ext uri="{FF2B5EF4-FFF2-40B4-BE49-F238E27FC236}">
                <a16:creationId xmlns:a16="http://schemas.microsoft.com/office/drawing/2014/main" id="{06D88664-17B6-BD99-C02A-4B55BD6524CE}"/>
              </a:ext>
            </a:extLst>
          </p:cNvPr>
          <p:cNvSpPr>
            <a:spLocks noGrp="1"/>
          </p:cNvSpPr>
          <p:nvPr/>
        </p:nvSpPr>
        <p:spPr>
          <a:xfrm>
            <a:off x="1771650" y="55245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Recherchiert die Unterschiede zwischen GET und POST</a:t>
            </a:r>
          </a:p>
        </p:txBody>
      </p:sp>
    </p:spTree>
    <p:extLst>
      <p:ext uri="{BB962C8B-B14F-4D97-AF65-F5344CB8AC3E}">
        <p14:creationId xmlns:p14="http://schemas.microsoft.com/office/powerpoint/2010/main" val="2922972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B7B4B70-F384-E7F8-ADC5-077B31AD7F09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Vom Beobachten zu typischen Schwachstellen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C05E2AB-1258-C5BE-7E38-CB42524197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9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9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112" y="1762364"/>
            <a:ext cx="7707775" cy="384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114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07BDE4E4-AE64-26D0-1363-39F85145F06A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Frei erreichbare Ressourcen</a:t>
            </a:r>
          </a:p>
        </p:txBody>
      </p:sp>
      <p:sp>
        <p:nvSpPr>
          <p:cNvPr id="2" name="visible-panel">
            <a:extLst>
              <a:ext uri="{FF2B5EF4-FFF2-40B4-BE49-F238E27FC236}">
                <a16:creationId xmlns:a16="http://schemas.microsoft.com/office/drawing/2014/main" id="{1CD2E5B9-B02B-983A-FBD0-CB989E6BBC2A}"/>
              </a:ext>
            </a:extLst>
          </p:cNvPr>
          <p:cNvSpPr>
            <a:spLocks noGrp="1"/>
          </p:cNvSpPr>
          <p:nvPr/>
        </p:nvSpPr>
        <p:spPr>
          <a:xfrm>
            <a:off x="838200" y="1546860"/>
            <a:ext cx="4191000" cy="2724150"/>
          </a:xfrm>
          <a:prstGeom prst="roundRect">
            <a:avLst>
              <a:gd name="adj" fmla="val 6294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achable-panel">
            <a:extLst>
              <a:ext uri="{FF2B5EF4-FFF2-40B4-BE49-F238E27FC236}">
                <a16:creationId xmlns:a16="http://schemas.microsoft.com/office/drawing/2014/main" id="{4970515F-483A-3981-10AD-8DEAA0A5B4C7}"/>
              </a:ext>
            </a:extLst>
          </p:cNvPr>
          <p:cNvSpPr>
            <a:spLocks noGrp="1"/>
          </p:cNvSpPr>
          <p:nvPr/>
        </p:nvSpPr>
        <p:spPr>
          <a:xfrm>
            <a:off x="6172200" y="1546860"/>
            <a:ext cx="4191000" cy="2724150"/>
          </a:xfrm>
          <a:prstGeom prst="roundRect">
            <a:avLst>
              <a:gd name="adj" fmla="val 6294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visible-title">
            <a:extLst>
              <a:ext uri="{FF2B5EF4-FFF2-40B4-BE49-F238E27FC236}">
                <a16:creationId xmlns:a16="http://schemas.microsoft.com/office/drawing/2014/main" id="{881AEB08-7C73-CAF5-199D-A7F60948DB3C}"/>
              </a:ext>
            </a:extLst>
          </p:cNvPr>
          <p:cNvSpPr>
            <a:spLocks noGrp="1"/>
          </p:cNvSpPr>
          <p:nvPr/>
        </p:nvSpPr>
        <p:spPr>
          <a:xfrm>
            <a:off x="1143000" y="1832610"/>
            <a:ext cx="352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>
                <a:solidFill>
                  <a:srgbClr val="26324A"/>
                </a:solidFill>
              </a:defRPr>
            </a:pPr>
            <a:r>
              <a:rPr sz="2025" b="1">
                <a:solidFill>
                  <a:srgbClr val="26324A"/>
                </a:solidFill>
              </a:rPr>
              <a:t>Oberfläche zeigt</a:t>
            </a:r>
          </a:p>
        </p:txBody>
      </p:sp>
      <p:sp>
        <p:nvSpPr>
          <p:cNvPr id="7" name="visible-list">
            <a:extLst>
              <a:ext uri="{FF2B5EF4-FFF2-40B4-BE49-F238E27FC236}">
                <a16:creationId xmlns:a16="http://schemas.microsoft.com/office/drawing/2014/main" id="{E69F4FA1-7B21-3477-C186-16089EFC0CC0}"/>
              </a:ext>
            </a:extLst>
          </p:cNvPr>
          <p:cNvSpPr>
            <a:spLocks noGrp="1"/>
          </p:cNvSpPr>
          <p:nvPr/>
        </p:nvSpPr>
        <p:spPr>
          <a:xfrm>
            <a:off x="1352550" y="2518410"/>
            <a:ext cx="3143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0">
                <a:solidFill>
                  <a:srgbClr val="5C667A"/>
                </a:solidFill>
              </a:defRPr>
            </a:pPr>
            <a:r>
              <a:rPr sz="1725" b="0">
                <a:solidFill>
                  <a:srgbClr val="5C667A"/>
                </a:solidFill>
              </a:rPr>
              <a:t>Startseite</a:t>
            </a:r>
          </a:p>
          <a:p>
            <a:pPr algn="ctr">
              <a:buNone/>
              <a:defRPr sz="1725" b="0">
                <a:solidFill>
                  <a:srgbClr val="5C667A"/>
                </a:solidFill>
              </a:defRPr>
            </a:pPr>
            <a:r>
              <a:rPr sz="1725" b="0">
                <a:solidFill>
                  <a:srgbClr val="5C667A"/>
                </a:solidFill>
              </a:rPr>
              <a:t>Produkte</a:t>
            </a:r>
          </a:p>
          <a:p>
            <a:pPr algn="ctr">
              <a:buNone/>
              <a:defRPr sz="1725" b="0">
                <a:solidFill>
                  <a:srgbClr val="5C667A"/>
                </a:solidFill>
              </a:defRPr>
            </a:pPr>
            <a:r>
              <a:rPr sz="1725" b="0">
                <a:solidFill>
                  <a:srgbClr val="5C667A"/>
                </a:solidFill>
              </a:rPr>
              <a:t>Konto</a:t>
            </a:r>
          </a:p>
        </p:txBody>
      </p:sp>
      <p:sp>
        <p:nvSpPr>
          <p:cNvPr id="8" name="reachable-title">
            <a:extLst>
              <a:ext uri="{FF2B5EF4-FFF2-40B4-BE49-F238E27FC236}">
                <a16:creationId xmlns:a16="http://schemas.microsoft.com/office/drawing/2014/main" id="{C7ED3CE3-E076-31B1-7B1D-DA177E6CBCAE}"/>
              </a:ext>
            </a:extLst>
          </p:cNvPr>
          <p:cNvSpPr>
            <a:spLocks noGrp="1"/>
          </p:cNvSpPr>
          <p:nvPr/>
        </p:nvSpPr>
        <p:spPr>
          <a:xfrm>
            <a:off x="6477000" y="1832610"/>
            <a:ext cx="352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>
                <a:solidFill>
                  <a:srgbClr val="385D8A"/>
                </a:solidFill>
              </a:defRPr>
            </a:pPr>
            <a:r>
              <a:rPr sz="2025" b="1">
                <a:solidFill>
                  <a:srgbClr val="385D8A"/>
                </a:solidFill>
              </a:rPr>
              <a:t>Server liefert zusätzlich</a:t>
            </a:r>
          </a:p>
        </p:txBody>
      </p:sp>
      <p:sp>
        <p:nvSpPr>
          <p:cNvPr id="9" name="reachable-list">
            <a:extLst>
              <a:ext uri="{FF2B5EF4-FFF2-40B4-BE49-F238E27FC236}">
                <a16:creationId xmlns:a16="http://schemas.microsoft.com/office/drawing/2014/main" id="{1933FEB0-E650-74F2-9210-88AB60489B45}"/>
              </a:ext>
            </a:extLst>
          </p:cNvPr>
          <p:cNvSpPr>
            <a:spLocks noGrp="1"/>
          </p:cNvSpPr>
          <p:nvPr/>
        </p:nvSpPr>
        <p:spPr>
          <a:xfrm>
            <a:off x="6686550" y="2518410"/>
            <a:ext cx="3143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0">
                <a:solidFill>
                  <a:srgbClr val="26324A"/>
                </a:solidFill>
              </a:defRPr>
            </a:pPr>
            <a:r>
              <a:rPr sz="1725" b="0">
                <a:solidFill>
                  <a:srgbClr val="26324A"/>
                </a:solidFill>
              </a:rPr>
              <a:t>/</a:t>
            </a:r>
          </a:p>
          <a:p>
            <a:pPr algn="ctr">
              <a:buNone/>
              <a:defRPr sz="1725" b="0">
                <a:solidFill>
                  <a:srgbClr val="26324A"/>
                </a:solidFill>
              </a:defRPr>
            </a:pPr>
            <a:r>
              <a:rPr sz="1725" b="0">
                <a:solidFill>
                  <a:srgbClr val="26324A"/>
                </a:solidFill>
              </a:rPr>
              <a:t>/profil</a:t>
            </a:r>
          </a:p>
          <a:p>
            <a:pPr algn="ctr">
              <a:buNone/>
              <a:defRPr sz="1725" b="0">
                <a:solidFill>
                  <a:srgbClr val="26324A"/>
                </a:solidFill>
              </a:defRPr>
            </a:pPr>
            <a:r>
              <a:rPr sz="1725" b="0">
                <a:solidFill>
                  <a:srgbClr val="26324A"/>
                </a:solidFill>
              </a:rPr>
              <a:t>/versteckter-pfad/</a:t>
            </a:r>
          </a:p>
        </p:txBody>
      </p:sp>
      <p:sp>
        <p:nvSpPr>
          <p:cNvPr id="10" name="not-equal-panel">
            <a:extLst>
              <a:ext uri="{FF2B5EF4-FFF2-40B4-BE49-F238E27FC236}">
                <a16:creationId xmlns:a16="http://schemas.microsoft.com/office/drawing/2014/main" id="{534BE161-D5BC-7414-FFED-1BED3BAB74A8}"/>
              </a:ext>
            </a:extLst>
          </p:cNvPr>
          <p:cNvSpPr>
            <a:spLocks noGrp="1"/>
          </p:cNvSpPr>
          <p:nvPr/>
        </p:nvSpPr>
        <p:spPr>
          <a:xfrm>
            <a:off x="5276850" y="2556510"/>
            <a:ext cx="666750" cy="666750"/>
          </a:xfrm>
          <a:prstGeom prst="roundRect">
            <a:avLst>
              <a:gd name="adj" fmla="val 20000"/>
            </a:avLst>
          </a:prstGeom>
          <a:solidFill>
            <a:srgbClr val="F6EEE7"/>
          </a:solidFill>
          <a:ln w="9525">
            <a:solidFill>
              <a:srgbClr val="F6EEE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A56838"/>
                </a:solidFill>
              </a:defRPr>
            </a:pPr>
            <a:r>
              <a:rPr sz="1500" b="1">
                <a:solidFill>
                  <a:srgbClr val="A56838"/>
                </a:solidFill>
              </a:rPr>
              <a:t>≠</a:t>
            </a:r>
          </a:p>
        </p:txBody>
      </p:sp>
      <p:sp>
        <p:nvSpPr>
          <p:cNvPr id="11" name="surface-takeaway">
            <a:extLst>
              <a:ext uri="{FF2B5EF4-FFF2-40B4-BE49-F238E27FC236}">
                <a16:creationId xmlns:a16="http://schemas.microsoft.com/office/drawing/2014/main" id="{45BDF7A3-84AD-3951-55EF-BA8EDB19401A}"/>
              </a:ext>
            </a:extLst>
          </p:cNvPr>
          <p:cNvSpPr>
            <a:spLocks noGrp="1"/>
          </p:cNvSpPr>
          <p:nvPr/>
        </p:nvSpPr>
        <p:spPr>
          <a:xfrm>
            <a:off x="1171575" y="5227320"/>
            <a:ext cx="885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Schutzprinzip: Zugriff serverseitig prüfen, statt Ressourcen nur zu verstecken.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1B1BE007-48F7-636B-A3EE-60FF0A31DCD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10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610728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B8C9114E-4837-58EC-937F-3094EC5C1DF6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Fehlende Autorisierung</a:t>
            </a:r>
          </a:p>
        </p:txBody>
      </p:sp>
      <p:sp>
        <p:nvSpPr>
          <p:cNvPr id="12" name="authn-panel">
            <a:extLst>
              <a:ext uri="{FF2B5EF4-FFF2-40B4-BE49-F238E27FC236}">
                <a16:creationId xmlns:a16="http://schemas.microsoft.com/office/drawing/2014/main" id="{20F71726-22BB-B578-17F2-41474C8C99B6}"/>
              </a:ext>
            </a:extLst>
          </p:cNvPr>
          <p:cNvSpPr>
            <a:spLocks noGrp="1"/>
          </p:cNvSpPr>
          <p:nvPr/>
        </p:nvSpPr>
        <p:spPr>
          <a:xfrm>
            <a:off x="781050" y="1409700"/>
            <a:ext cx="4572000" cy="2857500"/>
          </a:xfrm>
          <a:prstGeom prst="roundRect">
            <a:avLst>
              <a:gd name="adj" fmla="val 6000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authz-panel">
            <a:extLst>
              <a:ext uri="{FF2B5EF4-FFF2-40B4-BE49-F238E27FC236}">
                <a16:creationId xmlns:a16="http://schemas.microsoft.com/office/drawing/2014/main" id="{97C62582-52D1-E1B3-7685-B87F8E7807E9}"/>
              </a:ext>
            </a:extLst>
          </p:cNvPr>
          <p:cNvSpPr>
            <a:spLocks noGrp="1"/>
          </p:cNvSpPr>
          <p:nvPr/>
        </p:nvSpPr>
        <p:spPr>
          <a:xfrm>
            <a:off x="5734050" y="1409700"/>
            <a:ext cx="4572000" cy="2857500"/>
          </a:xfrm>
          <a:prstGeom prst="roundRect">
            <a:avLst>
              <a:gd name="adj" fmla="val 6000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uthn-label-panel">
            <a:extLst>
              <a:ext uri="{FF2B5EF4-FFF2-40B4-BE49-F238E27FC236}">
                <a16:creationId xmlns:a16="http://schemas.microsoft.com/office/drawing/2014/main" id="{0935BC3C-7FC2-E2BA-6238-F35D5C2A53FC}"/>
              </a:ext>
            </a:extLst>
          </p:cNvPr>
          <p:cNvSpPr>
            <a:spLocks noGrp="1"/>
          </p:cNvSpPr>
          <p:nvPr/>
        </p:nvSpPr>
        <p:spPr>
          <a:xfrm>
            <a:off x="1143000" y="1676400"/>
            <a:ext cx="2724150" cy="419100"/>
          </a:xfrm>
          <a:prstGeom prst="roundRect">
            <a:avLst>
              <a:gd name="adj" fmla="val 31818"/>
            </a:avLst>
          </a:prstGeom>
          <a:solidFill>
            <a:srgbClr val="EAF1F7"/>
          </a:solidFill>
          <a:ln w="9525">
            <a:solidFill>
              <a:srgbClr val="EAF1F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385D8A"/>
                </a:solidFill>
              </a:defRPr>
            </a:pPr>
            <a:r>
              <a:rPr sz="1500" b="1">
                <a:solidFill>
                  <a:srgbClr val="385D8A"/>
                </a:solidFill>
              </a:rPr>
              <a:t>AUTHENTIFIZIERUNG</a:t>
            </a:r>
          </a:p>
        </p:txBody>
      </p:sp>
      <p:sp>
        <p:nvSpPr>
          <p:cNvPr id="15" name="authn-question">
            <a:extLst>
              <a:ext uri="{FF2B5EF4-FFF2-40B4-BE49-F238E27FC236}">
                <a16:creationId xmlns:a16="http://schemas.microsoft.com/office/drawing/2014/main" id="{2AF23380-D2DB-8BA2-8D23-88DDBA9F825B}"/>
              </a:ext>
            </a:extLst>
          </p:cNvPr>
          <p:cNvSpPr>
            <a:spLocks noGrp="1"/>
          </p:cNvSpPr>
          <p:nvPr/>
        </p:nvSpPr>
        <p:spPr>
          <a:xfrm>
            <a:off x="1143000" y="2362200"/>
            <a:ext cx="371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75" b="1">
                <a:solidFill>
                  <a:srgbClr val="26324A"/>
                </a:solidFill>
              </a:defRPr>
            </a:pPr>
            <a:r>
              <a:rPr sz="2175" b="1">
                <a:solidFill>
                  <a:srgbClr val="26324A"/>
                </a:solidFill>
              </a:rPr>
              <a:t>Wer ist diese Person?</a:t>
            </a:r>
          </a:p>
        </p:txBody>
      </p:sp>
      <p:sp>
        <p:nvSpPr>
          <p:cNvPr id="16" name="authn-example">
            <a:extLst>
              <a:ext uri="{FF2B5EF4-FFF2-40B4-BE49-F238E27FC236}">
                <a16:creationId xmlns:a16="http://schemas.microsoft.com/office/drawing/2014/main" id="{463D0929-566D-0171-16F5-58769A503CCA}"/>
              </a:ext>
            </a:extLst>
          </p:cNvPr>
          <p:cNvSpPr>
            <a:spLocks noGrp="1"/>
          </p:cNvSpPr>
          <p:nvPr/>
        </p:nvSpPr>
        <p:spPr>
          <a:xfrm>
            <a:off x="1143000" y="3048000"/>
            <a:ext cx="36385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5C667A"/>
                </a:solidFill>
              </a:defRPr>
            </a:pPr>
            <a:r>
              <a:rPr sz="1500" b="0">
                <a:solidFill>
                  <a:srgbClr val="5C667A"/>
                </a:solidFill>
              </a:rPr>
              <a:t>Die Anmeldung bestätigt nur, wer die Person ist</a:t>
            </a:r>
          </a:p>
        </p:txBody>
      </p:sp>
      <p:sp>
        <p:nvSpPr>
          <p:cNvPr id="17" name="authz-label-panel">
            <a:extLst>
              <a:ext uri="{FF2B5EF4-FFF2-40B4-BE49-F238E27FC236}">
                <a16:creationId xmlns:a16="http://schemas.microsoft.com/office/drawing/2014/main" id="{D566B8A6-6591-EB92-58B4-F1479EF8CC2E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2247900" cy="419100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77A68"/>
                </a:solidFill>
              </a:defRPr>
            </a:pPr>
            <a:r>
              <a:rPr sz="1500" b="1">
                <a:solidFill>
                  <a:srgbClr val="477A68"/>
                </a:solidFill>
              </a:rPr>
              <a:t>AUTORISIERUNG</a:t>
            </a:r>
          </a:p>
        </p:txBody>
      </p:sp>
      <p:sp>
        <p:nvSpPr>
          <p:cNvPr id="18" name="authz-question">
            <a:extLst>
              <a:ext uri="{FF2B5EF4-FFF2-40B4-BE49-F238E27FC236}">
                <a16:creationId xmlns:a16="http://schemas.microsoft.com/office/drawing/2014/main" id="{BC989A2F-4303-9CD5-8E85-663961F4C092}"/>
              </a:ext>
            </a:extLst>
          </p:cNvPr>
          <p:cNvSpPr>
            <a:spLocks noGrp="1"/>
          </p:cNvSpPr>
          <p:nvPr/>
        </p:nvSpPr>
        <p:spPr>
          <a:xfrm>
            <a:off x="6096000" y="2362200"/>
            <a:ext cx="371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75" b="1">
                <a:solidFill>
                  <a:srgbClr val="26324A"/>
                </a:solidFill>
              </a:defRPr>
            </a:pPr>
            <a:r>
              <a:rPr sz="2175" b="1">
                <a:solidFill>
                  <a:srgbClr val="26324A"/>
                </a:solidFill>
              </a:rPr>
              <a:t>Was darf sie sehen oder tun?</a:t>
            </a:r>
          </a:p>
        </p:txBody>
      </p:sp>
      <p:sp>
        <p:nvSpPr>
          <p:cNvPr id="19" name="authz-example">
            <a:extLst>
              <a:ext uri="{FF2B5EF4-FFF2-40B4-BE49-F238E27FC236}">
                <a16:creationId xmlns:a16="http://schemas.microsoft.com/office/drawing/2014/main" id="{2C4DF57C-F9CC-F112-4B42-C14BCD382298}"/>
              </a:ext>
            </a:extLst>
          </p:cNvPr>
          <p:cNvSpPr>
            <a:spLocks noGrp="1"/>
          </p:cNvSpPr>
          <p:nvPr/>
        </p:nvSpPr>
        <p:spPr>
          <a:xfrm>
            <a:off x="6096000" y="3048000"/>
            <a:ext cx="36385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5C667A"/>
                </a:solidFill>
              </a:defRPr>
            </a:pPr>
            <a:r>
              <a:rPr sz="1500" b="0">
                <a:solidFill>
                  <a:srgbClr val="5C667A"/>
                </a:solidFill>
              </a:rPr>
              <a:t>Fehlt diese Prüfung, können geschützte Daten sichtbar werden</a:t>
            </a:r>
          </a:p>
        </p:txBody>
      </p:sp>
      <p:sp>
        <p:nvSpPr>
          <p:cNvPr id="20" name="auth-takeaway">
            <a:extLst>
              <a:ext uri="{FF2B5EF4-FFF2-40B4-BE49-F238E27FC236}">
                <a16:creationId xmlns:a16="http://schemas.microsoft.com/office/drawing/2014/main" id="{573F5DDC-9505-33CD-FC42-E73BD247A509}"/>
              </a:ext>
            </a:extLst>
          </p:cNvPr>
          <p:cNvSpPr>
            <a:spLocks noGrp="1"/>
          </p:cNvSpPr>
          <p:nvPr/>
        </p:nvSpPr>
        <p:spPr>
          <a:xfrm>
            <a:off x="1219200" y="4953000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6324A"/>
                </a:solidFill>
              </a:defRPr>
            </a:pPr>
            <a:r>
              <a:rPr sz="1800" b="1">
                <a:solidFill>
                  <a:srgbClr val="26324A"/>
                </a:solidFill>
              </a:rPr>
              <a:t>Schutzprinzip: Jede geschützte Anfrage braucht eine Autorisierungsprüfung.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D49D5B41-BEB8-F2CC-27F0-0062BA12BE6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11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4253078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5FB1826E-0A62-4C4A-D89C-A520B2DDC12E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Unsichere Eingabebearbeitung</a:t>
            </a:r>
          </a:p>
        </p:txBody>
      </p:sp>
      <p:sp>
        <p:nvSpPr>
          <p:cNvPr id="2" name="sql-panel">
            <a:extLst>
              <a:ext uri="{FF2B5EF4-FFF2-40B4-BE49-F238E27FC236}">
                <a16:creationId xmlns:a16="http://schemas.microsoft.com/office/drawing/2014/main" id="{4848E4D1-A370-622B-A4D2-578DF1ED8871}"/>
              </a:ext>
            </a:extLst>
          </p:cNvPr>
          <p:cNvSpPr>
            <a:spLocks noGrp="1"/>
          </p:cNvSpPr>
          <p:nvPr/>
        </p:nvSpPr>
        <p:spPr>
          <a:xfrm>
            <a:off x="838200" y="1228725"/>
            <a:ext cx="4792891" cy="1619250"/>
          </a:xfrm>
          <a:prstGeom prst="roundRect">
            <a:avLst>
              <a:gd name="adj" fmla="val 10588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ql-code">
            <a:extLst>
              <a:ext uri="{FF2B5EF4-FFF2-40B4-BE49-F238E27FC236}">
                <a16:creationId xmlns:a16="http://schemas.microsoft.com/office/drawing/2014/main" id="{235208C6-6760-772A-39CA-1B2D9DCB2E01}"/>
              </a:ext>
            </a:extLst>
          </p:cNvPr>
          <p:cNvSpPr>
            <a:spLocks noGrp="1"/>
          </p:cNvSpPr>
          <p:nvPr/>
        </p:nvSpPr>
        <p:spPr>
          <a:xfrm>
            <a:off x="1228725" y="1533525"/>
            <a:ext cx="4051936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26324A"/>
                </a:solidFill>
              </a:defRPr>
            </a:pPr>
            <a:r>
              <a:rPr sz="1875" b="1">
                <a:solidFill>
                  <a:srgbClr val="26324A"/>
                </a:solidFill>
              </a:rPr>
              <a:t>SELECT * FROM users</a:t>
            </a:r>
          </a:p>
          <a:p>
            <a:pPr algn="l">
              <a:buNone/>
              <a:defRPr sz="1875" b="1">
                <a:solidFill>
                  <a:srgbClr val="26324A"/>
                </a:solidFill>
              </a:defRPr>
            </a:pPr>
            <a:r>
              <a:rPr sz="1875" b="1">
                <a:solidFill>
                  <a:srgbClr val="26324A"/>
                </a:solidFill>
              </a:rPr>
              <a:t>WHERE email = '&lt;Eingabe&gt;' AND </a:t>
            </a:r>
            <a:br/>
            <a:r>
              <a:rPr sz="1875" b="1">
                <a:solidFill>
                  <a:srgbClr val="26324A"/>
                </a:solidFill>
              </a:rPr>
              <a:t>password = '&lt;Eingabe&gt;'</a:t>
            </a:r>
          </a:p>
        </p:txBody>
      </p:sp>
      <p:sp>
        <p:nvSpPr>
          <p:cNvPr id="6" name="input-panel">
            <a:extLst>
              <a:ext uri="{FF2B5EF4-FFF2-40B4-BE49-F238E27FC236}">
                <a16:creationId xmlns:a16="http://schemas.microsoft.com/office/drawing/2014/main" id="{E98C2FD1-10B5-CCE5-8C3B-BA05F50D1AD2}"/>
              </a:ext>
            </a:extLst>
          </p:cNvPr>
          <p:cNvSpPr>
            <a:spLocks noGrp="1"/>
          </p:cNvSpPr>
          <p:nvPr/>
        </p:nvSpPr>
        <p:spPr>
          <a:xfrm>
            <a:off x="838200" y="3470910"/>
            <a:ext cx="9525000" cy="1143000"/>
          </a:xfrm>
          <a:prstGeom prst="roundRect">
            <a:avLst>
              <a:gd name="adj" fmla="val 15000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E2C9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input-claim">
            <a:extLst>
              <a:ext uri="{FF2B5EF4-FFF2-40B4-BE49-F238E27FC236}">
                <a16:creationId xmlns:a16="http://schemas.microsoft.com/office/drawing/2014/main" id="{3F1332EF-8E3F-475F-5F55-A97AFEE1B7AD}"/>
              </a:ext>
            </a:extLst>
          </p:cNvPr>
          <p:cNvSpPr>
            <a:spLocks noGrp="1"/>
          </p:cNvSpPr>
          <p:nvPr/>
        </p:nvSpPr>
        <p:spPr>
          <a:xfrm>
            <a:off x="1181100" y="3651885"/>
            <a:ext cx="8810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26324A"/>
                </a:solidFill>
              </a:defRPr>
            </a:pPr>
            <a:r>
              <a:rPr sz="1650" b="1">
                <a:solidFill>
                  <a:srgbClr val="26324A"/>
                </a:solidFill>
              </a:rPr>
              <a:t>&lt;Eingabe&gt; kann so gewählt werden, dass Nutzer:innen schadhafte Befehle einspielen können.</a:t>
            </a:r>
          </a:p>
        </p:txBody>
      </p:sp>
      <p:sp>
        <p:nvSpPr>
          <p:cNvPr id="8" name="input-limit">
            <a:extLst>
              <a:ext uri="{FF2B5EF4-FFF2-40B4-BE49-F238E27FC236}">
                <a16:creationId xmlns:a16="http://schemas.microsoft.com/office/drawing/2014/main" id="{83993B1D-F6CA-3E9F-29F9-D3604E8EE4B4}"/>
              </a:ext>
            </a:extLst>
          </p:cNvPr>
          <p:cNvSpPr>
            <a:spLocks noGrp="1"/>
          </p:cNvSpPr>
          <p:nvPr/>
        </p:nvSpPr>
        <p:spPr>
          <a:xfrm>
            <a:off x="1343025" y="5111115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r>
              <a:rPr b="1">
                <a:solidFill>
                  <a:srgbClr val="26324A"/>
                </a:solidFill>
              </a:rPr>
              <a:t>Schutzprinzip: Code und Daten getrennt halten, zum Beispiel durch parametrisierte Abfragen.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CEACD35-3D59-C525-3662-D0A6E8DA719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12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19" name="Grafi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616" y="-117347"/>
            <a:ext cx="4792891" cy="376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696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CEC0C4FA-1A82-9374-23FF-F22A1C79ABA9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Jetzt seid ihr dran: zwei Schwachstellen untersuchen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A7C129F5-7653-AB2B-A120-8D31F33D58E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13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rcRect t="10910" b="10910"/>
          <a:stretch>
            <a:fillRect/>
          </a:stretch>
        </p:blipFill>
        <p:spPr>
          <a:xfrm>
            <a:off x="1863524" y="1566710"/>
            <a:ext cx="8464952" cy="3724579"/>
          </a:xfrm>
          <a:prstGeom prst="roundRect">
            <a:avLst>
              <a:gd name="adj" fmla="val 3636"/>
            </a:avLst>
          </a:prstGeom>
        </p:spPr>
      </p:pic>
    </p:spTree>
    <p:extLst>
      <p:ext uri="{BB962C8B-B14F-4D97-AF65-F5344CB8AC3E}">
        <p14:creationId xmlns:p14="http://schemas.microsoft.com/office/powerpoint/2010/main" val="1862436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5FB1826E-0A62-4C4A-D89C-A520B2DDC12E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Juice Shop lokal starten</a:t>
            </a:r>
          </a:p>
        </p:txBody>
      </p:sp>
      <p:sp>
        <p:nvSpPr>
          <p:cNvPr id="2" name="sql-panel">
            <a:extLst>
              <a:ext uri="{FF2B5EF4-FFF2-40B4-BE49-F238E27FC236}">
                <a16:creationId xmlns:a16="http://schemas.microsoft.com/office/drawing/2014/main" id="{4848E4D1-A370-622B-A4D2-578DF1ED8871}"/>
              </a:ext>
            </a:extLst>
          </p:cNvPr>
          <p:cNvSpPr>
            <a:spLocks noGrp="1"/>
          </p:cNvSpPr>
          <p:nvPr/>
        </p:nvSpPr>
        <p:spPr>
          <a:xfrm>
            <a:off x="838200" y="1546860"/>
            <a:ext cx="9525000" cy="1619250"/>
          </a:xfrm>
          <a:prstGeom prst="roundRect">
            <a:avLst>
              <a:gd name="adj" fmla="val 10588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ql-code">
            <a:extLst>
              <a:ext uri="{FF2B5EF4-FFF2-40B4-BE49-F238E27FC236}">
                <a16:creationId xmlns:a16="http://schemas.microsoft.com/office/drawing/2014/main" id="{235208C6-6760-772A-39CA-1B2D9DCB2E01}"/>
              </a:ext>
            </a:extLst>
          </p:cNvPr>
          <p:cNvSpPr>
            <a:spLocks noGrp="1"/>
          </p:cNvSpPr>
          <p:nvPr/>
        </p:nvSpPr>
        <p:spPr>
          <a:xfrm>
            <a:off x="1200150" y="1851660"/>
            <a:ext cx="87153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875" b="1">
                <a:solidFill>
                  <a:srgbClr val="26324A"/>
                </a:solidFill>
              </a:defRPr>
            </a:pPr>
            <a:r>
              <a:rPr sz="1875" b="1">
                <a:solidFill>
                  <a:srgbClr val="26324A"/>
                </a:solidFill>
              </a:rPr>
              <a:t>docker run --rm --name cyberraum-juice-shop -e 'NODE_CONFIG={"hackingInstructor":{"isEnabled":false}}' -p 127.0.0.1:3000:3000 bkimminich/juice-shop:v20.0.0</a:t>
            </a:r>
          </a:p>
        </p:txBody>
      </p:sp>
      <p:sp>
        <p:nvSpPr>
          <p:cNvPr id="6" name="input-panel">
            <a:extLst>
              <a:ext uri="{FF2B5EF4-FFF2-40B4-BE49-F238E27FC236}">
                <a16:creationId xmlns:a16="http://schemas.microsoft.com/office/drawing/2014/main" id="{E98C2FD1-10B5-CCE5-8C3B-BA05F50D1AD2}"/>
              </a:ext>
            </a:extLst>
          </p:cNvPr>
          <p:cNvSpPr>
            <a:spLocks noGrp="1"/>
          </p:cNvSpPr>
          <p:nvPr/>
        </p:nvSpPr>
        <p:spPr>
          <a:xfrm>
            <a:off x="838200" y="3470910"/>
            <a:ext cx="9525000" cy="1143000"/>
          </a:xfrm>
          <a:prstGeom prst="roundRect">
            <a:avLst>
              <a:gd name="adj" fmla="val 15000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E2C9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input-claim">
            <a:extLst>
              <a:ext uri="{FF2B5EF4-FFF2-40B4-BE49-F238E27FC236}">
                <a16:creationId xmlns:a16="http://schemas.microsoft.com/office/drawing/2014/main" id="{3F1332EF-8E3F-475F-5F55-A97AFEE1B7AD}"/>
              </a:ext>
            </a:extLst>
          </p:cNvPr>
          <p:cNvSpPr>
            <a:spLocks noGrp="1"/>
          </p:cNvSpPr>
          <p:nvPr/>
        </p:nvSpPr>
        <p:spPr>
          <a:xfrm>
            <a:off x="1181100" y="3651885"/>
            <a:ext cx="8810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26324A"/>
                </a:solidFill>
              </a:defRPr>
            </a:pPr>
            <a:r>
              <a:rPr sz="1650" b="1">
                <a:solidFill>
                  <a:srgbClr val="26324A"/>
                </a:solidFill>
              </a:rPr>
              <a:t>Wartet auf „Server listening on port 3000“ und öffnet http://127.0.0.1:3000.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CEACD35-3D59-C525-3662-D0A6E8DA719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A83FA91-883A-0168-8075-96CEB9DCA3C2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14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3102696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605CAB30-E4E2-65A5-D2D3-C62A4D578831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Vorgehen</a:t>
            </a:r>
          </a:p>
        </p:txBody>
      </p:sp>
      <p:sp>
        <p:nvSpPr>
          <p:cNvPr id="2" name="loop-0">
            <a:extLst>
              <a:ext uri="{FF2B5EF4-FFF2-40B4-BE49-F238E27FC236}">
                <a16:creationId xmlns:a16="http://schemas.microsoft.com/office/drawing/2014/main" id="{734B9CCF-0E07-F0C9-2FDE-E25F96116E99}"/>
              </a:ext>
            </a:extLst>
          </p:cNvPr>
          <p:cNvSpPr>
            <a:spLocks noGrp="1"/>
          </p:cNvSpPr>
          <p:nvPr/>
        </p:nvSpPr>
        <p:spPr>
          <a:xfrm>
            <a:off x="1390650" y="1774825"/>
            <a:ext cx="1657350" cy="1257300"/>
          </a:xfrm>
          <a:prstGeom prst="roundRect">
            <a:avLst>
              <a:gd name="adj" fmla="val 13636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loop-num-0">
            <a:extLst>
              <a:ext uri="{FF2B5EF4-FFF2-40B4-BE49-F238E27FC236}">
                <a16:creationId xmlns:a16="http://schemas.microsoft.com/office/drawing/2014/main" id="{2F4A7A08-CAA7-57A8-5D1E-62896D3A59C7}"/>
              </a:ext>
            </a:extLst>
          </p:cNvPr>
          <p:cNvSpPr>
            <a:spLocks noGrp="1"/>
          </p:cNvSpPr>
          <p:nvPr/>
        </p:nvSpPr>
        <p:spPr>
          <a:xfrm>
            <a:off x="1933575" y="1908175"/>
            <a:ext cx="57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385D8A"/>
                </a:solidFill>
              </a:defRPr>
            </a:pPr>
            <a:r>
              <a:rPr sz="1500" b="1">
                <a:solidFill>
                  <a:srgbClr val="385D8A"/>
                </a:solidFill>
              </a:rPr>
              <a:t>1</a:t>
            </a:r>
          </a:p>
        </p:txBody>
      </p:sp>
      <p:sp>
        <p:nvSpPr>
          <p:cNvPr id="6" name="loop-label-0">
            <a:extLst>
              <a:ext uri="{FF2B5EF4-FFF2-40B4-BE49-F238E27FC236}">
                <a16:creationId xmlns:a16="http://schemas.microsoft.com/office/drawing/2014/main" id="{FDBA7C3A-A2DC-AC6D-B57E-53128A3F3E26}"/>
              </a:ext>
            </a:extLst>
          </p:cNvPr>
          <p:cNvSpPr>
            <a:spLocks noGrp="1"/>
          </p:cNvSpPr>
          <p:nvPr/>
        </p:nvSpPr>
        <p:spPr>
          <a:xfrm>
            <a:off x="1504950" y="2327275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6324A"/>
                </a:solidFill>
              </a:defRPr>
            </a:pPr>
            <a:r>
              <a:rPr sz="1425" b="1">
                <a:solidFill>
                  <a:srgbClr val="26324A"/>
                </a:solidFill>
              </a:rPr>
              <a:t>Beobachtung</a:t>
            </a:r>
          </a:p>
        </p:txBody>
      </p:sp>
      <p:sp>
        <p:nvSpPr>
          <p:cNvPr id="7" name="loop-arrow-0">
            <a:extLst>
              <a:ext uri="{FF2B5EF4-FFF2-40B4-BE49-F238E27FC236}">
                <a16:creationId xmlns:a16="http://schemas.microsoft.com/office/drawing/2014/main" id="{ECD8FC2C-6D6C-A270-2FBE-B01F177546D9}"/>
              </a:ext>
            </a:extLst>
          </p:cNvPr>
          <p:cNvSpPr>
            <a:spLocks noGrp="1"/>
          </p:cNvSpPr>
          <p:nvPr/>
        </p:nvSpPr>
        <p:spPr>
          <a:xfrm>
            <a:off x="3048000" y="2174875"/>
            <a:ext cx="266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5C667A"/>
                </a:solidFill>
              </a:defRPr>
            </a:pPr>
            <a:r>
              <a:rPr sz="2100" b="1">
                <a:solidFill>
                  <a:srgbClr val="5C667A"/>
                </a:solidFill>
              </a:rPr>
              <a:t>→</a:t>
            </a:r>
          </a:p>
        </p:txBody>
      </p:sp>
      <p:sp>
        <p:nvSpPr>
          <p:cNvPr id="8" name="loop-1">
            <a:extLst>
              <a:ext uri="{FF2B5EF4-FFF2-40B4-BE49-F238E27FC236}">
                <a16:creationId xmlns:a16="http://schemas.microsoft.com/office/drawing/2014/main" id="{96D59D64-2305-2EDD-D6C4-35C807EAF812}"/>
              </a:ext>
            </a:extLst>
          </p:cNvPr>
          <p:cNvSpPr>
            <a:spLocks noGrp="1"/>
          </p:cNvSpPr>
          <p:nvPr/>
        </p:nvSpPr>
        <p:spPr>
          <a:xfrm>
            <a:off x="3314700" y="1774825"/>
            <a:ext cx="1657350" cy="1257300"/>
          </a:xfrm>
          <a:prstGeom prst="roundRect">
            <a:avLst>
              <a:gd name="adj" fmla="val 13636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loop-num-1">
            <a:extLst>
              <a:ext uri="{FF2B5EF4-FFF2-40B4-BE49-F238E27FC236}">
                <a16:creationId xmlns:a16="http://schemas.microsoft.com/office/drawing/2014/main" id="{16E3D1D0-299D-4420-D3CD-1A84EED3CB03}"/>
              </a:ext>
            </a:extLst>
          </p:cNvPr>
          <p:cNvSpPr>
            <a:spLocks noGrp="1"/>
          </p:cNvSpPr>
          <p:nvPr/>
        </p:nvSpPr>
        <p:spPr>
          <a:xfrm>
            <a:off x="3857625" y="1908175"/>
            <a:ext cx="57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385D8A"/>
                </a:solidFill>
              </a:defRPr>
            </a:pPr>
            <a:r>
              <a:rPr sz="1500" b="1">
                <a:solidFill>
                  <a:srgbClr val="385D8A"/>
                </a:solidFill>
              </a:rPr>
              <a:t>2</a:t>
            </a:r>
          </a:p>
        </p:txBody>
      </p:sp>
      <p:sp>
        <p:nvSpPr>
          <p:cNvPr id="10" name="loop-label-1">
            <a:extLst>
              <a:ext uri="{FF2B5EF4-FFF2-40B4-BE49-F238E27FC236}">
                <a16:creationId xmlns:a16="http://schemas.microsoft.com/office/drawing/2014/main" id="{00EFDFC5-87D4-C43E-90F2-2FA96B04D052}"/>
              </a:ext>
            </a:extLst>
          </p:cNvPr>
          <p:cNvSpPr>
            <a:spLocks noGrp="1"/>
          </p:cNvSpPr>
          <p:nvPr/>
        </p:nvSpPr>
        <p:spPr>
          <a:xfrm>
            <a:off x="3429000" y="2327275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6324A"/>
                </a:solidFill>
              </a:defRPr>
            </a:pPr>
            <a:r>
              <a:rPr sz="1425" b="1">
                <a:solidFill>
                  <a:srgbClr val="26324A"/>
                </a:solidFill>
              </a:rPr>
              <a:t>Hypothese</a:t>
            </a:r>
          </a:p>
        </p:txBody>
      </p:sp>
      <p:sp>
        <p:nvSpPr>
          <p:cNvPr id="11" name="loop-arrow-1">
            <a:extLst>
              <a:ext uri="{FF2B5EF4-FFF2-40B4-BE49-F238E27FC236}">
                <a16:creationId xmlns:a16="http://schemas.microsoft.com/office/drawing/2014/main" id="{37E58983-7E26-A386-DCF4-D9ECE46DAE36}"/>
              </a:ext>
            </a:extLst>
          </p:cNvPr>
          <p:cNvSpPr>
            <a:spLocks noGrp="1"/>
          </p:cNvSpPr>
          <p:nvPr/>
        </p:nvSpPr>
        <p:spPr>
          <a:xfrm>
            <a:off x="4972050" y="2174875"/>
            <a:ext cx="266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5C667A"/>
                </a:solidFill>
              </a:defRPr>
            </a:pPr>
            <a:r>
              <a:rPr sz="2100" b="1">
                <a:solidFill>
                  <a:srgbClr val="5C667A"/>
                </a:solidFill>
              </a:rPr>
              <a:t>→</a:t>
            </a:r>
          </a:p>
        </p:txBody>
      </p:sp>
      <p:sp>
        <p:nvSpPr>
          <p:cNvPr id="12" name="loop-2">
            <a:extLst>
              <a:ext uri="{FF2B5EF4-FFF2-40B4-BE49-F238E27FC236}">
                <a16:creationId xmlns:a16="http://schemas.microsoft.com/office/drawing/2014/main" id="{4DAE2B40-ACE7-43F4-E9BD-9BA3020FCF46}"/>
              </a:ext>
            </a:extLst>
          </p:cNvPr>
          <p:cNvSpPr>
            <a:spLocks noGrp="1"/>
          </p:cNvSpPr>
          <p:nvPr/>
        </p:nvSpPr>
        <p:spPr>
          <a:xfrm>
            <a:off x="5238750" y="1774825"/>
            <a:ext cx="1657350" cy="1257300"/>
          </a:xfrm>
          <a:prstGeom prst="roundRect">
            <a:avLst>
              <a:gd name="adj" fmla="val 13636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DFC2A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loop-num-2">
            <a:extLst>
              <a:ext uri="{FF2B5EF4-FFF2-40B4-BE49-F238E27FC236}">
                <a16:creationId xmlns:a16="http://schemas.microsoft.com/office/drawing/2014/main" id="{92ABF429-9BEA-9451-9346-748B972E6A9F}"/>
              </a:ext>
            </a:extLst>
          </p:cNvPr>
          <p:cNvSpPr>
            <a:spLocks noGrp="1"/>
          </p:cNvSpPr>
          <p:nvPr/>
        </p:nvSpPr>
        <p:spPr>
          <a:xfrm>
            <a:off x="5781675" y="1908175"/>
            <a:ext cx="57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A56838"/>
                </a:solidFill>
              </a:defRPr>
            </a:pPr>
            <a:r>
              <a:rPr sz="1500" b="1">
                <a:solidFill>
                  <a:srgbClr val="A56838"/>
                </a:solidFill>
              </a:rPr>
              <a:t>3</a:t>
            </a:r>
          </a:p>
        </p:txBody>
      </p:sp>
      <p:sp>
        <p:nvSpPr>
          <p:cNvPr id="14" name="loop-label-2">
            <a:extLst>
              <a:ext uri="{FF2B5EF4-FFF2-40B4-BE49-F238E27FC236}">
                <a16:creationId xmlns:a16="http://schemas.microsoft.com/office/drawing/2014/main" id="{DB692D96-2EE8-BBFD-5365-059A356BA06D}"/>
              </a:ext>
            </a:extLst>
          </p:cNvPr>
          <p:cNvSpPr>
            <a:spLocks noGrp="1"/>
          </p:cNvSpPr>
          <p:nvPr/>
        </p:nvSpPr>
        <p:spPr>
          <a:xfrm>
            <a:off x="5353050" y="2327275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6324A"/>
                </a:solidFill>
              </a:defRPr>
            </a:pPr>
            <a:r>
              <a:rPr sz="1425" b="1">
                <a:solidFill>
                  <a:srgbClr val="26324A"/>
                </a:solidFill>
              </a:rPr>
              <a:t>Aktion</a:t>
            </a:r>
          </a:p>
        </p:txBody>
      </p:sp>
      <p:sp>
        <p:nvSpPr>
          <p:cNvPr id="15" name="loop-arrow-2">
            <a:extLst>
              <a:ext uri="{FF2B5EF4-FFF2-40B4-BE49-F238E27FC236}">
                <a16:creationId xmlns:a16="http://schemas.microsoft.com/office/drawing/2014/main" id="{3B60E823-A0C1-D0E2-214A-47838565D601}"/>
              </a:ext>
            </a:extLst>
          </p:cNvPr>
          <p:cNvSpPr>
            <a:spLocks noGrp="1"/>
          </p:cNvSpPr>
          <p:nvPr/>
        </p:nvSpPr>
        <p:spPr>
          <a:xfrm>
            <a:off x="6896100" y="2174875"/>
            <a:ext cx="266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5C667A"/>
                </a:solidFill>
              </a:defRPr>
            </a:pPr>
            <a:r>
              <a:rPr sz="2100" b="1">
                <a:solidFill>
                  <a:srgbClr val="5C667A"/>
                </a:solidFill>
              </a:rPr>
              <a:t>→</a:t>
            </a:r>
          </a:p>
        </p:txBody>
      </p:sp>
      <p:sp>
        <p:nvSpPr>
          <p:cNvPr id="16" name="loop-3">
            <a:extLst>
              <a:ext uri="{FF2B5EF4-FFF2-40B4-BE49-F238E27FC236}">
                <a16:creationId xmlns:a16="http://schemas.microsoft.com/office/drawing/2014/main" id="{42C7B0D9-846B-0902-BFAB-3A37D1AD86ED}"/>
              </a:ext>
            </a:extLst>
          </p:cNvPr>
          <p:cNvSpPr>
            <a:spLocks noGrp="1"/>
          </p:cNvSpPr>
          <p:nvPr/>
        </p:nvSpPr>
        <p:spPr>
          <a:xfrm>
            <a:off x="7162800" y="1774825"/>
            <a:ext cx="1657350" cy="1257300"/>
          </a:xfrm>
          <a:prstGeom prst="roundRect">
            <a:avLst>
              <a:gd name="adj" fmla="val 13636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loop-num-3">
            <a:extLst>
              <a:ext uri="{FF2B5EF4-FFF2-40B4-BE49-F238E27FC236}">
                <a16:creationId xmlns:a16="http://schemas.microsoft.com/office/drawing/2014/main" id="{BF1A48F2-97DE-84CB-2893-8DDF69DF5B35}"/>
              </a:ext>
            </a:extLst>
          </p:cNvPr>
          <p:cNvSpPr>
            <a:spLocks noGrp="1"/>
          </p:cNvSpPr>
          <p:nvPr/>
        </p:nvSpPr>
        <p:spPr>
          <a:xfrm>
            <a:off x="7705725" y="1908175"/>
            <a:ext cx="57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385D8A"/>
                </a:solidFill>
              </a:defRPr>
            </a:pPr>
            <a:r>
              <a:rPr sz="1500" b="1">
                <a:solidFill>
                  <a:srgbClr val="385D8A"/>
                </a:solidFill>
              </a:rPr>
              <a:t>4</a:t>
            </a:r>
          </a:p>
        </p:txBody>
      </p:sp>
      <p:sp>
        <p:nvSpPr>
          <p:cNvPr id="18" name="loop-label-3">
            <a:extLst>
              <a:ext uri="{FF2B5EF4-FFF2-40B4-BE49-F238E27FC236}">
                <a16:creationId xmlns:a16="http://schemas.microsoft.com/office/drawing/2014/main" id="{E0B103D3-A1A3-D709-BE1B-FEC5AE70E34A}"/>
              </a:ext>
            </a:extLst>
          </p:cNvPr>
          <p:cNvSpPr>
            <a:spLocks noGrp="1"/>
          </p:cNvSpPr>
          <p:nvPr/>
        </p:nvSpPr>
        <p:spPr>
          <a:xfrm>
            <a:off x="7277100" y="2327275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6324A"/>
                </a:solidFill>
              </a:defRPr>
            </a:pPr>
            <a:r>
              <a:rPr sz="1425" b="1">
                <a:solidFill>
                  <a:srgbClr val="26324A"/>
                </a:solidFill>
              </a:rPr>
              <a:t>Ergebnis</a:t>
            </a:r>
          </a:p>
        </p:txBody>
      </p:sp>
      <p:sp>
        <p:nvSpPr>
          <p:cNvPr id="19" name="loop-arrow-3">
            <a:extLst>
              <a:ext uri="{FF2B5EF4-FFF2-40B4-BE49-F238E27FC236}">
                <a16:creationId xmlns:a16="http://schemas.microsoft.com/office/drawing/2014/main" id="{BB9D50FC-8A29-E7CD-40CE-3865E893D01A}"/>
              </a:ext>
            </a:extLst>
          </p:cNvPr>
          <p:cNvSpPr>
            <a:spLocks noGrp="1"/>
          </p:cNvSpPr>
          <p:nvPr/>
        </p:nvSpPr>
        <p:spPr>
          <a:xfrm>
            <a:off x="8820150" y="2174875"/>
            <a:ext cx="266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5C667A"/>
                </a:solidFill>
              </a:defRPr>
            </a:pPr>
            <a:r>
              <a:rPr sz="2100" b="1">
                <a:solidFill>
                  <a:srgbClr val="5C667A"/>
                </a:solidFill>
              </a:rPr>
              <a:t>→</a:t>
            </a:r>
          </a:p>
        </p:txBody>
      </p:sp>
      <p:sp>
        <p:nvSpPr>
          <p:cNvPr id="20" name="loop-4">
            <a:extLst>
              <a:ext uri="{FF2B5EF4-FFF2-40B4-BE49-F238E27FC236}">
                <a16:creationId xmlns:a16="http://schemas.microsoft.com/office/drawing/2014/main" id="{ED60C551-44F5-6DE4-DBD1-9BE37DF88D55}"/>
              </a:ext>
            </a:extLst>
          </p:cNvPr>
          <p:cNvSpPr>
            <a:spLocks noGrp="1"/>
          </p:cNvSpPr>
          <p:nvPr/>
        </p:nvSpPr>
        <p:spPr>
          <a:xfrm>
            <a:off x="9086850" y="1774825"/>
            <a:ext cx="1657350" cy="1257300"/>
          </a:xfrm>
          <a:prstGeom prst="roundRect">
            <a:avLst>
              <a:gd name="adj" fmla="val 13636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loop-num-4">
            <a:extLst>
              <a:ext uri="{FF2B5EF4-FFF2-40B4-BE49-F238E27FC236}">
                <a16:creationId xmlns:a16="http://schemas.microsoft.com/office/drawing/2014/main" id="{4A4ABC85-0396-A1C4-8ADE-ACEA1E841C0E}"/>
              </a:ext>
            </a:extLst>
          </p:cNvPr>
          <p:cNvSpPr>
            <a:spLocks noGrp="1"/>
          </p:cNvSpPr>
          <p:nvPr/>
        </p:nvSpPr>
        <p:spPr>
          <a:xfrm>
            <a:off x="9629775" y="1908175"/>
            <a:ext cx="57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385D8A"/>
                </a:solidFill>
              </a:defRPr>
            </a:pPr>
            <a:r>
              <a:rPr sz="1500" b="1">
                <a:solidFill>
                  <a:srgbClr val="385D8A"/>
                </a:solidFill>
              </a:rPr>
              <a:t>5</a:t>
            </a:r>
          </a:p>
        </p:txBody>
      </p:sp>
      <p:sp>
        <p:nvSpPr>
          <p:cNvPr id="22" name="loop-label-4">
            <a:extLst>
              <a:ext uri="{FF2B5EF4-FFF2-40B4-BE49-F238E27FC236}">
                <a16:creationId xmlns:a16="http://schemas.microsoft.com/office/drawing/2014/main" id="{6EAE2C3E-31FC-AF6C-CB7B-4A445ABFF79A}"/>
              </a:ext>
            </a:extLst>
          </p:cNvPr>
          <p:cNvSpPr>
            <a:spLocks noGrp="1"/>
          </p:cNvSpPr>
          <p:nvPr/>
        </p:nvSpPr>
        <p:spPr>
          <a:xfrm>
            <a:off x="9201150" y="2327275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6324A"/>
                </a:solidFill>
              </a:defRPr>
            </a:pPr>
            <a:r>
              <a:rPr sz="1425" b="1">
                <a:solidFill>
                  <a:srgbClr val="26324A"/>
                </a:solidFill>
              </a:rPr>
              <a:t>Nächster Schritt</a:t>
            </a:r>
          </a:p>
        </p:txBody>
      </p:sp>
      <p:sp>
        <p:nvSpPr>
          <p:cNvPr id="23" name="decision-panel">
            <a:extLst>
              <a:ext uri="{FF2B5EF4-FFF2-40B4-BE49-F238E27FC236}">
                <a16:creationId xmlns:a16="http://schemas.microsoft.com/office/drawing/2014/main" id="{3924F0DA-D231-942F-4C27-B99D68C03E3B}"/>
              </a:ext>
            </a:extLst>
          </p:cNvPr>
          <p:cNvSpPr>
            <a:spLocks noGrp="1"/>
          </p:cNvSpPr>
          <p:nvPr/>
        </p:nvSpPr>
        <p:spPr>
          <a:xfrm>
            <a:off x="2133600" y="3584575"/>
            <a:ext cx="8039100" cy="1028700"/>
          </a:xfrm>
          <a:prstGeom prst="roundRect">
            <a:avLst>
              <a:gd name="adj" fmla="val 16667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decision-text">
            <a:extLst>
              <a:ext uri="{FF2B5EF4-FFF2-40B4-BE49-F238E27FC236}">
                <a16:creationId xmlns:a16="http://schemas.microsoft.com/office/drawing/2014/main" id="{0083152B-8FCE-825F-9C59-02A381393B07}"/>
              </a:ext>
            </a:extLst>
          </p:cNvPr>
          <p:cNvSpPr>
            <a:spLocks noGrp="1"/>
          </p:cNvSpPr>
          <p:nvPr/>
        </p:nvSpPr>
        <p:spPr>
          <a:xfrm>
            <a:off x="2400300" y="3851275"/>
            <a:ext cx="7505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Weiter  •  Strategie ändern  •  Hilfe nehmen  •  Erkenntnis festhalten</a:t>
            </a:r>
          </a:p>
        </p:txBody>
      </p:sp>
      <p:sp>
        <p:nvSpPr>
          <p:cNvPr id="25" name="agent-bridge">
            <a:extLst>
              <a:ext uri="{FF2B5EF4-FFF2-40B4-BE49-F238E27FC236}">
                <a16:creationId xmlns:a16="http://schemas.microsoft.com/office/drawing/2014/main" id="{3BE886B9-D38B-A23F-DFAD-9CC9F3B3F747}"/>
              </a:ext>
            </a:extLst>
          </p:cNvPr>
          <p:cNvSpPr>
            <a:spLocks noGrp="1"/>
          </p:cNvSpPr>
          <p:nvPr/>
        </p:nvSpPr>
        <p:spPr>
          <a:xfrm>
            <a:off x="2266950" y="4841874"/>
            <a:ext cx="7772400" cy="815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385D8A"/>
                </a:solidFill>
              </a:defRPr>
            </a:pPr>
            <a:r>
              <a:rPr sz="1500" b="1">
                <a:solidFill>
                  <a:srgbClr val="385D8A"/>
                </a:solidFill>
              </a:rPr>
              <a:t>Dieses Vorgehen ist nicht nur sinnvoll, sondern begegnet uns auch später beim Agenten wieder.</a:t>
            </a:r>
          </a:p>
        </p:txBody>
      </p:sp>
      <p:sp>
        <p:nvSpPr>
          <p:cNvPr id="27" name="Slide Number">
            <a:extLst>
              <a:ext uri="{FF2B5EF4-FFF2-40B4-BE49-F238E27FC236}">
                <a16:creationId xmlns:a16="http://schemas.microsoft.com/office/drawing/2014/main" id="{810488A3-EAE2-0168-EEDA-8342DFADE91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15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028714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369C0886-DDAF-C990-6752-F805EA7D8D7C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Eure Aufgaben in Slot 1: Details im Aufgabenblatt</a:t>
            </a:r>
          </a:p>
        </p:txBody>
      </p:sp>
      <p:sp>
        <p:nvSpPr>
          <p:cNvPr id="3" name="safety-0">
            <a:extLst>
              <a:ext uri="{FF2B5EF4-FFF2-40B4-BE49-F238E27FC236}">
                <a16:creationId xmlns:a16="http://schemas.microsoft.com/office/drawing/2014/main" id="{3747E731-FDF3-0D29-DBBC-F10E46A7964E}"/>
              </a:ext>
            </a:extLst>
          </p:cNvPr>
          <p:cNvSpPr>
            <a:spLocks noGrp="1"/>
          </p:cNvSpPr>
          <p:nvPr/>
        </p:nvSpPr>
        <p:spPr>
          <a:xfrm>
            <a:off x="838200" y="16002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392"/>
            </a:srgbClr>
          </a:solidFill>
          <a:ln w="1143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afety-number-0-panel">
            <a:extLst>
              <a:ext uri="{FF2B5EF4-FFF2-40B4-BE49-F238E27FC236}">
                <a16:creationId xmlns:a16="http://schemas.microsoft.com/office/drawing/2014/main" id="{86DD42C2-3BBB-22D4-E747-D91F91FDCEE2}"/>
              </a:ext>
            </a:extLst>
          </p:cNvPr>
          <p:cNvSpPr>
            <a:spLocks noGrp="1"/>
          </p:cNvSpPr>
          <p:nvPr/>
        </p:nvSpPr>
        <p:spPr>
          <a:xfrm>
            <a:off x="1047750" y="1800225"/>
            <a:ext cx="495300" cy="495300"/>
          </a:xfrm>
          <a:prstGeom prst="roundRect">
            <a:avLst>
              <a:gd name="adj" fmla="val 26923"/>
            </a:avLst>
          </a:prstGeom>
          <a:solidFill>
            <a:schemeClr val="tx1">
              <a:lumMod val="25000"/>
              <a:lumOff val="75000"/>
            </a:schemeClr>
          </a:solidFill>
          <a:ln w="9525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afety-title-0">
            <a:extLst>
              <a:ext uri="{FF2B5EF4-FFF2-40B4-BE49-F238E27FC236}">
                <a16:creationId xmlns:a16="http://schemas.microsoft.com/office/drawing/2014/main" id="{50A8D920-32FD-F8CD-B002-88FBED5DF5AB}"/>
              </a:ext>
            </a:extLst>
          </p:cNvPr>
          <p:cNvSpPr>
            <a:spLocks noGrp="1"/>
          </p:cNvSpPr>
          <p:nvPr/>
        </p:nvSpPr>
        <p:spPr>
          <a:xfrm>
            <a:off x="1771650" y="16954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chemeClr val="tx1">
                    <a:lumMod val="50000"/>
                    <a:lumOff val="50000"/>
                  </a:schemeClr>
                </a:solidFill>
              </a:rPr>
              <a:t>Werkzeugübung</a:t>
            </a:r>
          </a:p>
        </p:txBody>
      </p:sp>
      <p:sp>
        <p:nvSpPr>
          <p:cNvPr id="8" name="safety-detail-0">
            <a:extLst>
              <a:ext uri="{FF2B5EF4-FFF2-40B4-BE49-F238E27FC236}">
                <a16:creationId xmlns:a16="http://schemas.microsoft.com/office/drawing/2014/main" id="{ED782415-1B2A-6D00-35A3-5953BEDC1D1B}"/>
              </a:ext>
            </a:extLst>
          </p:cNvPr>
          <p:cNvSpPr>
            <a:spLocks noGrp="1"/>
          </p:cNvSpPr>
          <p:nvPr/>
        </p:nvSpPr>
        <p:spPr>
          <a:xfrm>
            <a:off x="1771650" y="20383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chemeClr val="tx1">
                    <a:lumMod val="50000"/>
                    <a:lumOff val="50000"/>
                  </a:schemeClr>
                </a:solidFill>
              </a:rPr>
              <a:t>Browseranfrage mit curl reproduzieren und Vergleich dokumentieren.</a:t>
            </a:r>
          </a:p>
        </p:txBody>
      </p:sp>
      <p:sp>
        <p:nvSpPr>
          <p:cNvPr id="9" name="safety-1">
            <a:extLst>
              <a:ext uri="{FF2B5EF4-FFF2-40B4-BE49-F238E27FC236}">
                <a16:creationId xmlns:a16="http://schemas.microsoft.com/office/drawing/2014/main" id="{CF3D8E3F-A893-0381-E080-F599B1CA7846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afety-number-1-panel">
            <a:extLst>
              <a:ext uri="{FF2B5EF4-FFF2-40B4-BE49-F238E27FC236}">
                <a16:creationId xmlns:a16="http://schemas.microsoft.com/office/drawing/2014/main" id="{EAA8A301-B799-C0E5-35E0-F5F747CF774B}"/>
              </a:ext>
            </a:extLst>
          </p:cNvPr>
          <p:cNvSpPr>
            <a:spLocks noGrp="1"/>
          </p:cNvSpPr>
          <p:nvPr/>
        </p:nvSpPr>
        <p:spPr>
          <a:xfrm>
            <a:off x="1047750" y="29622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afety-title-1">
            <a:extLst>
              <a:ext uri="{FF2B5EF4-FFF2-40B4-BE49-F238E27FC236}">
                <a16:creationId xmlns:a16="http://schemas.microsoft.com/office/drawing/2014/main" id="{3BA9C96C-A254-C21A-9BB7-8D29170FF4CE}"/>
              </a:ext>
            </a:extLst>
          </p:cNvPr>
          <p:cNvSpPr>
            <a:spLocks noGrp="1"/>
          </p:cNvSpPr>
          <p:nvPr/>
        </p:nvSpPr>
        <p:spPr>
          <a:xfrm>
            <a:off x="1771650" y="28575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Teamaufgabe</a:t>
            </a:r>
          </a:p>
        </p:txBody>
      </p:sp>
      <p:sp>
        <p:nvSpPr>
          <p:cNvPr id="12" name="safety-detail-1">
            <a:extLst>
              <a:ext uri="{FF2B5EF4-FFF2-40B4-BE49-F238E27FC236}">
                <a16:creationId xmlns:a16="http://schemas.microsoft.com/office/drawing/2014/main" id="{E123064A-B205-B204-9E87-6F2A746F3E55}"/>
              </a:ext>
            </a:extLst>
          </p:cNvPr>
          <p:cNvSpPr>
            <a:spLocks noGrp="1"/>
          </p:cNvSpPr>
          <p:nvPr/>
        </p:nvSpPr>
        <p:spPr>
          <a:xfrm>
            <a:off x="1771650" y="32004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Confidential Document finden und das Schutzproblem begründen.</a:t>
            </a:r>
          </a:p>
        </p:txBody>
      </p:sp>
      <p:sp>
        <p:nvSpPr>
          <p:cNvPr id="13" name="safety-2">
            <a:extLst>
              <a:ext uri="{FF2B5EF4-FFF2-40B4-BE49-F238E27FC236}">
                <a16:creationId xmlns:a16="http://schemas.microsoft.com/office/drawing/2014/main" id="{8E06BB66-E85F-798B-63F3-F11EFB5C6A8F}"/>
              </a:ext>
            </a:extLst>
          </p:cNvPr>
          <p:cNvSpPr>
            <a:spLocks noGrp="1"/>
          </p:cNvSpPr>
          <p:nvPr/>
        </p:nvSpPr>
        <p:spPr>
          <a:xfrm>
            <a:off x="838200" y="39243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afety-number-2-panel">
            <a:extLst>
              <a:ext uri="{FF2B5EF4-FFF2-40B4-BE49-F238E27FC236}">
                <a16:creationId xmlns:a16="http://schemas.microsoft.com/office/drawing/2014/main" id="{32458B77-21C4-7724-AD00-42BCDA113F2B}"/>
              </a:ext>
            </a:extLst>
          </p:cNvPr>
          <p:cNvSpPr>
            <a:spLocks noGrp="1"/>
          </p:cNvSpPr>
          <p:nvPr/>
        </p:nvSpPr>
        <p:spPr>
          <a:xfrm>
            <a:off x="1047750" y="41243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safety-title-2">
            <a:extLst>
              <a:ext uri="{FF2B5EF4-FFF2-40B4-BE49-F238E27FC236}">
                <a16:creationId xmlns:a16="http://schemas.microsoft.com/office/drawing/2014/main" id="{1BA2ACB3-D706-4207-0F4D-ABC89D6A4D07}"/>
              </a:ext>
            </a:extLst>
          </p:cNvPr>
          <p:cNvSpPr>
            <a:spLocks noGrp="1"/>
          </p:cNvSpPr>
          <p:nvPr/>
        </p:nvSpPr>
        <p:spPr>
          <a:xfrm>
            <a:off x="1771650" y="40195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Gemeinsam</a:t>
            </a:r>
          </a:p>
        </p:txBody>
      </p:sp>
      <p:sp>
        <p:nvSpPr>
          <p:cNvPr id="16" name="safety-detail-2">
            <a:extLst>
              <a:ext uri="{FF2B5EF4-FFF2-40B4-BE49-F238E27FC236}">
                <a16:creationId xmlns:a16="http://schemas.microsoft.com/office/drawing/2014/main" id="{76C92C51-F8BA-3FD7-E23F-9361A24E8277}"/>
              </a:ext>
            </a:extLst>
          </p:cNvPr>
          <p:cNvSpPr>
            <a:spLocks noGrp="1"/>
          </p:cNvSpPr>
          <p:nvPr/>
        </p:nvSpPr>
        <p:spPr>
          <a:xfrm>
            <a:off x="1771650" y="43624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Login Admin Schritt für Schritt untersuchen und die Rückmeldung auswerten.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9113B82D-1958-5E8B-7471-2A7C84B416F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DC9C7607-4BA3-B4DC-A00F-2E67A9FCFF7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16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2922972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F5F1CCA-9DAA-181D-FB23-E31DE995B2DA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Login Admin: gemeinsam untersuchen</a:t>
            </a:r>
          </a:p>
        </p:txBody>
      </p:sp>
      <p:sp>
        <p:nvSpPr>
          <p:cNvPr id="2" name="authn-panel">
            <a:extLst>
              <a:ext uri="{FF2B5EF4-FFF2-40B4-BE49-F238E27FC236}">
                <a16:creationId xmlns:a16="http://schemas.microsoft.com/office/drawing/2014/main" id="{10E86BC4-52C9-42C8-6290-D3C07DE88AA1}"/>
              </a:ext>
            </a:extLst>
          </p:cNvPr>
          <p:cNvSpPr>
            <a:spLocks noGrp="1"/>
          </p:cNvSpPr>
          <p:nvPr/>
        </p:nvSpPr>
        <p:spPr>
          <a:xfrm>
            <a:off x="838200" y="1502833"/>
            <a:ext cx="4572000" cy="2857500"/>
          </a:xfrm>
          <a:prstGeom prst="roundRect">
            <a:avLst>
              <a:gd name="adj" fmla="val 6000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authz-panel">
            <a:extLst>
              <a:ext uri="{FF2B5EF4-FFF2-40B4-BE49-F238E27FC236}">
                <a16:creationId xmlns:a16="http://schemas.microsoft.com/office/drawing/2014/main" id="{98967762-E0B1-968F-50B9-FA8AABE1F6CD}"/>
              </a:ext>
            </a:extLst>
          </p:cNvPr>
          <p:cNvSpPr>
            <a:spLocks noGrp="1"/>
          </p:cNvSpPr>
          <p:nvPr/>
        </p:nvSpPr>
        <p:spPr>
          <a:xfrm>
            <a:off x="5791200" y="1502833"/>
            <a:ext cx="4572000" cy="2857500"/>
          </a:xfrm>
          <a:prstGeom prst="roundRect">
            <a:avLst>
              <a:gd name="adj" fmla="val 6000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authn-label-panel">
            <a:extLst>
              <a:ext uri="{FF2B5EF4-FFF2-40B4-BE49-F238E27FC236}">
                <a16:creationId xmlns:a16="http://schemas.microsoft.com/office/drawing/2014/main" id="{AB9B6F5F-130F-F1F3-A784-087DB1892FE2}"/>
              </a:ext>
            </a:extLst>
          </p:cNvPr>
          <p:cNvSpPr>
            <a:spLocks noGrp="1"/>
          </p:cNvSpPr>
          <p:nvPr/>
        </p:nvSpPr>
        <p:spPr>
          <a:xfrm>
            <a:off x="1200150" y="1769533"/>
            <a:ext cx="2724150" cy="419100"/>
          </a:xfrm>
          <a:prstGeom prst="roundRect">
            <a:avLst>
              <a:gd name="adj" fmla="val 31818"/>
            </a:avLst>
          </a:prstGeom>
          <a:solidFill>
            <a:srgbClr val="EAF1F7"/>
          </a:solidFill>
          <a:ln w="9525">
            <a:solidFill>
              <a:srgbClr val="EAF1F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385D8A"/>
                </a:solidFill>
              </a:defRPr>
            </a:pPr>
            <a:r>
              <a:rPr sz="1500" b="1">
                <a:solidFill>
                  <a:srgbClr val="385D8A"/>
                </a:solidFill>
              </a:rPr>
              <a:t>BEOBACHTEN</a:t>
            </a:r>
          </a:p>
        </p:txBody>
      </p:sp>
      <p:sp>
        <p:nvSpPr>
          <p:cNvPr id="7" name="authn-question">
            <a:extLst>
              <a:ext uri="{FF2B5EF4-FFF2-40B4-BE49-F238E27FC236}">
                <a16:creationId xmlns:a16="http://schemas.microsoft.com/office/drawing/2014/main" id="{FC491CBE-C4CB-7E03-3E00-97E8FBAE95DD}"/>
              </a:ext>
            </a:extLst>
          </p:cNvPr>
          <p:cNvSpPr>
            <a:spLocks noGrp="1"/>
          </p:cNvSpPr>
          <p:nvPr/>
        </p:nvSpPr>
        <p:spPr>
          <a:xfrm>
            <a:off x="1200150" y="2455333"/>
            <a:ext cx="371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75" b="1">
                <a:solidFill>
                  <a:srgbClr val="26324A"/>
                </a:solidFill>
              </a:defRPr>
            </a:pPr>
            <a:r>
              <a:rPr sz="2175" b="1">
                <a:solidFill>
                  <a:srgbClr val="26324A"/>
                </a:solidFill>
              </a:rPr>
              <a:t>Was sehen wir?</a:t>
            </a:r>
          </a:p>
        </p:txBody>
      </p:sp>
      <p:sp>
        <p:nvSpPr>
          <p:cNvPr id="8" name="authn-example">
            <a:extLst>
              <a:ext uri="{FF2B5EF4-FFF2-40B4-BE49-F238E27FC236}">
                <a16:creationId xmlns:a16="http://schemas.microsoft.com/office/drawing/2014/main" id="{EC7215A7-A09D-059B-2DB2-F88BE1FEF3BE}"/>
              </a:ext>
            </a:extLst>
          </p:cNvPr>
          <p:cNvSpPr>
            <a:spLocks noGrp="1"/>
          </p:cNvSpPr>
          <p:nvPr/>
        </p:nvSpPr>
        <p:spPr>
          <a:xfrm>
            <a:off x="1200150" y="3141133"/>
            <a:ext cx="36385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5C667A"/>
                </a:solidFill>
              </a:defRPr>
            </a:pPr>
            <a:r>
              <a:rPr sz="1500" b="0">
                <a:solidFill>
                  <a:srgbClr val="5C667A"/>
                </a:solidFill>
              </a:rPr>
              <a:t>Methode, Pfad, Eingaben und Antwort der normalen Anmeldung.</a:t>
            </a:r>
          </a:p>
        </p:txBody>
      </p:sp>
      <p:sp>
        <p:nvSpPr>
          <p:cNvPr id="9" name="authz-label-panel">
            <a:extLst>
              <a:ext uri="{FF2B5EF4-FFF2-40B4-BE49-F238E27FC236}">
                <a16:creationId xmlns:a16="http://schemas.microsoft.com/office/drawing/2014/main" id="{D6EE1FBC-BD5F-7BB6-02A2-8BD6ED544C46}"/>
              </a:ext>
            </a:extLst>
          </p:cNvPr>
          <p:cNvSpPr>
            <a:spLocks noGrp="1"/>
          </p:cNvSpPr>
          <p:nvPr/>
        </p:nvSpPr>
        <p:spPr>
          <a:xfrm>
            <a:off x="6153150" y="1769533"/>
            <a:ext cx="2247900" cy="419100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77A68"/>
                </a:solidFill>
              </a:defRPr>
            </a:pPr>
            <a:r>
              <a:rPr sz="1500" b="1">
                <a:solidFill>
                  <a:srgbClr val="477A68"/>
                </a:solidFill>
              </a:rPr>
              <a:t>ENTSCHEIDEN</a:t>
            </a:r>
          </a:p>
        </p:txBody>
      </p:sp>
      <p:sp>
        <p:nvSpPr>
          <p:cNvPr id="10" name="authz-question">
            <a:extLst>
              <a:ext uri="{FF2B5EF4-FFF2-40B4-BE49-F238E27FC236}">
                <a16:creationId xmlns:a16="http://schemas.microsoft.com/office/drawing/2014/main" id="{5B4A0E65-EE93-7004-3024-28B6ED1D6090}"/>
              </a:ext>
            </a:extLst>
          </p:cNvPr>
          <p:cNvSpPr>
            <a:spLocks noGrp="1"/>
          </p:cNvSpPr>
          <p:nvPr/>
        </p:nvSpPr>
        <p:spPr>
          <a:xfrm>
            <a:off x="6153150" y="2455333"/>
            <a:ext cx="371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75" b="1">
                <a:solidFill>
                  <a:srgbClr val="26324A"/>
                </a:solidFill>
              </a:defRPr>
            </a:pPr>
            <a:r>
              <a:rPr sz="2175" b="1">
                <a:solidFill>
                  <a:srgbClr val="26324A"/>
                </a:solidFill>
              </a:rPr>
              <a:t>Was prüfen wir als Nächstes?</a:t>
            </a:r>
          </a:p>
        </p:txBody>
      </p:sp>
      <p:sp>
        <p:nvSpPr>
          <p:cNvPr id="11" name="authz-example">
            <a:extLst>
              <a:ext uri="{FF2B5EF4-FFF2-40B4-BE49-F238E27FC236}">
                <a16:creationId xmlns:a16="http://schemas.microsoft.com/office/drawing/2014/main" id="{17D565DC-EBF9-F4B1-0980-B779919888AA}"/>
              </a:ext>
            </a:extLst>
          </p:cNvPr>
          <p:cNvSpPr>
            <a:spLocks noGrp="1"/>
          </p:cNvSpPr>
          <p:nvPr/>
        </p:nvSpPr>
        <p:spPr>
          <a:xfrm>
            <a:off x="6153150" y="3141133"/>
            <a:ext cx="36385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5C667A"/>
                </a:solidFill>
              </a:defRPr>
            </a:pPr>
            <a:r>
              <a:rPr sz="1500" b="0">
                <a:solidFill>
                  <a:srgbClr val="5C667A"/>
                </a:solidFill>
              </a:rPr>
              <a:t>Hypothese bilden, Anfrage gezielt verändern und Rückmeldung auswerten.</a:t>
            </a:r>
          </a:p>
        </p:txBody>
      </p:sp>
      <p:sp>
        <p:nvSpPr>
          <p:cNvPr id="12" name="auth-takeaway">
            <a:extLst>
              <a:ext uri="{FF2B5EF4-FFF2-40B4-BE49-F238E27FC236}">
                <a16:creationId xmlns:a16="http://schemas.microsoft.com/office/drawing/2014/main" id="{F72904C5-4066-B4CB-DD70-A33D8A546F65}"/>
              </a:ext>
            </a:extLst>
          </p:cNvPr>
          <p:cNvSpPr>
            <a:spLocks noGrp="1"/>
          </p:cNvSpPr>
          <p:nvPr/>
        </p:nvSpPr>
        <p:spPr>
          <a:xfrm>
            <a:off x="1581150" y="4722283"/>
            <a:ext cx="800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6324A"/>
                </a:solidFill>
              </a:defRPr>
            </a:pPr>
            <a:r>
              <a:rPr sz="1800" b="1">
                <a:solidFill>
                  <a:srgbClr val="26324A"/>
                </a:solidFill>
              </a:rPr>
              <a:t>Beobachtung, nächste sinnvolle Aktion, Rückmeldung: Genau diesen Prozess bildet Slot 2 als Agentenschleife ab.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BE5CAA1-4D07-8BDD-1BBE-001B6ACDFC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17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366867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8141E7CB-69B3-CF1A-13C8-1CFEF40C633F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1. Normale Anmeldung beobachten</a:t>
            </a:r>
          </a:p>
        </p:txBody>
      </p:sp>
      <p:sp>
        <p:nvSpPr>
          <p:cNvPr id="3" name="request-panel">
            <a:extLst>
              <a:ext uri="{FF2B5EF4-FFF2-40B4-BE49-F238E27FC236}">
                <a16:creationId xmlns:a16="http://schemas.microsoft.com/office/drawing/2014/main" id="{C5F6D6E3-67B6-8813-1B71-087DBB884C65}"/>
              </a:ext>
            </a:extLst>
          </p:cNvPr>
          <p:cNvSpPr>
            <a:spLocks noGrp="1"/>
          </p:cNvSpPr>
          <p:nvPr/>
        </p:nvSpPr>
        <p:spPr>
          <a:xfrm>
            <a:off x="838200" y="1775460"/>
            <a:ext cx="4629150" cy="3105150"/>
          </a:xfrm>
          <a:prstGeom prst="roundRect">
            <a:avLst>
              <a:gd name="adj" fmla="val 5521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sponse-panel">
            <a:extLst>
              <a:ext uri="{FF2B5EF4-FFF2-40B4-BE49-F238E27FC236}">
                <a16:creationId xmlns:a16="http://schemas.microsoft.com/office/drawing/2014/main" id="{5D23DAAA-A9A8-8BB9-1F90-53CE1509B485}"/>
              </a:ext>
            </a:extLst>
          </p:cNvPr>
          <p:cNvSpPr>
            <a:spLocks noGrp="1"/>
          </p:cNvSpPr>
          <p:nvPr/>
        </p:nvSpPr>
        <p:spPr>
          <a:xfrm>
            <a:off x="5734050" y="1775460"/>
            <a:ext cx="4629150" cy="3105150"/>
          </a:xfrm>
          <a:prstGeom prst="roundRect">
            <a:avLst>
              <a:gd name="adj" fmla="val 5521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quest-label-panel">
            <a:extLst>
              <a:ext uri="{FF2B5EF4-FFF2-40B4-BE49-F238E27FC236}">
                <a16:creationId xmlns:a16="http://schemas.microsoft.com/office/drawing/2014/main" id="{2446EFA6-EF4F-EA4F-2ED7-F4F6F9C2B6D5}"/>
              </a:ext>
            </a:extLst>
          </p:cNvPr>
          <p:cNvSpPr>
            <a:spLocks noGrp="1"/>
          </p:cNvSpPr>
          <p:nvPr/>
        </p:nvSpPr>
        <p:spPr>
          <a:xfrm>
            <a:off x="1066800" y="2004060"/>
            <a:ext cx="1257300" cy="400050"/>
          </a:xfrm>
          <a:prstGeom prst="roundRect">
            <a:avLst>
              <a:gd name="adj" fmla="val 33333"/>
            </a:avLst>
          </a:prstGeom>
          <a:solidFill>
            <a:srgbClr val="EAF1F7"/>
          </a:solidFill>
          <a:ln w="9525">
            <a:solidFill>
              <a:srgbClr val="EAF1F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385D8A"/>
                </a:solidFill>
              </a:defRPr>
            </a:pPr>
            <a:r>
              <a:rPr sz="1500" b="1">
                <a:solidFill>
                  <a:srgbClr val="385D8A"/>
                </a:solidFill>
              </a:rPr>
              <a:t>ANFRAGE</a:t>
            </a:r>
          </a:p>
        </p:txBody>
      </p:sp>
      <p:sp>
        <p:nvSpPr>
          <p:cNvPr id="8" name="request-line">
            <a:extLst>
              <a:ext uri="{FF2B5EF4-FFF2-40B4-BE49-F238E27FC236}">
                <a16:creationId xmlns:a16="http://schemas.microsoft.com/office/drawing/2014/main" id="{917E4C32-D312-85DB-2B67-43C3B2970A46}"/>
              </a:ext>
            </a:extLst>
          </p:cNvPr>
          <p:cNvSpPr>
            <a:spLocks noGrp="1"/>
          </p:cNvSpPr>
          <p:nvPr/>
        </p:nvSpPr>
        <p:spPr>
          <a:xfrm>
            <a:off x="1143000" y="2594610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26324A"/>
                </a:solidFill>
              </a:defRPr>
            </a:pPr>
            <a:r>
              <a:rPr sz="2250" b="1">
                <a:solidFill>
                  <a:srgbClr val="26324A"/>
                </a:solidFill>
              </a:rPr>
              <a:t>POST  /rest/user/login</a:t>
            </a:r>
          </a:p>
        </p:txBody>
      </p:sp>
      <p:sp>
        <p:nvSpPr>
          <p:cNvPr id="9" name="request-url">
            <a:extLst>
              <a:ext uri="{FF2B5EF4-FFF2-40B4-BE49-F238E27FC236}">
                <a16:creationId xmlns:a16="http://schemas.microsoft.com/office/drawing/2014/main" id="{0775711B-9347-1CB1-CA71-E5ED48FA27F1}"/>
              </a:ext>
            </a:extLst>
          </p:cNvPr>
          <p:cNvSpPr>
            <a:spLocks noGrp="1"/>
          </p:cNvSpPr>
          <p:nvPr/>
        </p:nvSpPr>
        <p:spPr>
          <a:xfrm>
            <a:off x="1143000" y="3242310"/>
            <a:ext cx="36957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5C667A"/>
                </a:solidFill>
              </a:defRPr>
            </a:pPr>
            <a:r>
              <a:rPr sz="1575" b="0">
                <a:solidFill>
                  <a:srgbClr val="5C667A"/>
                </a:solidFill>
              </a:rPr>
              <a:t>Content-Type: application/json</a:t>
            </a:r>
          </a:p>
          <a:p>
            <a:pPr algn="l">
              <a:buNone/>
              <a:defRPr sz="1575" b="0">
                <a:solidFill>
                  <a:srgbClr val="5C667A"/>
                </a:solidFill>
              </a:defRPr>
            </a:pPr>
            <a:r>
              <a:rPr sz="1575" b="0">
                <a:solidFill>
                  <a:srgbClr val="5C667A"/>
                </a:solidFill>
              </a:rPr>
              <a:t>E-Mail und Passwort als JSON</a:t>
            </a:r>
          </a:p>
        </p:txBody>
      </p:sp>
      <p:sp>
        <p:nvSpPr>
          <p:cNvPr id="10" name="response-label-panel">
            <a:extLst>
              <a:ext uri="{FF2B5EF4-FFF2-40B4-BE49-F238E27FC236}">
                <a16:creationId xmlns:a16="http://schemas.microsoft.com/office/drawing/2014/main" id="{35544B73-935C-35D1-72A2-D9BA255D1C7B}"/>
              </a:ext>
            </a:extLst>
          </p:cNvPr>
          <p:cNvSpPr>
            <a:spLocks noGrp="1"/>
          </p:cNvSpPr>
          <p:nvPr/>
        </p:nvSpPr>
        <p:spPr>
          <a:xfrm>
            <a:off x="5962650" y="2004060"/>
            <a:ext cx="1257300" cy="400050"/>
          </a:xfrm>
          <a:prstGeom prst="roundRect">
            <a:avLst>
              <a:gd name="adj" fmla="val 33333"/>
            </a:avLst>
          </a:prstGeom>
          <a:solidFill>
            <a:srgbClr val="EAF3EF"/>
          </a:solidFill>
          <a:ln w="9525">
            <a:solidFill>
              <a:srgbClr val="EAF3E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77A68"/>
                </a:solidFill>
              </a:defRPr>
            </a:pPr>
            <a:r>
              <a:rPr sz="1500" b="1">
                <a:solidFill>
                  <a:srgbClr val="477A68"/>
                </a:solidFill>
              </a:rPr>
              <a:t>ANTWORT</a:t>
            </a:r>
          </a:p>
        </p:txBody>
      </p:sp>
      <p:sp>
        <p:nvSpPr>
          <p:cNvPr id="11" name="response-line">
            <a:extLst>
              <a:ext uri="{FF2B5EF4-FFF2-40B4-BE49-F238E27FC236}">
                <a16:creationId xmlns:a16="http://schemas.microsoft.com/office/drawing/2014/main" id="{5EF3D88D-49F4-BFCC-BEF7-86C06F42979A}"/>
              </a:ext>
            </a:extLst>
          </p:cNvPr>
          <p:cNvSpPr>
            <a:spLocks noGrp="1"/>
          </p:cNvSpPr>
          <p:nvPr/>
        </p:nvSpPr>
        <p:spPr>
          <a:xfrm>
            <a:off x="6038850" y="2594610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26324A"/>
                </a:solidFill>
              </a:defRPr>
            </a:pPr>
            <a:r>
              <a:rPr sz="2250" b="1">
                <a:solidFill>
                  <a:srgbClr val="26324A"/>
                </a:solidFill>
              </a:rPr>
              <a:t>Fehlgeschlagen</a:t>
            </a:r>
          </a:p>
        </p:txBody>
      </p:sp>
      <p:sp>
        <p:nvSpPr>
          <p:cNvPr id="12" name="response-info">
            <a:extLst>
              <a:ext uri="{FF2B5EF4-FFF2-40B4-BE49-F238E27FC236}">
                <a16:creationId xmlns:a16="http://schemas.microsoft.com/office/drawing/2014/main" id="{23B9F74D-74A7-6939-9E8F-802E5EB505F6}"/>
              </a:ext>
            </a:extLst>
          </p:cNvPr>
          <p:cNvSpPr>
            <a:spLocks noGrp="1"/>
          </p:cNvSpPr>
          <p:nvPr/>
        </p:nvSpPr>
        <p:spPr>
          <a:xfrm>
            <a:off x="6038850" y="3242310"/>
            <a:ext cx="38290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5C667A"/>
                </a:solidFill>
              </a:defRPr>
            </a:pPr>
            <a:r>
              <a:rPr sz="1575" b="0">
                <a:solidFill>
                  <a:srgbClr val="5C667A"/>
                </a:solidFill>
              </a:rPr>
              <a:t>Statuscode und Antwort notieren</a:t>
            </a:r>
          </a:p>
          <a:p>
            <a:pPr algn="l">
              <a:buNone/>
              <a:defRPr sz="1575" b="0">
                <a:solidFill>
                  <a:srgbClr val="5C667A"/>
                </a:solidFill>
              </a:defRPr>
            </a:pPr>
            <a:r>
              <a:rPr sz="1575" b="0">
                <a:solidFill>
                  <a:srgbClr val="5C667A"/>
                </a:solidFill>
              </a:rPr>
              <a:t>Sie bilden unsere</a:t>
            </a:r>
          </a:p>
          <a:p>
            <a:pPr algn="l">
              <a:buNone/>
              <a:defRPr sz="1575" b="0">
                <a:solidFill>
                  <a:srgbClr val="5C667A"/>
                </a:solidFill>
              </a:defRPr>
            </a:pPr>
            <a:r>
              <a:rPr sz="1575" b="0">
                <a:solidFill>
                  <a:srgbClr val="5C667A"/>
                </a:solidFill>
              </a:rPr>
              <a:t>Ausgangsbeobachtung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2291AE5-C634-6A0A-F420-714F71FAB6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B1C6C81E-38B9-7560-621D-5A151A79DF9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18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3420842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5FB1826E-0A62-4C4A-D89C-A520B2DDC12E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2. Eine gezielte Eingabe prüft unsere Hypothese</a:t>
            </a:r>
          </a:p>
        </p:txBody>
      </p:sp>
      <p:sp>
        <p:nvSpPr>
          <p:cNvPr id="2" name="sql-panel">
            <a:extLst>
              <a:ext uri="{FF2B5EF4-FFF2-40B4-BE49-F238E27FC236}">
                <a16:creationId xmlns:a16="http://schemas.microsoft.com/office/drawing/2014/main" id="{4848E4D1-A370-622B-A4D2-578DF1ED8871}"/>
              </a:ext>
            </a:extLst>
          </p:cNvPr>
          <p:cNvSpPr>
            <a:spLocks noGrp="1"/>
          </p:cNvSpPr>
          <p:nvPr/>
        </p:nvSpPr>
        <p:spPr>
          <a:xfrm>
            <a:off x="838200" y="1546860"/>
            <a:ext cx="9525000" cy="1619250"/>
          </a:xfrm>
          <a:prstGeom prst="roundRect">
            <a:avLst>
              <a:gd name="adj" fmla="val 10588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ql-code">
            <a:extLst>
              <a:ext uri="{FF2B5EF4-FFF2-40B4-BE49-F238E27FC236}">
                <a16:creationId xmlns:a16="http://schemas.microsoft.com/office/drawing/2014/main" id="{235208C6-6760-772A-39CA-1B2D9DCB2E01}"/>
              </a:ext>
            </a:extLst>
          </p:cNvPr>
          <p:cNvSpPr>
            <a:spLocks noGrp="1"/>
          </p:cNvSpPr>
          <p:nvPr/>
        </p:nvSpPr>
        <p:spPr>
          <a:xfrm>
            <a:off x="1200150" y="1851660"/>
            <a:ext cx="871537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26324A"/>
                </a:solidFill>
              </a:defRPr>
            </a:pPr>
            <a:r>
              <a:rPr sz="1875" b="1">
                <a:solidFill>
                  <a:srgbClr val="26324A"/>
                </a:solidFill>
              </a:rPr>
              <a:t>SELECT * FROM users</a:t>
            </a:r>
          </a:p>
          <a:p>
            <a:pPr algn="l">
              <a:buNone/>
              <a:defRPr sz="1875" b="1">
                <a:solidFill>
                  <a:srgbClr val="26324A"/>
                </a:solidFill>
              </a:defRPr>
            </a:pPr>
            <a:r>
              <a:rPr sz="1875" b="1">
                <a:solidFill>
                  <a:srgbClr val="26324A"/>
                </a:solidFill>
              </a:rPr>
              <a:t>WHERE email = '&lt;Eingabe&gt;' AND password = '&lt;Eingabe&gt;'</a:t>
            </a:r>
          </a:p>
        </p:txBody>
      </p:sp>
      <p:sp>
        <p:nvSpPr>
          <p:cNvPr id="6" name="input-panel">
            <a:extLst>
              <a:ext uri="{FF2B5EF4-FFF2-40B4-BE49-F238E27FC236}">
                <a16:creationId xmlns:a16="http://schemas.microsoft.com/office/drawing/2014/main" id="{E98C2FD1-10B5-CCE5-8C3B-BA05F50D1AD2}"/>
              </a:ext>
            </a:extLst>
          </p:cNvPr>
          <p:cNvSpPr>
            <a:spLocks noGrp="1"/>
          </p:cNvSpPr>
          <p:nvPr/>
        </p:nvSpPr>
        <p:spPr>
          <a:xfrm>
            <a:off x="838200" y="3470910"/>
            <a:ext cx="9525000" cy="1143000"/>
          </a:xfrm>
          <a:prstGeom prst="roundRect">
            <a:avLst>
              <a:gd name="adj" fmla="val 15000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E2C9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input-claim">
            <a:extLst>
              <a:ext uri="{FF2B5EF4-FFF2-40B4-BE49-F238E27FC236}">
                <a16:creationId xmlns:a16="http://schemas.microsoft.com/office/drawing/2014/main" id="{3F1332EF-8E3F-475F-5F55-A97AFEE1B7AD}"/>
              </a:ext>
            </a:extLst>
          </p:cNvPr>
          <p:cNvSpPr>
            <a:spLocks noGrp="1"/>
          </p:cNvSpPr>
          <p:nvPr/>
        </p:nvSpPr>
        <p:spPr>
          <a:xfrm>
            <a:off x="1181100" y="3651885"/>
            <a:ext cx="8810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26324A"/>
                </a:solidFill>
              </a:defRPr>
            </a:pPr>
            <a:r>
              <a:rPr sz="1650" b="1">
                <a:solidFill>
                  <a:srgbClr val="26324A"/>
                </a:solidFill>
              </a:rPr>
              <a:t>Testwert für die E-Mail: ' OR 1=1--  verändert die Bedingung und kommentiert den Rest aus.</a:t>
            </a:r>
          </a:p>
        </p:txBody>
      </p:sp>
      <p:sp>
        <p:nvSpPr>
          <p:cNvPr id="8" name="input-limit">
            <a:extLst>
              <a:ext uri="{FF2B5EF4-FFF2-40B4-BE49-F238E27FC236}">
                <a16:creationId xmlns:a16="http://schemas.microsoft.com/office/drawing/2014/main" id="{83993B1D-F6CA-3E9F-29F9-D3604E8EE4B4}"/>
              </a:ext>
            </a:extLst>
          </p:cNvPr>
          <p:cNvSpPr>
            <a:spLocks noGrp="1"/>
          </p:cNvSpPr>
          <p:nvPr/>
        </p:nvSpPr>
        <p:spPr>
          <a:xfrm>
            <a:off x="1343025" y="5111115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r>
              <a:rPr b="1">
                <a:solidFill>
                  <a:srgbClr val="26324A"/>
                </a:solidFill>
              </a:rPr>
              <a:t>Die Hypothese ist erst belastbar, wenn eine Serverantwort sie bestätigt oder widerlegt.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CEACD35-3D59-C525-3662-D0A6E8DA719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CF91274-D221-1BB4-3BF9-836E3AD31EB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19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3102696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8141E7CB-69B3-CF1A-13C8-1CFEF40C633F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3. Die Serverantwort muss den Erfolg belegen</a:t>
            </a:r>
          </a:p>
        </p:txBody>
      </p:sp>
      <p:sp>
        <p:nvSpPr>
          <p:cNvPr id="3" name="request-panel">
            <a:extLst>
              <a:ext uri="{FF2B5EF4-FFF2-40B4-BE49-F238E27FC236}">
                <a16:creationId xmlns:a16="http://schemas.microsoft.com/office/drawing/2014/main" id="{C5F6D6E3-67B6-8813-1B71-087DBB884C65}"/>
              </a:ext>
            </a:extLst>
          </p:cNvPr>
          <p:cNvSpPr>
            <a:spLocks noGrp="1"/>
          </p:cNvSpPr>
          <p:nvPr/>
        </p:nvSpPr>
        <p:spPr>
          <a:xfrm>
            <a:off x="838200" y="1775460"/>
            <a:ext cx="4629150" cy="3105150"/>
          </a:xfrm>
          <a:prstGeom prst="roundRect">
            <a:avLst>
              <a:gd name="adj" fmla="val 5521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sponse-panel">
            <a:extLst>
              <a:ext uri="{FF2B5EF4-FFF2-40B4-BE49-F238E27FC236}">
                <a16:creationId xmlns:a16="http://schemas.microsoft.com/office/drawing/2014/main" id="{5D23DAAA-A9A8-8BB9-1F90-53CE1509B485}"/>
              </a:ext>
            </a:extLst>
          </p:cNvPr>
          <p:cNvSpPr>
            <a:spLocks noGrp="1"/>
          </p:cNvSpPr>
          <p:nvPr/>
        </p:nvSpPr>
        <p:spPr>
          <a:xfrm>
            <a:off x="5734050" y="1775460"/>
            <a:ext cx="4629150" cy="3105150"/>
          </a:xfrm>
          <a:prstGeom prst="roundRect">
            <a:avLst>
              <a:gd name="adj" fmla="val 5521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quest-label-panel">
            <a:extLst>
              <a:ext uri="{FF2B5EF4-FFF2-40B4-BE49-F238E27FC236}">
                <a16:creationId xmlns:a16="http://schemas.microsoft.com/office/drawing/2014/main" id="{2446EFA6-EF4F-EA4F-2ED7-F4F6F9C2B6D5}"/>
              </a:ext>
            </a:extLst>
          </p:cNvPr>
          <p:cNvSpPr>
            <a:spLocks noGrp="1"/>
          </p:cNvSpPr>
          <p:nvPr/>
        </p:nvSpPr>
        <p:spPr>
          <a:xfrm>
            <a:off x="1066800" y="2004060"/>
            <a:ext cx="1257300" cy="400050"/>
          </a:xfrm>
          <a:prstGeom prst="roundRect">
            <a:avLst>
              <a:gd name="adj" fmla="val 33333"/>
            </a:avLst>
          </a:prstGeom>
          <a:solidFill>
            <a:srgbClr val="EAF1F7"/>
          </a:solidFill>
          <a:ln w="9525">
            <a:solidFill>
              <a:srgbClr val="EAF1F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385D8A"/>
                </a:solidFill>
              </a:defRPr>
            </a:pPr>
            <a:r>
              <a:rPr sz="1500" b="1">
                <a:solidFill>
                  <a:srgbClr val="385D8A"/>
                </a:solidFill>
              </a:rPr>
              <a:t>ANFRAGE</a:t>
            </a:r>
          </a:p>
        </p:txBody>
      </p:sp>
      <p:sp>
        <p:nvSpPr>
          <p:cNvPr id="8" name="request-line">
            <a:extLst>
              <a:ext uri="{FF2B5EF4-FFF2-40B4-BE49-F238E27FC236}">
                <a16:creationId xmlns:a16="http://schemas.microsoft.com/office/drawing/2014/main" id="{917E4C32-D312-85DB-2B67-43C3B2970A46}"/>
              </a:ext>
            </a:extLst>
          </p:cNvPr>
          <p:cNvSpPr>
            <a:spLocks noGrp="1"/>
          </p:cNvSpPr>
          <p:nvPr/>
        </p:nvSpPr>
        <p:spPr>
          <a:xfrm>
            <a:off x="1143000" y="2594610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26324A"/>
                </a:solidFill>
              </a:defRPr>
            </a:pPr>
            <a:r>
              <a:rPr sz="2250" b="1">
                <a:solidFill>
                  <a:srgbClr val="26324A"/>
                </a:solidFill>
              </a:rPr>
              <a:t>POST  /rest/user/login</a:t>
            </a:r>
          </a:p>
        </p:txBody>
      </p:sp>
      <p:sp>
        <p:nvSpPr>
          <p:cNvPr id="9" name="request-url">
            <a:extLst>
              <a:ext uri="{FF2B5EF4-FFF2-40B4-BE49-F238E27FC236}">
                <a16:creationId xmlns:a16="http://schemas.microsoft.com/office/drawing/2014/main" id="{0775711B-9347-1CB1-CA71-E5ED48FA27F1}"/>
              </a:ext>
            </a:extLst>
          </p:cNvPr>
          <p:cNvSpPr>
            <a:spLocks noGrp="1"/>
          </p:cNvSpPr>
          <p:nvPr/>
        </p:nvSpPr>
        <p:spPr>
          <a:xfrm>
            <a:off x="1143000" y="3242310"/>
            <a:ext cx="36957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5C667A"/>
                </a:solidFill>
              </a:defRPr>
            </a:pPr>
            <a:r>
              <a:rPr sz="1575" b="0">
                <a:solidFill>
                  <a:srgbClr val="5C667A"/>
                </a:solidFill>
              </a:rPr>
              <a:t>email: ' OR 1=1--</a:t>
            </a:r>
          </a:p>
          <a:p>
            <a:pPr algn="l">
              <a:buNone/>
              <a:defRPr sz="1575" b="0">
                <a:solidFill>
                  <a:srgbClr val="5C667A"/>
                </a:solidFill>
              </a:defRPr>
            </a:pPr>
            <a:r>
              <a:rPr sz="1575" b="0">
                <a:solidFill>
                  <a:srgbClr val="5C667A"/>
                </a:solidFill>
              </a:rPr>
              <a:t>password: test</a:t>
            </a:r>
          </a:p>
          <a:p>
            <a:pPr algn="l">
              <a:buNone/>
              <a:defRPr sz="1575" b="0">
                <a:solidFill>
                  <a:srgbClr val="5C667A"/>
                </a:solidFill>
              </a:defRPr>
            </a:pPr>
            <a:r>
              <a:rPr sz="1575" b="0">
                <a:solidFill>
                  <a:srgbClr val="5C667A"/>
                </a:solidFill>
              </a:rPr>
              <a:t>als JSON senden</a:t>
            </a:r>
          </a:p>
        </p:txBody>
      </p:sp>
      <p:sp>
        <p:nvSpPr>
          <p:cNvPr id="10" name="response-label-panel">
            <a:extLst>
              <a:ext uri="{FF2B5EF4-FFF2-40B4-BE49-F238E27FC236}">
                <a16:creationId xmlns:a16="http://schemas.microsoft.com/office/drawing/2014/main" id="{35544B73-935C-35D1-72A2-D9BA255D1C7B}"/>
              </a:ext>
            </a:extLst>
          </p:cNvPr>
          <p:cNvSpPr>
            <a:spLocks noGrp="1"/>
          </p:cNvSpPr>
          <p:nvPr/>
        </p:nvSpPr>
        <p:spPr>
          <a:xfrm>
            <a:off x="5962650" y="2004060"/>
            <a:ext cx="1257300" cy="400050"/>
          </a:xfrm>
          <a:prstGeom prst="roundRect">
            <a:avLst>
              <a:gd name="adj" fmla="val 33333"/>
            </a:avLst>
          </a:prstGeom>
          <a:solidFill>
            <a:srgbClr val="EAF3EF"/>
          </a:solidFill>
          <a:ln w="9525">
            <a:solidFill>
              <a:srgbClr val="EAF3E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77A68"/>
                </a:solidFill>
              </a:defRPr>
            </a:pPr>
            <a:r>
              <a:rPr sz="1500" b="1">
                <a:solidFill>
                  <a:srgbClr val="477A68"/>
                </a:solidFill>
              </a:rPr>
              <a:t>ANTWORT</a:t>
            </a:r>
          </a:p>
        </p:txBody>
      </p:sp>
      <p:sp>
        <p:nvSpPr>
          <p:cNvPr id="11" name="response-line">
            <a:extLst>
              <a:ext uri="{FF2B5EF4-FFF2-40B4-BE49-F238E27FC236}">
                <a16:creationId xmlns:a16="http://schemas.microsoft.com/office/drawing/2014/main" id="{5EF3D88D-49F4-BFCC-BEF7-86C06F42979A}"/>
              </a:ext>
            </a:extLst>
          </p:cNvPr>
          <p:cNvSpPr>
            <a:spLocks noGrp="1"/>
          </p:cNvSpPr>
          <p:nvPr/>
        </p:nvSpPr>
        <p:spPr>
          <a:xfrm>
            <a:off x="6038850" y="2594610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26324A"/>
                </a:solidFill>
              </a:defRPr>
            </a:pPr>
            <a:r>
              <a:rPr sz="2250" b="1">
                <a:solidFill>
                  <a:srgbClr val="26324A"/>
                </a:solidFill>
              </a:rPr>
              <a:t>200  OK</a:t>
            </a:r>
          </a:p>
        </p:txBody>
      </p:sp>
      <p:sp>
        <p:nvSpPr>
          <p:cNvPr id="12" name="response-info">
            <a:extLst>
              <a:ext uri="{FF2B5EF4-FFF2-40B4-BE49-F238E27FC236}">
                <a16:creationId xmlns:a16="http://schemas.microsoft.com/office/drawing/2014/main" id="{23B9F74D-74A7-6939-9E8F-802E5EB505F6}"/>
              </a:ext>
            </a:extLst>
          </p:cNvPr>
          <p:cNvSpPr>
            <a:spLocks noGrp="1"/>
          </p:cNvSpPr>
          <p:nvPr/>
        </p:nvSpPr>
        <p:spPr>
          <a:xfrm>
            <a:off x="6038850" y="3242310"/>
            <a:ext cx="38290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5C667A"/>
                </a:solidFill>
              </a:defRPr>
            </a:pPr>
            <a:r>
              <a:rPr sz="1575" b="0">
                <a:solidFill>
                  <a:srgbClr val="5C667A"/>
                </a:solidFill>
              </a:rPr>
              <a:t>Token in der Antwort</a:t>
            </a:r>
          </a:p>
          <a:p>
            <a:pPr algn="l">
              <a:buNone/>
              <a:defRPr sz="1575" b="0">
                <a:solidFill>
                  <a:srgbClr val="5C667A"/>
                </a:solidFill>
              </a:defRPr>
            </a:pPr>
            <a:r>
              <a:rPr sz="1575" b="0">
                <a:solidFill>
                  <a:srgbClr val="5C667A"/>
                </a:solidFill>
              </a:rPr>
              <a:t>Konto: admin@juice-sh.op</a:t>
            </a:r>
          </a:p>
          <a:p>
            <a:pPr algn="l">
              <a:buNone/>
              <a:defRPr sz="1575" b="0">
                <a:solidFill>
                  <a:srgbClr val="5C667A"/>
                </a:solidFill>
              </a:defRPr>
            </a:pPr>
            <a:r>
              <a:rPr sz="1575" b="0">
                <a:solidFill>
                  <a:srgbClr val="5C667A"/>
                </a:solidFill>
              </a:rPr>
              <a:t>Erfolg im Zielsystem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2291AE5-C634-6A0A-F420-714F71FAB6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844E025A-983C-6D44-79C6-4612AACD43FC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20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3420842280"/>
      </p:ext>
    </p:extLst>
  </p:cSld>
  <p:clrMapOvr>
    <a:masterClrMapping/>
  </p:clrMapOvr>
</p:sld>
</file>

<file path=ppt/theme/theme1.xml><?xml version="1.0" encoding="utf-8"?>
<a:theme xmlns:a="http://schemas.openxmlformats.org/drawingml/2006/main" name="Serify">
  <a:themeElements>
    <a:clrScheme name="Serify">
      <a:dk1>
        <a:srgbClr val="111111"/>
      </a:dk1>
      <a:lt1>
        <a:srgbClr val="FFFFFF"/>
      </a:lt1>
      <a:dk2>
        <a:srgbClr val="48536D"/>
      </a:dk2>
      <a:lt2>
        <a:srgbClr val="F5F6F8"/>
      </a:lt2>
      <a:accent1>
        <a:srgbClr val="48536D"/>
      </a:accent1>
      <a:accent2>
        <a:srgbClr val="778198"/>
      </a:accent2>
      <a:accent3>
        <a:srgbClr val="A6ADBC"/>
      </a:accent3>
      <a:accent4>
        <a:srgbClr val="D4D7DE"/>
      </a:accent4>
      <a:accent5>
        <a:srgbClr val="767676"/>
      </a:accent5>
      <a:accent6>
        <a:srgbClr val="B34A3A"/>
      </a:accent6>
      <a:hlink>
        <a:srgbClr val="48536D"/>
      </a:hlink>
      <a:folHlink>
        <a:srgbClr val="767676"/>
      </a:folHlink>
    </a:clrScheme>
    <a:fontScheme name="Serify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erif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erify">
  <a:themeElements>
    <a:clrScheme name="Serify">
      <a:dk1>
        <a:srgbClr val="111111"/>
      </a:dk1>
      <a:lt1>
        <a:srgbClr val="FFFFFF"/>
      </a:lt1>
      <a:dk2>
        <a:srgbClr val="48536D"/>
      </a:dk2>
      <a:lt2>
        <a:srgbClr val="F5F6F8"/>
      </a:lt2>
      <a:accent1>
        <a:srgbClr val="48536D"/>
      </a:accent1>
      <a:accent2>
        <a:srgbClr val="778198"/>
      </a:accent2>
      <a:accent3>
        <a:srgbClr val="A6ADBC"/>
      </a:accent3>
      <a:accent4>
        <a:srgbClr val="D4D7DE"/>
      </a:accent4>
      <a:accent5>
        <a:srgbClr val="767676"/>
      </a:accent5>
      <a:accent6>
        <a:srgbClr val="B34A3A"/>
      </a:accent6>
      <a:hlink>
        <a:srgbClr val="48536D"/>
      </a:hlink>
      <a:folHlink>
        <a:srgbClr val="767676"/>
      </a:folHlink>
    </a:clrScheme>
    <a:fontScheme name="Serify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erif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1321</Words>
  <Application>Microsoft Macintosh PowerPoint</Application>
  <DocSecurity>0</DocSecurity>
  <PresentationFormat>Breitbild</PresentationFormat>
  <Paragraphs>216</Paragraphs>
  <Slides>20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4" baseType="lpstr">
      <vt:lpstr>Aptos Mono</vt:lpstr>
      <vt:lpstr>Arial</vt:lpstr>
      <vt:lpstr>Avenir Next</vt:lpstr>
      <vt:lpstr>Serify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Markus Bayer</cp:lastModifiedBy>
  <cp:revision>1</cp:revision>
  <dcterms:created xsi:type="dcterms:W3CDTF">2026-09-04T13:25:37Z</dcterms:created>
  <dcterms:modified xsi:type="dcterms:W3CDTF">2026-09-21T06:50:44Z</dcterms:modified>
</cp:coreProperties>
</file>